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1463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11696"/>
            <a:ext cx="12191969" cy="1463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960120"/>
            <a:ext cx="11058113" cy="365760"/>
          </a:xfrm>
          <a:prstGeom prst="rect">
            <a:avLst/>
          </a:prstGeom>
          <a:noFill/>
        </p:spPr>
        <p:txBody>
          <a:bodyPr wrap="square" lIns="0" rIns="0" tIns="0" bIns="0" anchor="t">
            <a:spAutoFit/>
          </a:bodyPr>
          <a:lstStyle/>
          <a:p>
            <a:pPr algn="l">
              <a:lnSpc>
                <a:spcPct val="100000"/>
              </a:lnSpc>
              <a:spcAft>
                <a:spcPts val="0"/>
              </a:spcAft>
            </a:pPr>
            <a:r>
              <a:rPr sz="1200" b="1" i="0">
                <a:solidFill>
                  <a:srgbClr val="2FE0C0"/>
                </a:solidFill>
                <a:latin typeface="Calibri"/>
              </a:rPr>
              <a:t>MINI PROJECT - MICROPROCESSORS AND MICROCONTROLLERS</a:t>
            </a:r>
          </a:p>
        </p:txBody>
      </p:sp>
      <p:sp>
        <p:nvSpPr>
          <p:cNvPr id="6" name="TextBox 5"/>
          <p:cNvSpPr txBox="1"/>
          <p:nvPr/>
        </p:nvSpPr>
        <p:spPr>
          <a:xfrm>
            <a:off x="566928" y="1389888"/>
            <a:ext cx="11058113" cy="1371600"/>
          </a:xfrm>
          <a:prstGeom prst="rect">
            <a:avLst/>
          </a:prstGeom>
          <a:noFill/>
        </p:spPr>
        <p:txBody>
          <a:bodyPr wrap="square" lIns="0" rIns="0" tIns="0" bIns="0" anchor="t">
            <a:spAutoFit/>
          </a:bodyPr>
          <a:lstStyle/>
          <a:p>
            <a:pPr algn="l">
              <a:lnSpc>
                <a:spcPct val="100000"/>
              </a:lnSpc>
              <a:spcAft>
                <a:spcPts val="200"/>
              </a:spcAft>
            </a:pPr>
            <a:r>
              <a:rPr sz="4000" b="1" i="0">
                <a:solidFill>
                  <a:srgbClr val="F2F6FF"/>
                </a:solidFill>
                <a:latin typeface="Calibri"/>
              </a:rPr>
              <a:t>8051 Microcontroller:</a:t>
            </a:r>
          </a:p>
          <a:p>
            <a:pPr algn="l">
              <a:lnSpc>
                <a:spcPct val="100000"/>
              </a:lnSpc>
              <a:spcAft>
                <a:spcPts val="200"/>
              </a:spcAft>
            </a:pPr>
            <a:r>
              <a:rPr sz="2100" b="0" i="0">
                <a:solidFill>
                  <a:srgbClr val="A9B8D6"/>
                </a:solidFill>
                <a:latin typeface="Calibri"/>
              </a:rPr>
              <a:t>Architecture Study, Assembly Programming and Simulation</a:t>
            </a:r>
          </a:p>
        </p:txBody>
      </p:sp>
      <p:sp>
        <p:nvSpPr>
          <p:cNvPr id="7" name="TextBox 6"/>
          <p:cNvSpPr txBox="1"/>
          <p:nvPr/>
        </p:nvSpPr>
        <p:spPr>
          <a:xfrm>
            <a:off x="566928" y="2834640"/>
            <a:ext cx="11058113" cy="457200"/>
          </a:xfrm>
          <a:prstGeom prst="rect">
            <a:avLst/>
          </a:prstGeom>
          <a:noFill/>
        </p:spPr>
        <p:txBody>
          <a:bodyPr wrap="square" lIns="0" rIns="0" tIns="0" bIns="0" anchor="t">
            <a:spAutoFit/>
          </a:bodyPr>
          <a:lstStyle/>
          <a:p>
            <a:pPr algn="l">
              <a:lnSpc>
                <a:spcPct val="100000"/>
              </a:lnSpc>
              <a:spcAft>
                <a:spcPts val="0"/>
              </a:spcAft>
            </a:pPr>
            <a:r>
              <a:rPr sz="1900" b="1" i="0">
                <a:solidFill>
                  <a:srgbClr val="CFE0FF"/>
                </a:solidFill>
                <a:latin typeface="Calibri"/>
              </a:rPr>
              <a:t>Phase 2 - Hardware Implementation on a Real AT89S52</a:t>
            </a:r>
          </a:p>
        </p:txBody>
      </p:sp>
      <p:sp>
        <p:nvSpPr>
          <p:cNvPr id="8" name="Rectangle 7"/>
          <p:cNvSpPr/>
          <p:nvPr/>
        </p:nvSpPr>
        <p:spPr>
          <a:xfrm>
            <a:off x="566928" y="3456432"/>
            <a:ext cx="60350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675887"/>
            <a:ext cx="6309360" cy="256032"/>
          </a:xfrm>
          <a:prstGeom prst="rect">
            <a:avLst/>
          </a:prstGeom>
          <a:noFill/>
        </p:spPr>
        <p:txBody>
          <a:bodyPr wrap="square" lIns="0" rIns="0" tIns="0" bIns="0">
            <a:spAutoFit/>
          </a:bodyPr>
          <a:lstStyle/>
          <a:p>
            <a:pPr algn="l">
              <a:spcAft>
                <a:spcPts val="0"/>
              </a:spcAft>
            </a:pPr>
            <a:r>
              <a:rPr sz="1150" b="0">
                <a:solidFill>
                  <a:srgbClr val="6F81A5"/>
                </a:solidFill>
                <a:latin typeface="Calibri"/>
              </a:rPr>
              <a:t>Target device:  </a:t>
            </a:r>
            <a:r>
              <a:rPr sz="1150" b="1">
                <a:solidFill>
                  <a:srgbClr val="F2F6FF"/>
                </a:solidFill>
                <a:latin typeface="Calibri"/>
              </a:rPr>
              <a:t>AT89S52-24PU, 40 pin DIP</a:t>
            </a:r>
          </a:p>
        </p:txBody>
      </p:sp>
      <p:sp>
        <p:nvSpPr>
          <p:cNvPr id="10" name="TextBox 9"/>
          <p:cNvSpPr txBox="1"/>
          <p:nvPr/>
        </p:nvSpPr>
        <p:spPr>
          <a:xfrm>
            <a:off x="566928" y="3968496"/>
            <a:ext cx="6309360" cy="256032"/>
          </a:xfrm>
          <a:prstGeom prst="rect">
            <a:avLst/>
          </a:prstGeom>
          <a:noFill/>
        </p:spPr>
        <p:txBody>
          <a:bodyPr wrap="square" lIns="0" rIns="0" tIns="0" bIns="0">
            <a:spAutoFit/>
          </a:bodyPr>
          <a:lstStyle/>
          <a:p>
            <a:pPr algn="l">
              <a:spcAft>
                <a:spcPts val="0"/>
              </a:spcAft>
            </a:pPr>
            <a:r>
              <a:rPr sz="1150" b="0">
                <a:solidFill>
                  <a:srgbClr val="6F81A5"/>
                </a:solidFill>
                <a:latin typeface="Calibri"/>
              </a:rPr>
              <a:t>Clock:  </a:t>
            </a:r>
            <a:r>
              <a:rPr sz="1150" b="1">
                <a:solidFill>
                  <a:srgbClr val="F2F6FF"/>
                </a:solidFill>
                <a:latin typeface="Calibri"/>
              </a:rPr>
              <a:t>11.0592 MHz, 1.0851 us machine cycle</a:t>
            </a:r>
          </a:p>
        </p:txBody>
      </p:sp>
      <p:sp>
        <p:nvSpPr>
          <p:cNvPr id="11" name="TextBox 10"/>
          <p:cNvSpPr txBox="1"/>
          <p:nvPr/>
        </p:nvSpPr>
        <p:spPr>
          <a:xfrm>
            <a:off x="566928" y="4261103"/>
            <a:ext cx="6309360" cy="256032"/>
          </a:xfrm>
          <a:prstGeom prst="rect">
            <a:avLst/>
          </a:prstGeom>
          <a:noFill/>
        </p:spPr>
        <p:txBody>
          <a:bodyPr wrap="square" lIns="0" rIns="0" tIns="0" bIns="0">
            <a:spAutoFit/>
          </a:bodyPr>
          <a:lstStyle/>
          <a:p>
            <a:pPr algn="l">
              <a:spcAft>
                <a:spcPts val="0"/>
              </a:spcAft>
            </a:pPr>
            <a:r>
              <a:rPr sz="1150" b="0">
                <a:solidFill>
                  <a:srgbClr val="6F81A5"/>
                </a:solidFill>
                <a:latin typeface="Calibri"/>
              </a:rPr>
              <a:t>I/O used:  </a:t>
            </a:r>
            <a:r>
              <a:rPr sz="1150" b="1">
                <a:solidFill>
                  <a:srgbClr val="F2F6FF"/>
                </a:solidFill>
                <a:latin typeface="Calibri"/>
              </a:rPr>
              <a:t>32 of 32 pins, shared 8-bit bus</a:t>
            </a:r>
          </a:p>
        </p:txBody>
      </p:sp>
      <p:sp>
        <p:nvSpPr>
          <p:cNvPr id="12" name="TextBox 11"/>
          <p:cNvSpPr txBox="1"/>
          <p:nvPr/>
        </p:nvSpPr>
        <p:spPr>
          <a:xfrm>
            <a:off x="566928" y="4553712"/>
            <a:ext cx="6309360" cy="256032"/>
          </a:xfrm>
          <a:prstGeom prst="rect">
            <a:avLst/>
          </a:prstGeom>
          <a:noFill/>
        </p:spPr>
        <p:txBody>
          <a:bodyPr wrap="square" lIns="0" rIns="0" tIns="0" bIns="0">
            <a:spAutoFit/>
          </a:bodyPr>
          <a:lstStyle/>
          <a:p>
            <a:pPr algn="l">
              <a:spcAft>
                <a:spcPts val="0"/>
              </a:spcAft>
            </a:pPr>
            <a:r>
              <a:rPr sz="1150" b="0">
                <a:solidFill>
                  <a:srgbClr val="6F81A5"/>
                </a:solidFill>
                <a:latin typeface="Calibri"/>
              </a:rPr>
              <a:t>Cost:  </a:t>
            </a:r>
            <a:r>
              <a:rPr sz="1150" b="1">
                <a:solidFill>
                  <a:srgbClr val="F2F6FF"/>
                </a:solidFill>
                <a:latin typeface="Calibri"/>
              </a:rPr>
              <a:t>about INR 985 per board</a:t>
            </a:r>
          </a:p>
        </p:txBody>
      </p:sp>
      <p:sp>
        <p:nvSpPr>
          <p:cNvPr id="13" name="Rounded Rectangle 12"/>
          <p:cNvSpPr/>
          <p:nvPr/>
        </p:nvSpPr>
        <p:spPr>
          <a:xfrm>
            <a:off x="8275320" y="3401568"/>
            <a:ext cx="3200400" cy="148132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3611880"/>
            <a:ext cx="3200400" cy="365760"/>
          </a:xfrm>
          <a:prstGeom prst="rect">
            <a:avLst/>
          </a:prstGeom>
          <a:noFill/>
        </p:spPr>
        <p:txBody>
          <a:bodyPr wrap="square" lIns="0" rIns="0" tIns="0" bIns="0" anchor="t">
            <a:spAutoFit/>
          </a:bodyPr>
          <a:lstStyle/>
          <a:p>
            <a:pPr algn="ctr">
              <a:lnSpc>
                <a:spcPct val="100000"/>
              </a:lnSpc>
              <a:spcAft>
                <a:spcPts val="0"/>
              </a:spcAft>
            </a:pPr>
            <a:r>
              <a:rPr sz="1500" b="1" i="0">
                <a:solidFill>
                  <a:srgbClr val="2FE0C0"/>
                </a:solidFill>
                <a:latin typeface="Calibri"/>
              </a:rPr>
              <a:t>PHASE 2</a:t>
            </a:r>
          </a:p>
        </p:txBody>
      </p:sp>
      <p:sp>
        <p:nvSpPr>
          <p:cNvPr id="15" name="TextBox 14"/>
          <p:cNvSpPr txBox="1"/>
          <p:nvPr/>
        </p:nvSpPr>
        <p:spPr>
          <a:xfrm>
            <a:off x="8430768" y="3986784"/>
            <a:ext cx="2889504" cy="822960"/>
          </a:xfrm>
          <a:prstGeom prst="rect">
            <a:avLst/>
          </a:prstGeom>
          <a:noFill/>
        </p:spPr>
        <p:txBody>
          <a:bodyPr wrap="square" lIns="0" rIns="0" tIns="0" bIns="0" anchor="t">
            <a:spAutoFit/>
          </a:bodyPr>
          <a:lstStyle/>
          <a:p>
            <a:pPr algn="ctr">
              <a:lnSpc>
                <a:spcPct val="115000"/>
              </a:lnSpc>
              <a:spcAft>
                <a:spcPts val="0"/>
              </a:spcAft>
            </a:pPr>
            <a:r>
              <a:rPr sz="1050" b="0" i="0">
                <a:solidFill>
                  <a:srgbClr val="A9B8D6"/>
                </a:solidFill>
                <a:latin typeface="Calibri"/>
              </a:rPr>
              <a:t>Simulator verified 14 assembly and 5 C programs.</a:t>
            </a:r>
          </a:p>
          <a:p>
            <a:pPr algn="ctr">
              <a:lnSpc>
                <a:spcPct val="115000"/>
              </a:lnSpc>
              <a:spcAft>
                <a:spcPts val="0"/>
              </a:spcAft>
            </a:pPr>
            <a:r>
              <a:rPr sz="1050" b="0" i="0">
                <a:solidFill>
                  <a:srgbClr val="A9B8D6"/>
                </a:solidFill>
                <a:latin typeface="Calibri"/>
              </a:rPr>
              <a:t>This phase builds the board, writes Keil C51 firmware, and measures every signal.</a:t>
            </a:r>
          </a:p>
        </p:txBody>
      </p:sp>
      <p:sp>
        <p:nvSpPr>
          <p:cNvPr id="16" name="Rectangle 15"/>
          <p:cNvSpPr/>
          <p:nvPr/>
        </p:nvSpPr>
        <p:spPr>
          <a:xfrm>
            <a:off x="566928" y="5138928"/>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5303520"/>
            <a:ext cx="5943600" cy="822960"/>
          </a:xfrm>
          <a:prstGeom prst="rect">
            <a:avLst/>
          </a:prstGeom>
          <a:noFill/>
        </p:spPr>
        <p:txBody>
          <a:bodyPr wrap="square" lIns="0" rIns="0" tIns="0" bIns="0" anchor="t">
            <a:spAutoFit/>
          </a:bodyPr>
          <a:lstStyle/>
          <a:p>
            <a:pPr algn="l">
              <a:lnSpc>
                <a:spcPct val="100000"/>
              </a:lnSpc>
              <a:spcAft>
                <a:spcPts val="300"/>
              </a:spcAft>
            </a:pPr>
            <a:r>
              <a:rPr sz="950" b="1" i="0">
                <a:solidFill>
                  <a:srgbClr val="6F81A5"/>
                </a:solidFill>
                <a:latin typeface="Calibri"/>
              </a:rPr>
              <a:t>SUBMITTED BY</a:t>
            </a:r>
          </a:p>
          <a:p>
            <a:pPr algn="l">
              <a:lnSpc>
                <a:spcPct val="100000"/>
              </a:lnSpc>
              <a:spcAft>
                <a:spcPts val="300"/>
              </a:spcAft>
            </a:pPr>
            <a:r>
              <a:rPr sz="1500" b="1" i="0">
                <a:solidFill>
                  <a:srgbClr val="F2F6FF"/>
                </a:solidFill>
                <a:latin typeface="Calibri"/>
              </a:rPr>
              <a:t>ATHARVA  (24BEL0082)      ADITYA  (24BEL0087)</a:t>
            </a:r>
          </a:p>
          <a:p>
            <a:pPr algn="l">
              <a:lnSpc>
                <a:spcPct val="100000"/>
              </a:lnSpc>
              <a:spcAft>
                <a:spcPts val="300"/>
              </a:spcAft>
            </a:pPr>
            <a:r>
              <a:rPr sz="1100" b="0" i="0">
                <a:solidFill>
                  <a:srgbClr val="A9B8D6"/>
                </a:solidFill>
                <a:latin typeface="Calibri"/>
              </a:rPr>
              <a:t>Department of Electronics and Communication Engineering</a:t>
            </a:r>
          </a:p>
        </p:txBody>
      </p:sp>
      <p:sp>
        <p:nvSpPr>
          <p:cNvPr id="18" name="TextBox 17"/>
          <p:cNvSpPr txBox="1"/>
          <p:nvPr/>
        </p:nvSpPr>
        <p:spPr>
          <a:xfrm>
            <a:off x="6766560" y="5303520"/>
            <a:ext cx="4858481" cy="822960"/>
          </a:xfrm>
          <a:prstGeom prst="rect">
            <a:avLst/>
          </a:prstGeom>
          <a:noFill/>
        </p:spPr>
        <p:txBody>
          <a:bodyPr wrap="square" lIns="0" rIns="0" tIns="0" bIns="0" anchor="t">
            <a:spAutoFit/>
          </a:bodyPr>
          <a:lstStyle/>
          <a:p>
            <a:pPr algn="r">
              <a:lnSpc>
                <a:spcPct val="100000"/>
              </a:lnSpc>
              <a:spcAft>
                <a:spcPts val="300"/>
              </a:spcAft>
            </a:pPr>
            <a:r>
              <a:rPr sz="950" b="1" i="0">
                <a:solidFill>
                  <a:srgbClr val="6F81A5"/>
                </a:solidFill>
                <a:latin typeface="Calibri"/>
              </a:rPr>
              <a:t>ACADEMIC YEAR</a:t>
            </a:r>
          </a:p>
          <a:p>
            <a:pPr algn="r">
              <a:lnSpc>
                <a:spcPct val="100000"/>
              </a:lnSpc>
              <a:spcAft>
                <a:spcPts val="300"/>
              </a:spcAft>
            </a:pPr>
            <a:r>
              <a:rPr sz="1500" b="1" i="0">
                <a:solidFill>
                  <a:srgbClr val="F2F6FF"/>
                </a:solidFill>
                <a:latin typeface="Calibri"/>
              </a:rPr>
              <a:t>2025 - 26</a:t>
            </a:r>
          </a:p>
          <a:p>
            <a:pPr algn="r">
              <a:lnSpc>
                <a:spcPct val="100000"/>
              </a:lnSpc>
              <a:spcAft>
                <a:spcPts val="300"/>
              </a:spcAft>
            </a:pPr>
            <a:r>
              <a:rPr sz="1100" b="0" i="0">
                <a:solidFill>
                  <a:srgbClr val="A9B8D6"/>
                </a:solidFill>
                <a:latin typeface="Calibri"/>
              </a:rPr>
              <a:t>Microprocessors and Microcontrollers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OVERVIEW</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From simulator to silicon</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What phase 1 delivered and what phase 2 adds</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2</a:t>
            </a:r>
          </a:p>
        </p:txBody>
      </p:sp>
      <p:sp>
        <p:nvSpPr>
          <p:cNvPr id="11" name="Rounded Rectangle 10"/>
          <p:cNvSpPr/>
          <p:nvPr/>
        </p:nvSpPr>
        <p:spPr>
          <a:xfrm>
            <a:off x="566928" y="1572768"/>
            <a:ext cx="5349240" cy="23317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1572768"/>
            <a:ext cx="50292" cy="2331720"/>
          </a:xfrm>
          <a:prstGeom prst="rect">
            <a:avLst/>
          </a:prstGeom>
          <a:solidFill>
            <a:srgbClr val="6F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1737360"/>
            <a:ext cx="4937759"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PHASE 1 - DIGITAL MODEL (COMPLETE)</a:t>
            </a:r>
          </a:p>
        </p:txBody>
      </p:sp>
      <p:sp>
        <p:nvSpPr>
          <p:cNvPr id="14" name="TextBox 13"/>
          <p:cNvSpPr txBox="1"/>
          <p:nvPr/>
        </p:nvSpPr>
        <p:spPr>
          <a:xfrm>
            <a:off x="804672" y="2121408"/>
            <a:ext cx="4937759" cy="1645919"/>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A browser based 8051 trainer with a two pass assembler and an instruction level simulator.</a:t>
            </a:r>
            <a:br/>
            <a:r>
              <a:rPr sz="1050" b="0" i="0">
                <a:solidFill>
                  <a:srgbClr val="A9B8D6"/>
                </a:solidFill>
                <a:latin typeface="Calibri"/>
              </a:rPr>
              <a:t>Fourteen assembly programs and five Embedded C programs were executed one instruction at a time and every register, flag and memory change was compared with hand calculation.</a:t>
            </a:r>
            <a:br/>
            <a:r>
              <a:rPr sz="1050" b="0" i="0">
                <a:solidFill>
                  <a:srgbClr val="A9B8D6"/>
                </a:solidFill>
                <a:latin typeface="Calibri"/>
              </a:rPr>
              <a:t>All fourteen programs verified.</a:t>
            </a:r>
          </a:p>
        </p:txBody>
      </p:sp>
      <p:sp>
        <p:nvSpPr>
          <p:cNvPr id="15" name="Rounded Rectangle 14"/>
          <p:cNvSpPr/>
          <p:nvPr/>
        </p:nvSpPr>
        <p:spPr>
          <a:xfrm>
            <a:off x="6272784" y="1572768"/>
            <a:ext cx="5349240" cy="23317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2784" y="1572768"/>
            <a:ext cx="50292" cy="233172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1737360"/>
            <a:ext cx="4937759"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PHASE 2 - REAL HARDWARE (THIS DECK)</a:t>
            </a:r>
          </a:p>
        </p:txBody>
      </p:sp>
      <p:sp>
        <p:nvSpPr>
          <p:cNvPr id="18" name="TextBox 17"/>
          <p:cNvSpPr txBox="1"/>
          <p:nvPr/>
        </p:nvSpPr>
        <p:spPr>
          <a:xfrm>
            <a:off x="6510528" y="2121408"/>
            <a:ext cx="4937759" cy="1645919"/>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The same ideas built on an AT89S52 with latches, a real ADC, a character LCD, a MAX232 serial link, a relay and a buzzer.</a:t>
            </a:r>
            <a:br/>
            <a:r>
              <a:rPr sz="1050" b="0" i="0">
                <a:solidFill>
                  <a:srgbClr val="A9B8D6"/>
                </a:solidFill>
                <a:latin typeface="Calibri"/>
              </a:rPr>
              <a:t>Thirteen Keil C51 programs replace the assembly sources, the board is assembled in ten measured stages, and twenty tests verify it on the bench.</a:t>
            </a:r>
          </a:p>
        </p:txBody>
      </p:sp>
      <p:sp>
        <p:nvSpPr>
          <p:cNvPr id="19" name="TextBox 18"/>
          <p:cNvSpPr txBox="1"/>
          <p:nvPr/>
        </p:nvSpPr>
        <p:spPr>
          <a:xfrm>
            <a:off x="566928" y="4206240"/>
            <a:ext cx="11058113" cy="274320"/>
          </a:xfrm>
          <a:prstGeom prst="rect">
            <a:avLst/>
          </a:prstGeom>
          <a:noFill/>
        </p:spPr>
        <p:txBody>
          <a:bodyPr wrap="square" lIns="0" rIns="0" tIns="0" bIns="0" anchor="t">
            <a:spAutoFit/>
          </a:bodyPr>
          <a:lstStyle/>
          <a:p>
            <a:pPr algn="l">
              <a:lnSpc>
                <a:spcPct val="100000"/>
              </a:lnSpc>
              <a:spcAft>
                <a:spcPts val="0"/>
              </a:spcAft>
            </a:pPr>
            <a:r>
              <a:rPr sz="1500" b="1" i="0">
                <a:solidFill>
                  <a:srgbClr val="F2F6FF"/>
                </a:solidFill>
                <a:latin typeface="Calibri"/>
              </a:rPr>
              <a:t>What changes when the machine becomes real</a:t>
            </a:r>
          </a:p>
        </p:txBody>
      </p:sp>
      <p:graphicFrame>
        <p:nvGraphicFramePr>
          <p:cNvPr id="20" name="Table 19"/>
          <p:cNvGraphicFramePr>
            <a:graphicFrameLocks noGrp="1"/>
          </p:cNvGraphicFramePr>
          <p:nvPr/>
        </p:nvGraphicFramePr>
        <p:xfrm>
          <a:off x="566928" y="4553712"/>
          <a:ext cx="11058112" cy="1691640"/>
        </p:xfrm>
        <a:graphic>
          <a:graphicData uri="http://schemas.openxmlformats.org/drawingml/2006/table">
            <a:tbl>
              <a:tblPr firstRow="1">
                <a:tableStyleId>{5C22544A-7EE6-4342-B048-85BDC9FD1C3A}</a:tableStyleId>
              </a:tblPr>
              <a:tblGrid>
                <a:gridCol w="2010566"/>
                <a:gridCol w="4523773"/>
                <a:gridCol w="4523773"/>
              </a:tblGrid>
              <a:tr h="211455">
                <a:tc>
                  <a:txBody>
                    <a:bodyPr wrap="square"/>
                    <a:lstStyle/>
                    <a:p>
                      <a:pPr algn="l"/>
                      <a:r>
                        <a:rPr sz="1000" b="1">
                          <a:solidFill>
                            <a:srgbClr val="CFE0FF"/>
                          </a:solidFill>
                          <a:latin typeface="Calibri"/>
                        </a:rPr>
                        <a:t>Aspect</a:t>
                      </a:r>
                    </a:p>
                  </a:txBody>
                  <a:tcPr marL="73152" marR="73152" marT="27432" marB="27432" anchor="ctr">
                    <a:solidFill>
                      <a:srgbClr val="2A3C63"/>
                    </a:solidFill>
                  </a:tcPr>
                </a:tc>
                <a:tc>
                  <a:txBody>
                    <a:bodyPr wrap="square"/>
                    <a:lstStyle/>
                    <a:p>
                      <a:pPr algn="l"/>
                      <a:r>
                        <a:rPr sz="1000" b="1">
                          <a:solidFill>
                            <a:srgbClr val="CFE0FF"/>
                          </a:solidFill>
                          <a:latin typeface="Calibri"/>
                        </a:rPr>
                        <a:t>In the simulator</a:t>
                      </a:r>
                    </a:p>
                  </a:txBody>
                  <a:tcPr marL="73152" marR="73152" marT="27432" marB="27432" anchor="ctr">
                    <a:solidFill>
                      <a:srgbClr val="2A3C63"/>
                    </a:solidFill>
                  </a:tcPr>
                </a:tc>
                <a:tc>
                  <a:txBody>
                    <a:bodyPr wrap="square"/>
                    <a:lstStyle/>
                    <a:p>
                      <a:pPr algn="l"/>
                      <a:r>
                        <a:rPr sz="1000" b="1">
                          <a:solidFill>
                            <a:srgbClr val="CFE0FF"/>
                          </a:solidFill>
                          <a:latin typeface="Calibri"/>
                        </a:rPr>
                        <a:t>On the hardware</a:t>
                      </a:r>
                    </a:p>
                  </a:txBody>
                  <a:tcPr marL="73152" marR="73152" marT="27432" marB="27432" anchor="ctr">
                    <a:solidFill>
                      <a:srgbClr val="2A3C63"/>
                    </a:solidFill>
                  </a:tcPr>
                </a:tc>
              </a:tr>
              <a:tr h="211455">
                <a:tc>
                  <a:txBody>
                    <a:bodyPr wrap="square"/>
                    <a:lstStyle/>
                    <a:p>
                      <a:pPr algn="l"/>
                      <a:r>
                        <a:rPr sz="1000" b="0">
                          <a:solidFill>
                            <a:srgbClr val="F2F6FF"/>
                          </a:solidFill>
                          <a:latin typeface="Calibri"/>
                        </a:rPr>
                        <a:t>I/O</a:t>
                      </a:r>
                    </a:p>
                  </a:txBody>
                  <a:tcPr marL="73152" marR="73152" marT="27432" marB="27432" anchor="ctr">
                    <a:solidFill>
                      <a:srgbClr val="17243E"/>
                    </a:solidFill>
                  </a:tcPr>
                </a:tc>
                <a:tc>
                  <a:txBody>
                    <a:bodyPr wrap="square"/>
                    <a:lstStyle/>
                    <a:p>
                      <a:pPr algn="l"/>
                      <a:r>
                        <a:rPr sz="1000" b="0">
                          <a:solidFill>
                            <a:srgbClr val="F2F6FF"/>
                          </a:solidFill>
                          <a:latin typeface="Calibri"/>
                        </a:rPr>
                        <a:t>Ports written directly</a:t>
                      </a:r>
                    </a:p>
                  </a:txBody>
                  <a:tcPr marL="73152" marR="73152" marT="27432" marB="27432" anchor="ctr">
                    <a:solidFill>
                      <a:srgbClr val="17243E"/>
                    </a:solidFill>
                  </a:tcPr>
                </a:tc>
                <a:tc>
                  <a:txBody>
                    <a:bodyPr wrap="square"/>
                    <a:lstStyle/>
                    <a:p>
                      <a:pPr algn="l"/>
                      <a:r>
                        <a:rPr sz="1000" b="0">
                          <a:solidFill>
                            <a:srgbClr val="F2F6FF"/>
                          </a:solidFill>
                          <a:latin typeface="Calibri"/>
                        </a:rPr>
                        <a:t>Shared bus with latch strobes</a:t>
                      </a:r>
                    </a:p>
                  </a:txBody>
                  <a:tcPr marL="73152" marR="73152" marT="27432" marB="27432" anchor="ctr">
                    <a:solidFill>
                      <a:srgbClr val="17243E"/>
                    </a:solidFill>
                  </a:tcPr>
                </a:tc>
              </a:tr>
              <a:tr h="211455">
                <a:tc>
                  <a:txBody>
                    <a:bodyPr wrap="square"/>
                    <a:lstStyle/>
                    <a:p>
                      <a:pPr algn="l"/>
                      <a:r>
                        <a:rPr sz="1000" b="0">
                          <a:solidFill>
                            <a:srgbClr val="F2F6FF"/>
                          </a:solidFill>
                          <a:latin typeface="Calibri"/>
                        </a:rPr>
                        <a:t>Timing</a:t>
                      </a:r>
                    </a:p>
                  </a:txBody>
                  <a:tcPr marL="73152" marR="73152" marT="27432" marB="27432" anchor="ctr">
                    <a:solidFill>
                      <a:srgbClr val="1E2E4E"/>
                    </a:solidFill>
                  </a:tcPr>
                </a:tc>
                <a:tc>
                  <a:txBody>
                    <a:bodyPr wrap="square"/>
                    <a:lstStyle/>
                    <a:p>
                      <a:pPr algn="l"/>
                      <a:r>
                        <a:rPr sz="1000" b="0">
                          <a:solidFill>
                            <a:srgbClr val="F2F6FF"/>
                          </a:solidFill>
                          <a:latin typeface="Calibri"/>
                        </a:rPr>
                        <a:t>Idealised machine cycles</a:t>
                      </a:r>
                    </a:p>
                  </a:txBody>
                  <a:tcPr marL="73152" marR="73152" marT="27432" marB="27432" anchor="ctr">
                    <a:solidFill>
                      <a:srgbClr val="1E2E4E"/>
                    </a:solidFill>
                  </a:tcPr>
                </a:tc>
                <a:tc>
                  <a:txBody>
                    <a:bodyPr wrap="square"/>
                    <a:lstStyle/>
                    <a:p>
                      <a:pPr algn="l"/>
                      <a:r>
                        <a:rPr sz="1000" b="0">
                          <a:solidFill>
                            <a:srgbClr val="F2F6FF"/>
                          </a:solidFill>
                          <a:latin typeface="Calibri"/>
                        </a:rPr>
                        <a:t>1.0851 us per cycle, measured on a scope</a:t>
                      </a:r>
                    </a:p>
                  </a:txBody>
                  <a:tcPr marL="73152" marR="73152" marT="27432" marB="27432" anchor="ctr">
                    <a:solidFill>
                      <a:srgbClr val="1E2E4E"/>
                    </a:solidFill>
                  </a:tcPr>
                </a:tc>
              </a:tr>
              <a:tr h="211455">
                <a:tc>
                  <a:txBody>
                    <a:bodyPr wrap="square"/>
                    <a:lstStyle/>
                    <a:p>
                      <a:pPr algn="l"/>
                      <a:r>
                        <a:rPr sz="1000" b="0">
                          <a:solidFill>
                            <a:srgbClr val="F2F6FF"/>
                          </a:solidFill>
                          <a:latin typeface="Calibri"/>
                        </a:rPr>
                        <a:t>Inputs</a:t>
                      </a:r>
                    </a:p>
                  </a:txBody>
                  <a:tcPr marL="73152" marR="73152" marT="27432" marB="27432" anchor="ctr">
                    <a:solidFill>
                      <a:srgbClr val="17243E"/>
                    </a:solidFill>
                  </a:tcPr>
                </a:tc>
                <a:tc>
                  <a:txBody>
                    <a:bodyPr wrap="square"/>
                    <a:lstStyle/>
                    <a:p>
                      <a:pPr algn="l"/>
                      <a:r>
                        <a:rPr sz="1000" b="0">
                          <a:solidFill>
                            <a:srgbClr val="F2F6FF"/>
                          </a:solidFill>
                          <a:latin typeface="Calibri"/>
                        </a:rPr>
                        <a:t>Clicked switches, ideal</a:t>
                      </a:r>
                    </a:p>
                  </a:txBody>
                  <a:tcPr marL="73152" marR="73152" marT="27432" marB="27432" anchor="ctr">
                    <a:solidFill>
                      <a:srgbClr val="17243E"/>
                    </a:solidFill>
                  </a:tcPr>
                </a:tc>
                <a:tc>
                  <a:txBody>
                    <a:bodyPr wrap="square"/>
                    <a:lstStyle/>
                    <a:p>
                      <a:pPr algn="l"/>
                      <a:r>
                        <a:rPr sz="1000" b="0">
                          <a:solidFill>
                            <a:srgbClr val="F2F6FF"/>
                          </a:solidFill>
                          <a:latin typeface="Calibri"/>
                        </a:rPr>
                        <a:t>Bounce, pull-ups, noise, debounce needed</a:t>
                      </a:r>
                    </a:p>
                  </a:txBody>
                  <a:tcPr marL="73152" marR="73152" marT="27432" marB="27432" anchor="ctr">
                    <a:solidFill>
                      <a:srgbClr val="17243E"/>
                    </a:solidFill>
                  </a:tcPr>
                </a:tc>
              </a:tr>
              <a:tr h="211455">
                <a:tc>
                  <a:txBody>
                    <a:bodyPr wrap="square"/>
                    <a:lstStyle/>
                    <a:p>
                      <a:pPr algn="l"/>
                      <a:r>
                        <a:rPr sz="1000" b="0">
                          <a:solidFill>
                            <a:srgbClr val="F2F6FF"/>
                          </a:solidFill>
                          <a:latin typeface="Calibri"/>
                        </a:rPr>
                        <a:t>Analog</a:t>
                      </a:r>
                    </a:p>
                  </a:txBody>
                  <a:tcPr marL="73152" marR="73152" marT="27432" marB="27432" anchor="ctr">
                    <a:solidFill>
                      <a:srgbClr val="1E2E4E"/>
                    </a:solidFill>
                  </a:tcPr>
                </a:tc>
                <a:tc>
                  <a:txBody>
                    <a:bodyPr wrap="square"/>
                    <a:lstStyle/>
                    <a:p>
                      <a:pPr algn="l"/>
                      <a:r>
                        <a:rPr sz="1000" b="0">
                          <a:solidFill>
                            <a:srgbClr val="F2F6FF"/>
                          </a:solidFill>
                          <a:latin typeface="Calibri"/>
                        </a:rPr>
                        <a:t>Slider sets the temperature</a:t>
                      </a:r>
                    </a:p>
                  </a:txBody>
                  <a:tcPr marL="73152" marR="73152" marT="27432" marB="27432" anchor="ctr">
                    <a:solidFill>
                      <a:srgbClr val="1E2E4E"/>
                    </a:solidFill>
                  </a:tcPr>
                </a:tc>
                <a:tc>
                  <a:txBody>
                    <a:bodyPr wrap="square"/>
                    <a:lstStyle/>
                    <a:p>
                      <a:pPr algn="l"/>
                      <a:r>
                        <a:rPr sz="1000" b="0">
                          <a:solidFill>
                            <a:srgbClr val="F2F6FF"/>
                          </a:solidFill>
                          <a:latin typeface="Calibri"/>
                        </a:rPr>
                        <a:t>LM35 into ADC0804, reference must be calibrated</a:t>
                      </a:r>
                    </a:p>
                  </a:txBody>
                  <a:tcPr marL="73152" marR="73152" marT="27432" marB="27432" anchor="ctr">
                    <a:solidFill>
                      <a:srgbClr val="1E2E4E"/>
                    </a:solidFill>
                  </a:tcPr>
                </a:tc>
              </a:tr>
              <a:tr h="211455">
                <a:tc>
                  <a:txBody>
                    <a:bodyPr wrap="square"/>
                    <a:lstStyle/>
                    <a:p>
                      <a:pPr algn="l"/>
                      <a:r>
                        <a:rPr sz="1000" b="0">
                          <a:solidFill>
                            <a:srgbClr val="F2F6FF"/>
                          </a:solidFill>
                          <a:latin typeface="Calibri"/>
                        </a:rPr>
                        <a:t>Serial</a:t>
                      </a:r>
                    </a:p>
                  </a:txBody>
                  <a:tcPr marL="73152" marR="73152" marT="27432" marB="27432" anchor="ctr">
                    <a:solidFill>
                      <a:srgbClr val="17243E"/>
                    </a:solidFill>
                  </a:tcPr>
                </a:tc>
                <a:tc>
                  <a:txBody>
                    <a:bodyPr wrap="square"/>
                    <a:lstStyle/>
                    <a:p>
                      <a:pPr algn="l"/>
                      <a:r>
                        <a:rPr sz="1000" b="0">
                          <a:solidFill>
                            <a:srgbClr val="F2F6FF"/>
                          </a:solidFill>
                          <a:latin typeface="Calibri"/>
                        </a:rPr>
                        <a:t>Terminal pane</a:t>
                      </a:r>
                    </a:p>
                  </a:txBody>
                  <a:tcPr marL="73152" marR="73152" marT="27432" marB="27432" anchor="ctr">
                    <a:solidFill>
                      <a:srgbClr val="17243E"/>
                    </a:solidFill>
                  </a:tcPr>
                </a:tc>
                <a:tc>
                  <a:txBody>
                    <a:bodyPr wrap="square"/>
                    <a:lstStyle/>
                    <a:p>
                      <a:pPr algn="l"/>
                      <a:r>
                        <a:rPr sz="1000" b="0">
                          <a:solidFill>
                            <a:srgbClr val="F2F6FF"/>
                          </a:solidFill>
                          <a:latin typeface="Calibri"/>
                        </a:rPr>
                        <a:t>MAX232, DB9 wiring, 9600 8N1</a:t>
                      </a:r>
                    </a:p>
                  </a:txBody>
                  <a:tcPr marL="73152" marR="73152" marT="27432" marB="27432" anchor="ctr">
                    <a:solidFill>
                      <a:srgbClr val="17243E"/>
                    </a:solidFill>
                  </a:tcPr>
                </a:tc>
              </a:tr>
              <a:tr h="211455">
                <a:tc>
                  <a:txBody>
                    <a:bodyPr wrap="square"/>
                    <a:lstStyle/>
                    <a:p>
                      <a:pPr algn="l"/>
                      <a:r>
                        <a:rPr sz="1000" b="0">
                          <a:solidFill>
                            <a:srgbClr val="F2F6FF"/>
                          </a:solidFill>
                          <a:latin typeface="Calibri"/>
                        </a:rPr>
                        <a:t>Failure</a:t>
                      </a:r>
                    </a:p>
                  </a:txBody>
                  <a:tcPr marL="73152" marR="73152" marT="27432" marB="27432" anchor="ctr">
                    <a:solidFill>
                      <a:srgbClr val="1E2E4E"/>
                    </a:solidFill>
                  </a:tcPr>
                </a:tc>
                <a:tc>
                  <a:txBody>
                    <a:bodyPr wrap="square"/>
                    <a:lstStyle/>
                    <a:p>
                      <a:pPr algn="l"/>
                      <a:r>
                        <a:rPr sz="1000" b="0">
                          <a:solidFill>
                            <a:srgbClr val="F2F6FF"/>
                          </a:solidFill>
                          <a:latin typeface="Calibri"/>
                        </a:rPr>
                        <a:t>Program stops</a:t>
                      </a:r>
                    </a:p>
                  </a:txBody>
                  <a:tcPr marL="73152" marR="73152" marT="27432" marB="27432" anchor="ctr">
                    <a:solidFill>
                      <a:srgbClr val="1E2E4E"/>
                    </a:solidFill>
                  </a:tcPr>
                </a:tc>
                <a:tc>
                  <a:txBody>
                    <a:bodyPr wrap="square"/>
                    <a:lstStyle/>
                    <a:p>
                      <a:pPr algn="l"/>
                      <a:r>
                        <a:rPr sz="1000" b="0">
                          <a:solidFill>
                            <a:srgbClr val="F2F6FF"/>
                          </a:solidFill>
                          <a:latin typeface="Calibri"/>
                        </a:rPr>
                        <a:t>Wrong Vref, reversed sensor, floating EA pin</a:t>
                      </a:r>
                    </a:p>
                  </a:txBody>
                  <a:tcPr marL="73152" marR="73152" marT="27432" marB="27432" anchor="ctr">
                    <a:solidFill>
                      <a:srgbClr val="1E2E4E"/>
                    </a:solidFill>
                  </a:tcPr>
                </a:tc>
              </a:tr>
              <a:tr h="211455">
                <a:tc>
                  <a:txBody>
                    <a:bodyPr wrap="square"/>
                    <a:lstStyle/>
                    <a:p>
                      <a:pPr algn="l"/>
                      <a:r>
                        <a:rPr sz="1000" b="0">
                          <a:solidFill>
                            <a:srgbClr val="F2F6FF"/>
                          </a:solidFill>
                          <a:latin typeface="Calibri"/>
                        </a:rPr>
                        <a:t>Verification</a:t>
                      </a:r>
                    </a:p>
                  </a:txBody>
                  <a:tcPr marL="73152" marR="73152" marT="27432" marB="27432" anchor="ctr">
                    <a:solidFill>
                      <a:srgbClr val="17243E"/>
                    </a:solidFill>
                  </a:tcPr>
                </a:tc>
                <a:tc>
                  <a:txBody>
                    <a:bodyPr wrap="square"/>
                    <a:lstStyle/>
                    <a:p>
                      <a:pPr algn="l"/>
                      <a:r>
                        <a:rPr sz="1000" b="0">
                          <a:solidFill>
                            <a:srgbClr val="F2F6FF"/>
                          </a:solidFill>
                          <a:latin typeface="Calibri"/>
                        </a:rPr>
                        <a:t>Compare with hand calculation</a:t>
                      </a:r>
                    </a:p>
                  </a:txBody>
                  <a:tcPr marL="73152" marR="73152" marT="27432" marB="27432" anchor="ctr">
                    <a:solidFill>
                      <a:srgbClr val="17243E"/>
                    </a:solidFill>
                  </a:tcPr>
                </a:tc>
                <a:tc>
                  <a:txBody>
                    <a:bodyPr wrap="square"/>
                    <a:lstStyle/>
                    <a:p>
                      <a:pPr algn="l"/>
                      <a:r>
                        <a:rPr sz="1000" b="0">
                          <a:solidFill>
                            <a:srgbClr val="F2F6FF"/>
                          </a:solidFill>
                          <a:latin typeface="Calibri"/>
                        </a:rPr>
                        <a:t>Compare with a multimeter and a scope</a:t>
                      </a:r>
                    </a:p>
                  </a:txBody>
                  <a:tcPr marL="73152" marR="73152" marT="27432" marB="27432" anchor="ctr">
                    <a:solidFill>
                      <a:srgbClr val="17243E"/>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PROBLEM STATEMENT</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Why the hardware phase is needed</a:t>
            </a:r>
          </a:p>
        </p:txBody>
      </p:sp>
      <p:sp>
        <p:nvSpPr>
          <p:cNvPr id="6" name="Rectangle 5"/>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9" name="TextBox 8"/>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3</a:t>
            </a:r>
          </a:p>
        </p:txBody>
      </p:sp>
      <p:sp>
        <p:nvSpPr>
          <p:cNvPr id="10" name="Rounded Rectangle 9"/>
          <p:cNvSpPr/>
          <p:nvPr/>
        </p:nvSpPr>
        <p:spPr>
          <a:xfrm>
            <a:off x="566928" y="1572768"/>
            <a:ext cx="11058113" cy="138988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1755648"/>
            <a:ext cx="10472897" cy="1115568"/>
          </a:xfrm>
          <a:prstGeom prst="rect">
            <a:avLst/>
          </a:prstGeom>
          <a:noFill/>
        </p:spPr>
        <p:txBody>
          <a:bodyPr wrap="square" lIns="0" rIns="0" tIns="0" bIns="0" anchor="t">
            <a:spAutoFit/>
          </a:bodyPr>
          <a:lstStyle/>
          <a:p>
            <a:pPr algn="l">
              <a:lnSpc>
                <a:spcPct val="120000"/>
              </a:lnSpc>
              <a:spcAft>
                <a:spcPts val="0"/>
              </a:spcAft>
            </a:pPr>
            <a:r>
              <a:rPr sz="1450" b="0" i="1">
                <a:solidFill>
                  <a:srgbClr val="CFE0FF"/>
                </a:solidFill>
                <a:latin typeface="Calibri"/>
              </a:rPr>
              <a:t>"To transfer the verified 8051 programs from a software model to a physical AT89S52 trainer board, interfacing LEDs, a seven segment display, a DIP switch bank, a character LCD, an LM35 temperature sensor with an ADC0804, a MAX232 serial link, a relay and a buzzer, and to confirm on the bench that each output matches the value predicted by the simulator."</a:t>
            </a:r>
          </a:p>
        </p:txBody>
      </p:sp>
      <p:sp>
        <p:nvSpPr>
          <p:cNvPr id="12" name="TextBox 11"/>
          <p:cNvSpPr txBox="1"/>
          <p:nvPr/>
        </p:nvSpPr>
        <p:spPr>
          <a:xfrm>
            <a:off x="566928" y="3127248"/>
            <a:ext cx="11058113" cy="274320"/>
          </a:xfrm>
          <a:prstGeom prst="rect">
            <a:avLst/>
          </a:prstGeom>
          <a:noFill/>
        </p:spPr>
        <p:txBody>
          <a:bodyPr wrap="square" lIns="0" rIns="0" tIns="0" bIns="0" anchor="t">
            <a:spAutoFit/>
          </a:bodyPr>
          <a:lstStyle/>
          <a:p>
            <a:pPr algn="l">
              <a:lnSpc>
                <a:spcPct val="100000"/>
              </a:lnSpc>
              <a:spcAft>
                <a:spcPts val="0"/>
              </a:spcAft>
            </a:pPr>
            <a:r>
              <a:rPr sz="1500" b="1" i="0">
                <a:solidFill>
                  <a:srgbClr val="F2F6FF"/>
                </a:solidFill>
                <a:latin typeface="Calibri"/>
              </a:rPr>
              <a:t>Difficulties the hardware phase has to solve</a:t>
            </a:r>
          </a:p>
        </p:txBody>
      </p:sp>
      <p:sp>
        <p:nvSpPr>
          <p:cNvPr id="13" name="Rounded Rectangle 12"/>
          <p:cNvSpPr/>
          <p:nvPr/>
        </p:nvSpPr>
        <p:spPr>
          <a:xfrm>
            <a:off x="566928" y="3474720"/>
            <a:ext cx="274320" cy="475488"/>
          </a:xfrm>
          <a:prstGeom prst="roundRect">
            <a:avLst>
              <a:gd name="adj" fmla="val 6000"/>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566160"/>
            <a:ext cx="27432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0F1B33"/>
                </a:solidFill>
                <a:latin typeface="Calibri"/>
              </a:rPr>
              <a:t>1</a:t>
            </a:r>
          </a:p>
        </p:txBody>
      </p:sp>
      <p:sp>
        <p:nvSpPr>
          <p:cNvPr id="15" name="TextBox 14"/>
          <p:cNvSpPr txBox="1"/>
          <p:nvPr/>
        </p:nvSpPr>
        <p:spPr>
          <a:xfrm>
            <a:off x="969264" y="3493008"/>
            <a:ext cx="2377440" cy="274320"/>
          </a:xfrm>
          <a:prstGeom prst="rect">
            <a:avLst/>
          </a:prstGeom>
          <a:noFill/>
        </p:spPr>
        <p:txBody>
          <a:bodyPr wrap="square" lIns="0" rIns="0" tIns="0" bIns="0" anchor="t">
            <a:spAutoFit/>
          </a:bodyPr>
          <a:lstStyle/>
          <a:p>
            <a:pPr algn="l">
              <a:lnSpc>
                <a:spcPct val="100000"/>
              </a:lnSpc>
              <a:spcAft>
                <a:spcPts val="0"/>
              </a:spcAft>
            </a:pPr>
            <a:r>
              <a:rPr sz="1200" b="1" i="0">
                <a:solidFill>
                  <a:srgbClr val="F2F6FF"/>
                </a:solidFill>
                <a:latin typeface="Calibri"/>
              </a:rPr>
              <a:t>Port shortage</a:t>
            </a:r>
          </a:p>
        </p:txBody>
      </p:sp>
      <p:sp>
        <p:nvSpPr>
          <p:cNvPr id="16" name="TextBox 15"/>
          <p:cNvSpPr txBox="1"/>
          <p:nvPr/>
        </p:nvSpPr>
        <p:spPr>
          <a:xfrm>
            <a:off x="3401568" y="3493008"/>
            <a:ext cx="8223473" cy="457200"/>
          </a:xfrm>
          <a:prstGeom prst="rect">
            <a:avLst/>
          </a:prstGeom>
          <a:noFill/>
        </p:spPr>
        <p:txBody>
          <a:bodyPr wrap="square" lIns="0" rIns="0" tIns="0" bIns="0" anchor="t">
            <a:spAutoFit/>
          </a:bodyPr>
          <a:lstStyle/>
          <a:p>
            <a:pPr algn="l">
              <a:lnSpc>
                <a:spcPct val="112000"/>
              </a:lnSpc>
              <a:spcAft>
                <a:spcPts val="0"/>
              </a:spcAft>
            </a:pPr>
            <a:r>
              <a:rPr sz="1050" b="0" i="0">
                <a:solidFill>
                  <a:srgbClr val="A9B8D6"/>
                </a:solidFill>
                <a:latin typeface="Calibri"/>
              </a:rPr>
              <a:t>The peripherals need 54 I/O lines. The 8051 has 32. A shared 8-bit bus with latches closes the gap.</a:t>
            </a:r>
          </a:p>
        </p:txBody>
      </p:sp>
      <p:sp>
        <p:nvSpPr>
          <p:cNvPr id="17" name="Rounded Rectangle 16"/>
          <p:cNvSpPr/>
          <p:nvPr/>
        </p:nvSpPr>
        <p:spPr>
          <a:xfrm>
            <a:off x="566928" y="4041648"/>
            <a:ext cx="274320" cy="475488"/>
          </a:xfrm>
          <a:prstGeom prst="roundRect">
            <a:avLst>
              <a:gd name="adj" fmla="val 6000"/>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133087"/>
            <a:ext cx="27432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0F1B33"/>
                </a:solidFill>
                <a:latin typeface="Calibri"/>
              </a:rPr>
              <a:t>2</a:t>
            </a:r>
          </a:p>
        </p:txBody>
      </p:sp>
      <p:sp>
        <p:nvSpPr>
          <p:cNvPr id="19" name="TextBox 18"/>
          <p:cNvSpPr txBox="1"/>
          <p:nvPr/>
        </p:nvSpPr>
        <p:spPr>
          <a:xfrm>
            <a:off x="969264" y="4059935"/>
            <a:ext cx="2377440" cy="274320"/>
          </a:xfrm>
          <a:prstGeom prst="rect">
            <a:avLst/>
          </a:prstGeom>
          <a:noFill/>
        </p:spPr>
        <p:txBody>
          <a:bodyPr wrap="square" lIns="0" rIns="0" tIns="0" bIns="0" anchor="t">
            <a:spAutoFit/>
          </a:bodyPr>
          <a:lstStyle/>
          <a:p>
            <a:pPr algn="l">
              <a:lnSpc>
                <a:spcPct val="100000"/>
              </a:lnSpc>
              <a:spcAft>
                <a:spcPts val="0"/>
              </a:spcAft>
            </a:pPr>
            <a:r>
              <a:rPr sz="1200" b="1" i="0">
                <a:solidFill>
                  <a:srgbClr val="F2F6FF"/>
                </a:solidFill>
                <a:latin typeface="Calibri"/>
              </a:rPr>
              <a:t>Port 0 is open drain</a:t>
            </a:r>
          </a:p>
        </p:txBody>
      </p:sp>
      <p:sp>
        <p:nvSpPr>
          <p:cNvPr id="20" name="TextBox 19"/>
          <p:cNvSpPr txBox="1"/>
          <p:nvPr/>
        </p:nvSpPr>
        <p:spPr>
          <a:xfrm>
            <a:off x="3401568" y="4059935"/>
            <a:ext cx="8223473" cy="457200"/>
          </a:xfrm>
          <a:prstGeom prst="rect">
            <a:avLst/>
          </a:prstGeom>
          <a:noFill/>
        </p:spPr>
        <p:txBody>
          <a:bodyPr wrap="square" lIns="0" rIns="0" tIns="0" bIns="0" anchor="t">
            <a:spAutoFit/>
          </a:bodyPr>
          <a:lstStyle/>
          <a:p>
            <a:pPr algn="l">
              <a:lnSpc>
                <a:spcPct val="112000"/>
              </a:lnSpc>
              <a:spcAft>
                <a:spcPts val="0"/>
              </a:spcAft>
            </a:pPr>
            <a:r>
              <a:rPr sz="1050" b="0" i="0">
                <a:solidFill>
                  <a:srgbClr val="A9B8D6"/>
                </a:solidFill>
                <a:latin typeface="Calibri"/>
              </a:rPr>
              <a:t>It cannot drive a logic 1 without pull-ups, and every bus transfer has to respect the resulting rise time.</a:t>
            </a:r>
          </a:p>
        </p:txBody>
      </p:sp>
      <p:sp>
        <p:nvSpPr>
          <p:cNvPr id="21" name="Rounded Rectangle 20"/>
          <p:cNvSpPr/>
          <p:nvPr/>
        </p:nvSpPr>
        <p:spPr>
          <a:xfrm>
            <a:off x="566928" y="4608576"/>
            <a:ext cx="274320" cy="475488"/>
          </a:xfrm>
          <a:prstGeom prst="roundRect">
            <a:avLst>
              <a:gd name="adj" fmla="val 6000"/>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700016"/>
            <a:ext cx="27432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0F1B33"/>
                </a:solidFill>
                <a:latin typeface="Calibri"/>
              </a:rPr>
              <a:t>3</a:t>
            </a:r>
          </a:p>
        </p:txBody>
      </p:sp>
      <p:sp>
        <p:nvSpPr>
          <p:cNvPr id="23" name="TextBox 22"/>
          <p:cNvSpPr txBox="1"/>
          <p:nvPr/>
        </p:nvSpPr>
        <p:spPr>
          <a:xfrm>
            <a:off x="969264" y="4626864"/>
            <a:ext cx="2377440" cy="274320"/>
          </a:xfrm>
          <a:prstGeom prst="rect">
            <a:avLst/>
          </a:prstGeom>
          <a:noFill/>
        </p:spPr>
        <p:txBody>
          <a:bodyPr wrap="square" lIns="0" rIns="0" tIns="0" bIns="0" anchor="t">
            <a:spAutoFit/>
          </a:bodyPr>
          <a:lstStyle/>
          <a:p>
            <a:pPr algn="l">
              <a:lnSpc>
                <a:spcPct val="100000"/>
              </a:lnSpc>
              <a:spcAft>
                <a:spcPts val="0"/>
              </a:spcAft>
            </a:pPr>
            <a:r>
              <a:rPr sz="1200" b="1" i="0">
                <a:solidFill>
                  <a:srgbClr val="F2F6FF"/>
                </a:solidFill>
                <a:latin typeface="Calibri"/>
              </a:rPr>
              <a:t>No zero flag, no read back</a:t>
            </a:r>
          </a:p>
        </p:txBody>
      </p:sp>
      <p:sp>
        <p:nvSpPr>
          <p:cNvPr id="24" name="TextBox 23"/>
          <p:cNvSpPr txBox="1"/>
          <p:nvPr/>
        </p:nvSpPr>
        <p:spPr>
          <a:xfrm>
            <a:off x="3401568" y="4626864"/>
            <a:ext cx="8223473" cy="457200"/>
          </a:xfrm>
          <a:prstGeom prst="rect">
            <a:avLst/>
          </a:prstGeom>
          <a:noFill/>
        </p:spPr>
        <p:txBody>
          <a:bodyPr wrap="square" lIns="0" rIns="0" tIns="0" bIns="0" anchor="t">
            <a:spAutoFit/>
          </a:bodyPr>
          <a:lstStyle/>
          <a:p>
            <a:pPr algn="l">
              <a:lnSpc>
                <a:spcPct val="112000"/>
              </a:lnSpc>
              <a:spcAft>
                <a:spcPts val="0"/>
              </a:spcAft>
            </a:pPr>
            <a:r>
              <a:rPr sz="1050" b="0" i="0">
                <a:solidFill>
                  <a:srgbClr val="A9B8D6"/>
                </a:solidFill>
                <a:latin typeface="Calibri"/>
              </a:rPr>
              <a:t>Output states live in latches, so the firmware keeps a shadow byte for the bus and restores it after every transfer.</a:t>
            </a:r>
          </a:p>
        </p:txBody>
      </p:sp>
      <p:sp>
        <p:nvSpPr>
          <p:cNvPr id="25" name="Rounded Rectangle 24"/>
          <p:cNvSpPr/>
          <p:nvPr/>
        </p:nvSpPr>
        <p:spPr>
          <a:xfrm>
            <a:off x="566928" y="5175504"/>
            <a:ext cx="274320" cy="475488"/>
          </a:xfrm>
          <a:prstGeom prst="roundRect">
            <a:avLst>
              <a:gd name="adj" fmla="val 6000"/>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5266944"/>
            <a:ext cx="27432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0F1B33"/>
                </a:solidFill>
                <a:latin typeface="Calibri"/>
              </a:rPr>
              <a:t>4</a:t>
            </a:r>
          </a:p>
        </p:txBody>
      </p:sp>
      <p:sp>
        <p:nvSpPr>
          <p:cNvPr id="27" name="TextBox 26"/>
          <p:cNvSpPr txBox="1"/>
          <p:nvPr/>
        </p:nvSpPr>
        <p:spPr>
          <a:xfrm>
            <a:off x="969264" y="5193792"/>
            <a:ext cx="2377440" cy="274320"/>
          </a:xfrm>
          <a:prstGeom prst="rect">
            <a:avLst/>
          </a:prstGeom>
          <a:noFill/>
        </p:spPr>
        <p:txBody>
          <a:bodyPr wrap="square" lIns="0" rIns="0" tIns="0" bIns="0" anchor="t">
            <a:spAutoFit/>
          </a:bodyPr>
          <a:lstStyle/>
          <a:p>
            <a:pPr algn="l">
              <a:lnSpc>
                <a:spcPct val="100000"/>
              </a:lnSpc>
              <a:spcAft>
                <a:spcPts val="0"/>
              </a:spcAft>
            </a:pPr>
            <a:r>
              <a:rPr sz="1200" b="1" i="0">
                <a:solidFill>
                  <a:srgbClr val="F2F6FF"/>
                </a:solidFill>
                <a:latin typeface="Calibri"/>
              </a:rPr>
              <a:t>Analog accuracy</a:t>
            </a:r>
          </a:p>
        </p:txBody>
      </p:sp>
      <p:sp>
        <p:nvSpPr>
          <p:cNvPr id="28" name="TextBox 27"/>
          <p:cNvSpPr txBox="1"/>
          <p:nvPr/>
        </p:nvSpPr>
        <p:spPr>
          <a:xfrm>
            <a:off x="3401568" y="5193792"/>
            <a:ext cx="8223473" cy="457200"/>
          </a:xfrm>
          <a:prstGeom prst="rect">
            <a:avLst/>
          </a:prstGeom>
          <a:noFill/>
        </p:spPr>
        <p:txBody>
          <a:bodyPr wrap="square" lIns="0" rIns="0" tIns="0" bIns="0" anchor="t">
            <a:spAutoFit/>
          </a:bodyPr>
          <a:lstStyle/>
          <a:p>
            <a:pPr algn="l">
              <a:lnSpc>
                <a:spcPct val="112000"/>
              </a:lnSpc>
              <a:spcAft>
                <a:spcPts val="0"/>
              </a:spcAft>
            </a:pPr>
            <a:r>
              <a:rPr sz="1050" b="0" i="0">
                <a:solidFill>
                  <a:srgbClr val="A9B8D6"/>
                </a:solidFill>
                <a:latin typeface="Calibri"/>
              </a:rPr>
              <a:t>An 8-bit ADC needs a deliberate reference. Vref/2 is trimmed to 1.000 V so the LM35 range is used instead of wasted.</a:t>
            </a:r>
          </a:p>
        </p:txBody>
      </p:sp>
      <p:sp>
        <p:nvSpPr>
          <p:cNvPr id="29" name="Rounded Rectangle 28"/>
          <p:cNvSpPr/>
          <p:nvPr/>
        </p:nvSpPr>
        <p:spPr>
          <a:xfrm>
            <a:off x="566928" y="5742432"/>
            <a:ext cx="274320" cy="475488"/>
          </a:xfrm>
          <a:prstGeom prst="roundRect">
            <a:avLst>
              <a:gd name="adj" fmla="val 6000"/>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5833872"/>
            <a:ext cx="27432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0F1B33"/>
                </a:solidFill>
                <a:latin typeface="Calibri"/>
              </a:rPr>
              <a:t>5</a:t>
            </a:r>
          </a:p>
        </p:txBody>
      </p:sp>
      <p:sp>
        <p:nvSpPr>
          <p:cNvPr id="31" name="TextBox 30"/>
          <p:cNvSpPr txBox="1"/>
          <p:nvPr/>
        </p:nvSpPr>
        <p:spPr>
          <a:xfrm>
            <a:off x="969264" y="5760720"/>
            <a:ext cx="2377440" cy="274320"/>
          </a:xfrm>
          <a:prstGeom prst="rect">
            <a:avLst/>
          </a:prstGeom>
          <a:noFill/>
        </p:spPr>
        <p:txBody>
          <a:bodyPr wrap="square" lIns="0" rIns="0" tIns="0" bIns="0" anchor="t">
            <a:spAutoFit/>
          </a:bodyPr>
          <a:lstStyle/>
          <a:p>
            <a:pPr algn="l">
              <a:lnSpc>
                <a:spcPct val="100000"/>
              </a:lnSpc>
              <a:spcAft>
                <a:spcPts val="0"/>
              </a:spcAft>
            </a:pPr>
            <a:r>
              <a:rPr sz="1200" b="1" i="0">
                <a:solidFill>
                  <a:srgbClr val="F2F6FF"/>
                </a:solidFill>
                <a:latin typeface="Calibri"/>
              </a:rPr>
              <a:t>Programming</a:t>
            </a:r>
          </a:p>
        </p:txBody>
      </p:sp>
      <p:sp>
        <p:nvSpPr>
          <p:cNvPr id="32" name="TextBox 31"/>
          <p:cNvSpPr txBox="1"/>
          <p:nvPr/>
        </p:nvSpPr>
        <p:spPr>
          <a:xfrm>
            <a:off x="3401568" y="5760720"/>
            <a:ext cx="8223473" cy="457200"/>
          </a:xfrm>
          <a:prstGeom prst="rect">
            <a:avLst/>
          </a:prstGeom>
          <a:noFill/>
        </p:spPr>
        <p:txBody>
          <a:bodyPr wrap="square" lIns="0" rIns="0" tIns="0" bIns="0" anchor="t">
            <a:spAutoFit/>
          </a:bodyPr>
          <a:lstStyle/>
          <a:p>
            <a:pPr algn="l">
              <a:lnSpc>
                <a:spcPct val="112000"/>
              </a:lnSpc>
              <a:spcAft>
                <a:spcPts val="0"/>
              </a:spcAft>
            </a:pPr>
            <a:r>
              <a:rPr sz="1050" b="0" i="0">
                <a:solidFill>
                  <a:srgbClr val="A9B8D6"/>
                </a:solidFill>
                <a:latin typeface="Calibri"/>
              </a:rPr>
              <a:t>P1.5, P1.6 and P1.7 serve both the DIP switches and the SPI programming header, so the two must not fight.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OBJECTIVES</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What the hardware phase sets out to do</a:t>
            </a:r>
          </a:p>
        </p:txBody>
      </p:sp>
      <p:sp>
        <p:nvSpPr>
          <p:cNvPr id="6" name="Rectangle 5"/>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9" name="TextBox 8"/>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4</a:t>
            </a:r>
          </a:p>
        </p:txBody>
      </p:sp>
      <p:sp>
        <p:nvSpPr>
          <p:cNvPr id="10" name="Rounded Rectangle 9"/>
          <p:cNvSpPr/>
          <p:nvPr/>
        </p:nvSpPr>
        <p:spPr>
          <a:xfrm>
            <a:off x="566928" y="1627632"/>
            <a:ext cx="3520440" cy="21031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27632"/>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773936"/>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01</a:t>
            </a:r>
          </a:p>
        </p:txBody>
      </p:sp>
      <p:sp>
        <p:nvSpPr>
          <p:cNvPr id="13" name="TextBox 12"/>
          <p:cNvSpPr txBox="1"/>
          <p:nvPr/>
        </p:nvSpPr>
        <p:spPr>
          <a:xfrm>
            <a:off x="768096" y="2267712"/>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Build the minimum system</a:t>
            </a:r>
          </a:p>
        </p:txBody>
      </p:sp>
      <p:sp>
        <p:nvSpPr>
          <p:cNvPr id="14" name="TextBox 13"/>
          <p:cNvSpPr txBox="1"/>
          <p:nvPr/>
        </p:nvSpPr>
        <p:spPr>
          <a:xfrm>
            <a:off x="768096" y="2779776"/>
            <a:ext cx="3136392" cy="822959"/>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AT89S52 with an 11.0592 MHz crystal, a reset circuit, the EA strap and a regulated 5 V supply, verified by a 1.843 MHz signal on ALE.</a:t>
            </a:r>
          </a:p>
        </p:txBody>
      </p:sp>
      <p:sp>
        <p:nvSpPr>
          <p:cNvPr id="15" name="Rounded Rectangle 14"/>
          <p:cNvSpPr/>
          <p:nvPr/>
        </p:nvSpPr>
        <p:spPr>
          <a:xfrm>
            <a:off x="4306824" y="1627632"/>
            <a:ext cx="3520440" cy="21031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6824" y="1627632"/>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1773936"/>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02</a:t>
            </a:r>
          </a:p>
        </p:txBody>
      </p:sp>
      <p:sp>
        <p:nvSpPr>
          <p:cNvPr id="18" name="TextBox 17"/>
          <p:cNvSpPr txBox="1"/>
          <p:nvPr/>
        </p:nvSpPr>
        <p:spPr>
          <a:xfrm>
            <a:off x="4507992" y="2267712"/>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Solve the port shortage</a:t>
            </a:r>
          </a:p>
        </p:txBody>
      </p:sp>
      <p:sp>
        <p:nvSpPr>
          <p:cNvPr id="19" name="TextBox 18"/>
          <p:cNvSpPr txBox="1"/>
          <p:nvPr/>
        </p:nvSpPr>
        <p:spPr>
          <a:xfrm>
            <a:off x="4507992" y="2779776"/>
            <a:ext cx="3136392" cy="822959"/>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Put the LCD, the ADC and two output latches on one 8-bit bus so all 32 pins cover every peripheral on the board.</a:t>
            </a:r>
          </a:p>
        </p:txBody>
      </p:sp>
      <p:sp>
        <p:nvSpPr>
          <p:cNvPr id="20" name="Rounded Rectangle 19"/>
          <p:cNvSpPr/>
          <p:nvPr/>
        </p:nvSpPr>
        <p:spPr>
          <a:xfrm>
            <a:off x="8046719" y="1627632"/>
            <a:ext cx="3520440" cy="21031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19" y="1627632"/>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7888" y="1773936"/>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03</a:t>
            </a:r>
          </a:p>
        </p:txBody>
      </p:sp>
      <p:sp>
        <p:nvSpPr>
          <p:cNvPr id="23" name="TextBox 22"/>
          <p:cNvSpPr txBox="1"/>
          <p:nvPr/>
        </p:nvSpPr>
        <p:spPr>
          <a:xfrm>
            <a:off x="8247888" y="2267712"/>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Interface real output hardware</a:t>
            </a:r>
          </a:p>
        </p:txBody>
      </p:sp>
      <p:sp>
        <p:nvSpPr>
          <p:cNvPr id="24" name="TextBox 23"/>
          <p:cNvSpPr txBox="1"/>
          <p:nvPr/>
        </p:nvSpPr>
        <p:spPr>
          <a:xfrm>
            <a:off x="8247888" y="2779776"/>
            <a:ext cx="3136392" cy="822959"/>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Eight LEDs behind a latch, a two digit multiplexed seven segment display, a 16x2 character LCD.</a:t>
            </a:r>
          </a:p>
        </p:txBody>
      </p:sp>
      <p:sp>
        <p:nvSpPr>
          <p:cNvPr id="25" name="Rounded Rectangle 24"/>
          <p:cNvSpPr/>
          <p:nvPr/>
        </p:nvSpPr>
        <p:spPr>
          <a:xfrm>
            <a:off x="566928" y="3931920"/>
            <a:ext cx="3520440" cy="21031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3931920"/>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4078224"/>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04</a:t>
            </a:r>
          </a:p>
        </p:txBody>
      </p:sp>
      <p:sp>
        <p:nvSpPr>
          <p:cNvPr id="28" name="TextBox 27"/>
          <p:cNvSpPr txBox="1"/>
          <p:nvPr/>
        </p:nvSpPr>
        <p:spPr>
          <a:xfrm>
            <a:off x="768096" y="4572000"/>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Interface real input hardware</a:t>
            </a:r>
          </a:p>
        </p:txBody>
      </p:sp>
      <p:sp>
        <p:nvSpPr>
          <p:cNvPr id="29" name="TextBox 28"/>
          <p:cNvSpPr txBox="1"/>
          <p:nvPr/>
        </p:nvSpPr>
        <p:spPr>
          <a:xfrm>
            <a:off x="768096" y="5084064"/>
            <a:ext cx="3136392" cy="822959"/>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An eight way DIP switch bank with pull-ups and debouncing, plus two interrupt push buttons on INT0 and INT1.</a:t>
            </a:r>
          </a:p>
        </p:txBody>
      </p:sp>
      <p:sp>
        <p:nvSpPr>
          <p:cNvPr id="30" name="Rounded Rectangle 29"/>
          <p:cNvSpPr/>
          <p:nvPr/>
        </p:nvSpPr>
        <p:spPr>
          <a:xfrm>
            <a:off x="4306824" y="3931920"/>
            <a:ext cx="3520440" cy="21031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06824" y="3931920"/>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07992" y="4078224"/>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05</a:t>
            </a:r>
          </a:p>
        </p:txBody>
      </p:sp>
      <p:sp>
        <p:nvSpPr>
          <p:cNvPr id="33" name="TextBox 32"/>
          <p:cNvSpPr txBox="1"/>
          <p:nvPr/>
        </p:nvSpPr>
        <p:spPr>
          <a:xfrm>
            <a:off x="4507992" y="4572000"/>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Measure something real</a:t>
            </a:r>
          </a:p>
        </p:txBody>
      </p:sp>
      <p:sp>
        <p:nvSpPr>
          <p:cNvPr id="34" name="TextBox 33"/>
          <p:cNvSpPr txBox="1"/>
          <p:nvPr/>
        </p:nvSpPr>
        <p:spPr>
          <a:xfrm>
            <a:off x="4507992" y="5084064"/>
            <a:ext cx="3136392" cy="822959"/>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LM35 into an ADC0804 with a calibrated reference, converting raw codes to degrees Celsius and driving zone decisions.</a:t>
            </a:r>
          </a:p>
        </p:txBody>
      </p:sp>
      <p:sp>
        <p:nvSpPr>
          <p:cNvPr id="35" name="Rounded Rectangle 34"/>
          <p:cNvSpPr/>
          <p:nvPr/>
        </p:nvSpPr>
        <p:spPr>
          <a:xfrm>
            <a:off x="8046719" y="3931920"/>
            <a:ext cx="3520440" cy="21031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6719" y="3931920"/>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47888" y="4078224"/>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06</a:t>
            </a:r>
          </a:p>
        </p:txBody>
      </p:sp>
      <p:sp>
        <p:nvSpPr>
          <p:cNvPr id="38" name="TextBox 37"/>
          <p:cNvSpPr txBox="1"/>
          <p:nvPr/>
        </p:nvSpPr>
        <p:spPr>
          <a:xfrm>
            <a:off x="8247888" y="4572000"/>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Verify against the simulator</a:t>
            </a:r>
          </a:p>
        </p:txBody>
      </p:sp>
      <p:sp>
        <p:nvSpPr>
          <p:cNvPr id="39" name="TextBox 38"/>
          <p:cNvSpPr txBox="1"/>
          <p:nvPr/>
        </p:nvSpPr>
        <p:spPr>
          <a:xfrm>
            <a:off x="8247888" y="5084064"/>
            <a:ext cx="3136392" cy="822959"/>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Twenty bench tests with acceptance limits, so each hardware result can be compared with the value the simulator produced.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SYSTEM ARCHITECTURE</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How the board is organised</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One 8-bit bus, four devices behind latches and strobes</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5</a:t>
            </a:r>
          </a:p>
        </p:txBody>
      </p:sp>
      <p:sp>
        <p:nvSpPr>
          <p:cNvPr id="11" name="Rounded Rectangle 10"/>
          <p:cNvSpPr/>
          <p:nvPr/>
        </p:nvSpPr>
        <p:spPr>
          <a:xfrm>
            <a:off x="4846320" y="1691640"/>
            <a:ext cx="2487168" cy="960120"/>
          </a:xfrm>
          <a:prstGeom prst="roundRect">
            <a:avLst>
              <a:gd name="adj" fmla="val 6000"/>
            </a:avLst>
          </a:prstGeom>
          <a:solidFill>
            <a:srgbClr val="243A62"/>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19472" y="1924812"/>
            <a:ext cx="2340864" cy="274320"/>
          </a:xfrm>
          <a:prstGeom prst="rect">
            <a:avLst/>
          </a:prstGeom>
          <a:noFill/>
        </p:spPr>
        <p:txBody>
          <a:bodyPr wrap="square" lIns="0" rIns="0" tIns="0" bIns="0" anchor="t">
            <a:spAutoFit/>
          </a:bodyPr>
          <a:lstStyle/>
          <a:p>
            <a:pPr algn="ctr">
              <a:lnSpc>
                <a:spcPct val="100000"/>
              </a:lnSpc>
              <a:spcAft>
                <a:spcPts val="0"/>
              </a:spcAft>
            </a:pPr>
            <a:r>
              <a:rPr sz="1300" b="1" i="0">
                <a:solidFill>
                  <a:srgbClr val="F2F6FF"/>
                </a:solidFill>
                <a:latin typeface="Calibri"/>
              </a:rPr>
              <a:t>AT89S52</a:t>
            </a:r>
          </a:p>
        </p:txBody>
      </p:sp>
      <p:sp>
        <p:nvSpPr>
          <p:cNvPr id="13" name="TextBox 12"/>
          <p:cNvSpPr txBox="1"/>
          <p:nvPr/>
        </p:nvSpPr>
        <p:spPr>
          <a:xfrm>
            <a:off x="4919472" y="2199132"/>
            <a:ext cx="2340864"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40 pin DIP, 11.0592 MHz</a:t>
            </a:r>
          </a:p>
        </p:txBody>
      </p:sp>
      <p:sp>
        <p:nvSpPr>
          <p:cNvPr id="14" name="Rounded Rectangle 13"/>
          <p:cNvSpPr/>
          <p:nvPr/>
        </p:nvSpPr>
        <p:spPr>
          <a:xfrm>
            <a:off x="868680" y="1691640"/>
            <a:ext cx="2148840" cy="658368"/>
          </a:xfrm>
          <a:prstGeom prst="roundRect">
            <a:avLst>
              <a:gd name="adj" fmla="val 6000"/>
            </a:avLst>
          </a:prstGeom>
          <a:solidFill>
            <a:srgbClr val="1E2E4E"/>
          </a:solidFill>
          <a:ln w="12700">
            <a:solidFill>
              <a:srgbClr val="CF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1773936"/>
            <a:ext cx="2002536" cy="274320"/>
          </a:xfrm>
          <a:prstGeom prst="rect">
            <a:avLst/>
          </a:prstGeom>
          <a:noFill/>
        </p:spPr>
        <p:txBody>
          <a:bodyPr wrap="square" lIns="0" rIns="0" tIns="0" bIns="0" anchor="t">
            <a:spAutoFit/>
          </a:bodyPr>
          <a:lstStyle/>
          <a:p>
            <a:pPr algn="ctr">
              <a:lnSpc>
                <a:spcPct val="100000"/>
              </a:lnSpc>
              <a:spcAft>
                <a:spcPts val="0"/>
              </a:spcAft>
            </a:pPr>
            <a:r>
              <a:rPr sz="1100" b="1" i="0">
                <a:solidFill>
                  <a:srgbClr val="F2F6FF"/>
                </a:solidFill>
                <a:latin typeface="Calibri"/>
              </a:rPr>
              <a:t>P1</a:t>
            </a:r>
          </a:p>
        </p:txBody>
      </p:sp>
      <p:sp>
        <p:nvSpPr>
          <p:cNvPr id="16" name="TextBox 15"/>
          <p:cNvSpPr txBox="1"/>
          <p:nvPr/>
        </p:nvSpPr>
        <p:spPr>
          <a:xfrm>
            <a:off x="941832" y="2048255"/>
            <a:ext cx="20025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8 DIP switches</a:t>
            </a:r>
          </a:p>
        </p:txBody>
      </p:sp>
      <p:sp>
        <p:nvSpPr>
          <p:cNvPr id="17" name="Rounded Rectangle 16"/>
          <p:cNvSpPr/>
          <p:nvPr/>
        </p:nvSpPr>
        <p:spPr>
          <a:xfrm>
            <a:off x="868680" y="2542032"/>
            <a:ext cx="2148840" cy="658368"/>
          </a:xfrm>
          <a:prstGeom prst="roundRect">
            <a:avLst>
              <a:gd name="adj" fmla="val 6000"/>
            </a:avLst>
          </a:prstGeom>
          <a:solidFill>
            <a:srgbClr val="1E2E4E"/>
          </a:solidFill>
          <a:ln w="12700">
            <a:solidFill>
              <a:srgbClr val="CF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2624327"/>
            <a:ext cx="2002536" cy="274320"/>
          </a:xfrm>
          <a:prstGeom prst="rect">
            <a:avLst/>
          </a:prstGeom>
          <a:noFill/>
        </p:spPr>
        <p:txBody>
          <a:bodyPr wrap="square" lIns="0" rIns="0" tIns="0" bIns="0" anchor="t">
            <a:spAutoFit/>
          </a:bodyPr>
          <a:lstStyle/>
          <a:p>
            <a:pPr algn="ctr">
              <a:lnSpc>
                <a:spcPct val="100000"/>
              </a:lnSpc>
              <a:spcAft>
                <a:spcPts val="0"/>
              </a:spcAft>
            </a:pPr>
            <a:r>
              <a:rPr sz="1100" b="1" i="0">
                <a:solidFill>
                  <a:srgbClr val="F2F6FF"/>
                </a:solidFill>
                <a:latin typeface="Calibri"/>
              </a:rPr>
              <a:t>P3.2 / P3.3</a:t>
            </a:r>
          </a:p>
        </p:txBody>
      </p:sp>
      <p:sp>
        <p:nvSpPr>
          <p:cNvPr id="19" name="TextBox 18"/>
          <p:cNvSpPr txBox="1"/>
          <p:nvPr/>
        </p:nvSpPr>
        <p:spPr>
          <a:xfrm>
            <a:off x="941832" y="2898647"/>
            <a:ext cx="20025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INT0 and INT1</a:t>
            </a:r>
          </a:p>
        </p:txBody>
      </p:sp>
      <p:sp>
        <p:nvSpPr>
          <p:cNvPr id="20" name="Rounded Rectangle 19"/>
          <p:cNvSpPr/>
          <p:nvPr/>
        </p:nvSpPr>
        <p:spPr>
          <a:xfrm>
            <a:off x="868680" y="3392424"/>
            <a:ext cx="2148840" cy="658368"/>
          </a:xfrm>
          <a:prstGeom prst="roundRect">
            <a:avLst>
              <a:gd name="adj" fmla="val 6000"/>
            </a:avLst>
          </a:prstGeom>
          <a:solidFill>
            <a:srgbClr val="1E2E4E"/>
          </a:solidFill>
          <a:ln w="12700">
            <a:solidFill>
              <a:srgbClr val="CF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3474720"/>
            <a:ext cx="2002536" cy="274320"/>
          </a:xfrm>
          <a:prstGeom prst="rect">
            <a:avLst/>
          </a:prstGeom>
          <a:noFill/>
        </p:spPr>
        <p:txBody>
          <a:bodyPr wrap="square" lIns="0" rIns="0" tIns="0" bIns="0" anchor="t">
            <a:spAutoFit/>
          </a:bodyPr>
          <a:lstStyle/>
          <a:p>
            <a:pPr algn="ctr">
              <a:lnSpc>
                <a:spcPct val="100000"/>
              </a:lnSpc>
              <a:spcAft>
                <a:spcPts val="0"/>
              </a:spcAft>
            </a:pPr>
            <a:r>
              <a:rPr sz="1100" b="1" i="0">
                <a:solidFill>
                  <a:srgbClr val="F2F6FF"/>
                </a:solidFill>
                <a:latin typeface="Calibri"/>
              </a:rPr>
              <a:t>P3.4 / P3.5</a:t>
            </a:r>
          </a:p>
        </p:txBody>
      </p:sp>
      <p:sp>
        <p:nvSpPr>
          <p:cNvPr id="22" name="TextBox 21"/>
          <p:cNvSpPr txBox="1"/>
          <p:nvPr/>
        </p:nvSpPr>
        <p:spPr>
          <a:xfrm>
            <a:off x="941832" y="3749039"/>
            <a:ext cx="20025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relay and buzzer</a:t>
            </a:r>
          </a:p>
        </p:txBody>
      </p:sp>
      <p:sp>
        <p:nvSpPr>
          <p:cNvPr id="23" name="Rounded Rectangle 22"/>
          <p:cNvSpPr/>
          <p:nvPr/>
        </p:nvSpPr>
        <p:spPr>
          <a:xfrm>
            <a:off x="868680" y="4242816"/>
            <a:ext cx="2148840" cy="65836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 y="4325112"/>
            <a:ext cx="2002536" cy="274320"/>
          </a:xfrm>
          <a:prstGeom prst="rect">
            <a:avLst/>
          </a:prstGeom>
          <a:noFill/>
        </p:spPr>
        <p:txBody>
          <a:bodyPr wrap="square" lIns="0" rIns="0" tIns="0" bIns="0" anchor="t">
            <a:spAutoFit/>
          </a:bodyPr>
          <a:lstStyle/>
          <a:p>
            <a:pPr algn="ctr">
              <a:lnSpc>
                <a:spcPct val="100000"/>
              </a:lnSpc>
              <a:spcAft>
                <a:spcPts val="0"/>
              </a:spcAft>
            </a:pPr>
            <a:r>
              <a:rPr sz="1100" b="1" i="0">
                <a:solidFill>
                  <a:srgbClr val="F2F6FF"/>
                </a:solidFill>
                <a:latin typeface="Calibri"/>
              </a:rPr>
              <a:t>P0</a:t>
            </a:r>
          </a:p>
        </p:txBody>
      </p:sp>
      <p:sp>
        <p:nvSpPr>
          <p:cNvPr id="25" name="TextBox 24"/>
          <p:cNvSpPr txBox="1"/>
          <p:nvPr/>
        </p:nvSpPr>
        <p:spPr>
          <a:xfrm>
            <a:off x="941832" y="4599431"/>
            <a:ext cx="20025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shared data bus</a:t>
            </a:r>
          </a:p>
        </p:txBody>
      </p:sp>
      <p:sp>
        <p:nvSpPr>
          <p:cNvPr id="26" name="Rounded Rectangle 25"/>
          <p:cNvSpPr/>
          <p:nvPr/>
        </p:nvSpPr>
        <p:spPr>
          <a:xfrm>
            <a:off x="9189720" y="1691640"/>
            <a:ext cx="2148840" cy="65836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62872" y="1773936"/>
            <a:ext cx="2002536" cy="274320"/>
          </a:xfrm>
          <a:prstGeom prst="rect">
            <a:avLst/>
          </a:prstGeom>
          <a:noFill/>
        </p:spPr>
        <p:txBody>
          <a:bodyPr wrap="square" lIns="0" rIns="0" tIns="0" bIns="0" anchor="t">
            <a:spAutoFit/>
          </a:bodyPr>
          <a:lstStyle/>
          <a:p>
            <a:pPr algn="ctr">
              <a:lnSpc>
                <a:spcPct val="100000"/>
              </a:lnSpc>
              <a:spcAft>
                <a:spcPts val="0"/>
              </a:spcAft>
            </a:pPr>
            <a:r>
              <a:rPr sz="1100" b="1" i="0">
                <a:solidFill>
                  <a:srgbClr val="F2F6FF"/>
                </a:solidFill>
                <a:latin typeface="Calibri"/>
              </a:rPr>
              <a:t>P2.0 / P2.1</a:t>
            </a:r>
          </a:p>
        </p:txBody>
      </p:sp>
      <p:sp>
        <p:nvSpPr>
          <p:cNvPr id="28" name="TextBox 27"/>
          <p:cNvSpPr txBox="1"/>
          <p:nvPr/>
        </p:nvSpPr>
        <p:spPr>
          <a:xfrm>
            <a:off x="9262872" y="2048255"/>
            <a:ext cx="20025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latch enables</a:t>
            </a:r>
          </a:p>
        </p:txBody>
      </p:sp>
      <p:sp>
        <p:nvSpPr>
          <p:cNvPr id="29" name="Rounded Rectangle 28"/>
          <p:cNvSpPr/>
          <p:nvPr/>
        </p:nvSpPr>
        <p:spPr>
          <a:xfrm>
            <a:off x="9189720" y="2542032"/>
            <a:ext cx="2148840" cy="65836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62872" y="2624327"/>
            <a:ext cx="2002536" cy="274320"/>
          </a:xfrm>
          <a:prstGeom prst="rect">
            <a:avLst/>
          </a:prstGeom>
          <a:noFill/>
        </p:spPr>
        <p:txBody>
          <a:bodyPr wrap="square" lIns="0" rIns="0" tIns="0" bIns="0" anchor="t">
            <a:spAutoFit/>
          </a:bodyPr>
          <a:lstStyle/>
          <a:p>
            <a:pPr algn="ctr">
              <a:lnSpc>
                <a:spcPct val="100000"/>
              </a:lnSpc>
              <a:spcAft>
                <a:spcPts val="0"/>
              </a:spcAft>
            </a:pPr>
            <a:r>
              <a:rPr sz="1100" b="1" i="0">
                <a:solidFill>
                  <a:srgbClr val="F2F6FF"/>
                </a:solidFill>
                <a:latin typeface="Calibri"/>
              </a:rPr>
              <a:t>P2.2-P2.4</a:t>
            </a:r>
          </a:p>
        </p:txBody>
      </p:sp>
      <p:sp>
        <p:nvSpPr>
          <p:cNvPr id="31" name="TextBox 30"/>
          <p:cNvSpPr txBox="1"/>
          <p:nvPr/>
        </p:nvSpPr>
        <p:spPr>
          <a:xfrm>
            <a:off x="9262872" y="2898647"/>
            <a:ext cx="20025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LCD E, RS, RW</a:t>
            </a:r>
          </a:p>
        </p:txBody>
      </p:sp>
      <p:sp>
        <p:nvSpPr>
          <p:cNvPr id="32" name="Rounded Rectangle 31"/>
          <p:cNvSpPr/>
          <p:nvPr/>
        </p:nvSpPr>
        <p:spPr>
          <a:xfrm>
            <a:off x="9189720" y="3392424"/>
            <a:ext cx="2148840" cy="65836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62872" y="3474720"/>
            <a:ext cx="2002536" cy="274320"/>
          </a:xfrm>
          <a:prstGeom prst="rect">
            <a:avLst/>
          </a:prstGeom>
          <a:noFill/>
        </p:spPr>
        <p:txBody>
          <a:bodyPr wrap="square" lIns="0" rIns="0" tIns="0" bIns="0" anchor="t">
            <a:spAutoFit/>
          </a:bodyPr>
          <a:lstStyle/>
          <a:p>
            <a:pPr algn="ctr">
              <a:lnSpc>
                <a:spcPct val="100000"/>
              </a:lnSpc>
              <a:spcAft>
                <a:spcPts val="0"/>
              </a:spcAft>
            </a:pPr>
            <a:r>
              <a:rPr sz="1100" b="1" i="0">
                <a:solidFill>
                  <a:srgbClr val="F2F6FF"/>
                </a:solidFill>
                <a:latin typeface="Calibri"/>
              </a:rPr>
              <a:t>P2.5-P2.7</a:t>
            </a:r>
          </a:p>
        </p:txBody>
      </p:sp>
      <p:sp>
        <p:nvSpPr>
          <p:cNvPr id="34" name="TextBox 33"/>
          <p:cNvSpPr txBox="1"/>
          <p:nvPr/>
        </p:nvSpPr>
        <p:spPr>
          <a:xfrm>
            <a:off x="9262872" y="3749039"/>
            <a:ext cx="20025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ADC WR, RD, INTR</a:t>
            </a:r>
          </a:p>
        </p:txBody>
      </p:sp>
      <p:sp>
        <p:nvSpPr>
          <p:cNvPr id="35" name="Rounded Rectangle 34"/>
          <p:cNvSpPr/>
          <p:nvPr/>
        </p:nvSpPr>
        <p:spPr>
          <a:xfrm>
            <a:off x="9189720" y="4242816"/>
            <a:ext cx="2148840" cy="658368"/>
          </a:xfrm>
          <a:prstGeom prst="roundRect">
            <a:avLst>
              <a:gd name="adj" fmla="val 6000"/>
            </a:avLst>
          </a:prstGeom>
          <a:solidFill>
            <a:srgbClr val="1E2E4E"/>
          </a:solidFill>
          <a:ln w="12700">
            <a:solidFill>
              <a:srgbClr val="CF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62872" y="4325112"/>
            <a:ext cx="2002536" cy="274320"/>
          </a:xfrm>
          <a:prstGeom prst="rect">
            <a:avLst/>
          </a:prstGeom>
          <a:noFill/>
        </p:spPr>
        <p:txBody>
          <a:bodyPr wrap="square" lIns="0" rIns="0" tIns="0" bIns="0" anchor="t">
            <a:spAutoFit/>
          </a:bodyPr>
          <a:lstStyle/>
          <a:p>
            <a:pPr algn="ctr">
              <a:lnSpc>
                <a:spcPct val="100000"/>
              </a:lnSpc>
              <a:spcAft>
                <a:spcPts val="0"/>
              </a:spcAft>
            </a:pPr>
            <a:r>
              <a:rPr sz="1100" b="1" i="0">
                <a:solidFill>
                  <a:srgbClr val="F2F6FF"/>
                </a:solidFill>
                <a:latin typeface="Calibri"/>
              </a:rPr>
              <a:t>P3.0 / P3.1</a:t>
            </a:r>
          </a:p>
        </p:txBody>
      </p:sp>
      <p:sp>
        <p:nvSpPr>
          <p:cNvPr id="37" name="TextBox 36"/>
          <p:cNvSpPr txBox="1"/>
          <p:nvPr/>
        </p:nvSpPr>
        <p:spPr>
          <a:xfrm>
            <a:off x="9262872" y="4599431"/>
            <a:ext cx="20025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UART to MAX232</a:t>
            </a:r>
          </a:p>
        </p:txBody>
      </p:sp>
      <p:sp>
        <p:nvSpPr>
          <p:cNvPr id="38" name="Rounded Rectangle 37"/>
          <p:cNvSpPr/>
          <p:nvPr/>
        </p:nvSpPr>
        <p:spPr>
          <a:xfrm>
            <a:off x="3246120" y="4937760"/>
            <a:ext cx="5687568" cy="512064"/>
          </a:xfrm>
          <a:prstGeom prst="roundRect">
            <a:avLst>
              <a:gd name="adj" fmla="val 6000"/>
            </a:avLst>
          </a:prstGeom>
          <a:solidFill>
            <a:srgbClr val="17243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46120" y="5029200"/>
            <a:ext cx="5687568" cy="365760"/>
          </a:xfrm>
          <a:prstGeom prst="rect">
            <a:avLst/>
          </a:prstGeom>
          <a:noFill/>
        </p:spPr>
        <p:txBody>
          <a:bodyPr wrap="square" lIns="0" rIns="0" tIns="0" bIns="0" anchor="t">
            <a:spAutoFit/>
          </a:bodyPr>
          <a:lstStyle/>
          <a:p>
            <a:pPr algn="ctr">
              <a:lnSpc>
                <a:spcPct val="100000"/>
              </a:lnSpc>
              <a:spcAft>
                <a:spcPts val="0"/>
              </a:spcAft>
            </a:pPr>
            <a:r>
              <a:rPr sz="1200" b="1" i="0">
                <a:solidFill>
                  <a:srgbClr val="CFE0FF"/>
                </a:solidFill>
                <a:latin typeface="Calibri"/>
              </a:rPr>
              <a:t>8-bit data bus BD0-BD7, port 0, 10 kOhm pull-ups</a:t>
            </a:r>
          </a:p>
        </p:txBody>
      </p:sp>
      <p:cxnSp>
        <p:nvCxnSpPr>
          <p:cNvPr id="40" name="Connector 39"/>
          <p:cNvCxnSpPr/>
          <p:nvPr/>
        </p:nvCxnSpPr>
        <p:spPr>
          <a:xfrm>
            <a:off x="3017520" y="2020824"/>
            <a:ext cx="1828800" cy="146304"/>
          </a:xfrm>
          <a:prstGeom prst="line">
            <a:avLst/>
          </a:prstGeom>
          <a:ln w="12700">
            <a:solidFill>
              <a:srgbClr val="6F81A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3017520" y="2020824"/>
            <a:ext cx="1828800" cy="146304"/>
          </a:xfrm>
          <a:prstGeom prst="line">
            <a:avLst/>
          </a:prstGeom>
          <a:ln w="12700">
            <a:solidFill>
              <a:srgbClr val="6F81A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017520" y="2167128"/>
            <a:ext cx="1828800" cy="704088"/>
          </a:xfrm>
          <a:prstGeom prst="line">
            <a:avLst/>
          </a:prstGeom>
          <a:ln w="12700">
            <a:solidFill>
              <a:srgbClr val="6F81A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3017520" y="2167128"/>
            <a:ext cx="1828800" cy="704088"/>
          </a:xfrm>
          <a:prstGeom prst="line">
            <a:avLst/>
          </a:prstGeom>
          <a:ln w="12700">
            <a:solidFill>
              <a:srgbClr val="6F81A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017520" y="2167128"/>
            <a:ext cx="1828800" cy="1554480"/>
          </a:xfrm>
          <a:prstGeom prst="line">
            <a:avLst/>
          </a:prstGeom>
          <a:ln w="12700">
            <a:solidFill>
              <a:srgbClr val="6F81A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3017520" y="2167128"/>
            <a:ext cx="1828800" cy="1554480"/>
          </a:xfrm>
          <a:prstGeom prst="line">
            <a:avLst/>
          </a:prstGeom>
          <a:ln w="12700">
            <a:solidFill>
              <a:srgbClr val="6F81A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017520" y="2167128"/>
            <a:ext cx="1828800" cy="2404872"/>
          </a:xfrm>
          <a:prstGeom prst="line">
            <a:avLst/>
          </a:prstGeom>
          <a:ln w="12700">
            <a:solidFill>
              <a:srgbClr val="6F81A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3017520" y="2167128"/>
            <a:ext cx="1828800" cy="2404872"/>
          </a:xfrm>
          <a:prstGeom prst="line">
            <a:avLst/>
          </a:prstGeom>
          <a:ln w="12700">
            <a:solidFill>
              <a:srgbClr val="6F81A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089904" y="2651760"/>
            <a:ext cx="54864" cy="2286000"/>
          </a:xfrm>
          <a:prstGeom prst="line">
            <a:avLst/>
          </a:prstGeom>
          <a:ln w="2032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17920" y="3474720"/>
            <a:ext cx="2377440" cy="274320"/>
          </a:xfrm>
          <a:prstGeom prst="rect">
            <a:avLst/>
          </a:prstGeom>
          <a:noFill/>
        </p:spPr>
        <p:txBody>
          <a:bodyPr wrap="square" lIns="0" rIns="0" tIns="0" bIns="0" anchor="t">
            <a:spAutoFit/>
          </a:bodyPr>
          <a:lstStyle/>
          <a:p>
            <a:pPr algn="l">
              <a:lnSpc>
                <a:spcPct val="100000"/>
              </a:lnSpc>
              <a:spcAft>
                <a:spcPts val="0"/>
              </a:spcAft>
            </a:pPr>
            <a:r>
              <a:rPr sz="950" b="0" i="0">
                <a:solidFill>
                  <a:srgbClr val="A9B8D6"/>
                </a:solidFill>
                <a:latin typeface="Calibri"/>
              </a:rPr>
              <a:t>data bus</a:t>
            </a:r>
          </a:p>
        </p:txBody>
      </p:sp>
      <p:sp>
        <p:nvSpPr>
          <p:cNvPr id="50" name="Rounded Rectangle 49"/>
          <p:cNvSpPr/>
          <p:nvPr/>
        </p:nvSpPr>
        <p:spPr>
          <a:xfrm>
            <a:off x="3611880" y="5559552"/>
            <a:ext cx="1783080" cy="676656"/>
          </a:xfrm>
          <a:prstGeom prst="roundRect">
            <a:avLst>
              <a:gd name="adj" fmla="val 6000"/>
            </a:avLst>
          </a:prstGeom>
          <a:solidFill>
            <a:srgbClr val="1E2E4E"/>
          </a:solidFill>
          <a:ln w="12700">
            <a:solidFill>
              <a:srgbClr val="6F81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85032" y="5650992"/>
            <a:ext cx="1636776" cy="274320"/>
          </a:xfrm>
          <a:prstGeom prst="rect">
            <a:avLst/>
          </a:prstGeom>
          <a:noFill/>
        </p:spPr>
        <p:txBody>
          <a:bodyPr wrap="square" lIns="0" rIns="0" tIns="0" bIns="0" anchor="t">
            <a:spAutoFit/>
          </a:bodyPr>
          <a:lstStyle/>
          <a:p>
            <a:pPr algn="ctr">
              <a:lnSpc>
                <a:spcPct val="100000"/>
              </a:lnSpc>
              <a:spcAft>
                <a:spcPts val="0"/>
              </a:spcAft>
            </a:pPr>
            <a:r>
              <a:rPr sz="1050" b="1" i="0">
                <a:solidFill>
                  <a:srgbClr val="F2F6FF"/>
                </a:solidFill>
                <a:latin typeface="Calibri"/>
              </a:rPr>
              <a:t>U2 74HC573</a:t>
            </a:r>
          </a:p>
        </p:txBody>
      </p:sp>
      <p:sp>
        <p:nvSpPr>
          <p:cNvPr id="52" name="TextBox 51"/>
          <p:cNvSpPr txBox="1"/>
          <p:nvPr/>
        </p:nvSpPr>
        <p:spPr>
          <a:xfrm>
            <a:off x="3685032" y="5925312"/>
            <a:ext cx="163677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8 LEDs</a:t>
            </a:r>
          </a:p>
        </p:txBody>
      </p:sp>
      <p:cxnSp>
        <p:nvCxnSpPr>
          <p:cNvPr id="53" name="Connector 52"/>
          <p:cNvCxnSpPr/>
          <p:nvPr/>
        </p:nvCxnSpPr>
        <p:spPr>
          <a:xfrm>
            <a:off x="4498848" y="5449824"/>
            <a:ext cx="0" cy="109728"/>
          </a:xfrm>
          <a:prstGeom prst="line">
            <a:avLst/>
          </a:prstGeom>
          <a:ln w="1524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5532120" y="5559552"/>
            <a:ext cx="1783080" cy="676656"/>
          </a:xfrm>
          <a:prstGeom prst="roundRect">
            <a:avLst>
              <a:gd name="adj" fmla="val 6000"/>
            </a:avLst>
          </a:prstGeom>
          <a:solidFill>
            <a:srgbClr val="1E2E4E"/>
          </a:solidFill>
          <a:ln w="12700">
            <a:solidFill>
              <a:srgbClr val="6F81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05272" y="5650992"/>
            <a:ext cx="1636776" cy="274320"/>
          </a:xfrm>
          <a:prstGeom prst="rect">
            <a:avLst/>
          </a:prstGeom>
          <a:noFill/>
        </p:spPr>
        <p:txBody>
          <a:bodyPr wrap="square" lIns="0" rIns="0" tIns="0" bIns="0" anchor="t">
            <a:spAutoFit/>
          </a:bodyPr>
          <a:lstStyle/>
          <a:p>
            <a:pPr algn="ctr">
              <a:lnSpc>
                <a:spcPct val="100000"/>
              </a:lnSpc>
              <a:spcAft>
                <a:spcPts val="0"/>
              </a:spcAft>
            </a:pPr>
            <a:r>
              <a:rPr sz="1050" b="1" i="0">
                <a:solidFill>
                  <a:srgbClr val="F2F6FF"/>
                </a:solidFill>
                <a:latin typeface="Calibri"/>
              </a:rPr>
              <a:t>U3 74HC573</a:t>
            </a:r>
          </a:p>
        </p:txBody>
      </p:sp>
      <p:sp>
        <p:nvSpPr>
          <p:cNvPr id="56" name="TextBox 55"/>
          <p:cNvSpPr txBox="1"/>
          <p:nvPr/>
        </p:nvSpPr>
        <p:spPr>
          <a:xfrm>
            <a:off x="5605272" y="5925312"/>
            <a:ext cx="163677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7-segment</a:t>
            </a:r>
          </a:p>
        </p:txBody>
      </p:sp>
      <p:cxnSp>
        <p:nvCxnSpPr>
          <p:cNvPr id="57" name="Connector 56"/>
          <p:cNvCxnSpPr/>
          <p:nvPr/>
        </p:nvCxnSpPr>
        <p:spPr>
          <a:xfrm>
            <a:off x="6419088" y="5449824"/>
            <a:ext cx="0" cy="109728"/>
          </a:xfrm>
          <a:prstGeom prst="line">
            <a:avLst/>
          </a:prstGeom>
          <a:ln w="1524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7452360" y="5559552"/>
            <a:ext cx="1783080" cy="676656"/>
          </a:xfrm>
          <a:prstGeom prst="roundRect">
            <a:avLst>
              <a:gd name="adj" fmla="val 6000"/>
            </a:avLst>
          </a:prstGeom>
          <a:solidFill>
            <a:srgbClr val="1E2E4E"/>
          </a:solidFill>
          <a:ln w="12700">
            <a:solidFill>
              <a:srgbClr val="6F81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525512" y="5650992"/>
            <a:ext cx="1636776" cy="274320"/>
          </a:xfrm>
          <a:prstGeom prst="rect">
            <a:avLst/>
          </a:prstGeom>
          <a:noFill/>
        </p:spPr>
        <p:txBody>
          <a:bodyPr wrap="square" lIns="0" rIns="0" tIns="0" bIns="0" anchor="t">
            <a:spAutoFit/>
          </a:bodyPr>
          <a:lstStyle/>
          <a:p>
            <a:pPr algn="ctr">
              <a:lnSpc>
                <a:spcPct val="100000"/>
              </a:lnSpc>
              <a:spcAft>
                <a:spcPts val="0"/>
              </a:spcAft>
            </a:pPr>
            <a:r>
              <a:rPr sz="1050" b="1" i="0">
                <a:solidFill>
                  <a:srgbClr val="F2F6FF"/>
                </a:solidFill>
                <a:latin typeface="Calibri"/>
              </a:rPr>
              <a:t>LCD1 16x2</a:t>
            </a:r>
          </a:p>
        </p:txBody>
      </p:sp>
      <p:sp>
        <p:nvSpPr>
          <p:cNvPr id="60" name="TextBox 59"/>
          <p:cNvSpPr txBox="1"/>
          <p:nvPr/>
        </p:nvSpPr>
        <p:spPr>
          <a:xfrm>
            <a:off x="7525512" y="5925312"/>
            <a:ext cx="163677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HD44780</a:t>
            </a:r>
          </a:p>
        </p:txBody>
      </p:sp>
      <p:cxnSp>
        <p:nvCxnSpPr>
          <p:cNvPr id="61" name="Connector 60"/>
          <p:cNvCxnSpPr/>
          <p:nvPr/>
        </p:nvCxnSpPr>
        <p:spPr>
          <a:xfrm>
            <a:off x="8339328" y="5449824"/>
            <a:ext cx="0" cy="109728"/>
          </a:xfrm>
          <a:prstGeom prst="line">
            <a:avLst/>
          </a:prstGeom>
          <a:ln w="1524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372600" y="5559552"/>
            <a:ext cx="1783080" cy="676656"/>
          </a:xfrm>
          <a:prstGeom prst="roundRect">
            <a:avLst>
              <a:gd name="adj" fmla="val 6000"/>
            </a:avLst>
          </a:prstGeom>
          <a:solidFill>
            <a:srgbClr val="1E2E4E"/>
          </a:solidFill>
          <a:ln w="12700">
            <a:solidFill>
              <a:srgbClr val="6F81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445752" y="5650992"/>
            <a:ext cx="1636776" cy="274320"/>
          </a:xfrm>
          <a:prstGeom prst="rect">
            <a:avLst/>
          </a:prstGeom>
          <a:noFill/>
        </p:spPr>
        <p:txBody>
          <a:bodyPr wrap="square" lIns="0" rIns="0" tIns="0" bIns="0" anchor="t">
            <a:spAutoFit/>
          </a:bodyPr>
          <a:lstStyle/>
          <a:p>
            <a:pPr algn="ctr">
              <a:lnSpc>
                <a:spcPct val="100000"/>
              </a:lnSpc>
              <a:spcAft>
                <a:spcPts val="0"/>
              </a:spcAft>
            </a:pPr>
            <a:r>
              <a:rPr sz="1050" b="1" i="0">
                <a:solidFill>
                  <a:srgbClr val="F2F6FF"/>
                </a:solidFill>
                <a:latin typeface="Calibri"/>
              </a:rPr>
              <a:t>U4 ADC0804</a:t>
            </a:r>
          </a:p>
        </p:txBody>
      </p:sp>
      <p:sp>
        <p:nvSpPr>
          <p:cNvPr id="64" name="TextBox 63"/>
          <p:cNvSpPr txBox="1"/>
          <p:nvPr/>
        </p:nvSpPr>
        <p:spPr>
          <a:xfrm>
            <a:off x="9445752" y="5925312"/>
            <a:ext cx="163677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LM35</a:t>
            </a:r>
          </a:p>
        </p:txBody>
      </p:sp>
      <p:cxnSp>
        <p:nvCxnSpPr>
          <p:cNvPr id="65" name="Connector 64"/>
          <p:cNvCxnSpPr/>
          <p:nvPr/>
        </p:nvCxnSpPr>
        <p:spPr>
          <a:xfrm>
            <a:off x="10259568" y="5449824"/>
            <a:ext cx="0" cy="109728"/>
          </a:xfrm>
          <a:prstGeom prst="line">
            <a:avLst/>
          </a:prstGeom>
          <a:ln w="1524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572768" y="2350008"/>
            <a:ext cx="914400" cy="0"/>
          </a:xfrm>
          <a:prstGeom prst="line">
            <a:avLst/>
          </a:prstGeom>
          <a:ln w="12700">
            <a:solidFill>
              <a:srgbClr val="CFE0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572768" y="2350008"/>
            <a:ext cx="914400" cy="0"/>
          </a:xfrm>
          <a:prstGeom prst="line">
            <a:avLst/>
          </a:prstGeom>
          <a:ln w="12700">
            <a:solidFill>
              <a:srgbClr val="CFE0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710928" y="2350008"/>
            <a:ext cx="914400" cy="0"/>
          </a:xfrm>
          <a:prstGeom prst="line">
            <a:avLst/>
          </a:prstGeom>
          <a:ln w="12700">
            <a:solidFill>
              <a:srgbClr val="CFE0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9710928" y="2350008"/>
            <a:ext cx="914400" cy="0"/>
          </a:xfrm>
          <a:prstGeom prst="line">
            <a:avLst/>
          </a:prstGeom>
          <a:ln w="12700">
            <a:solidFill>
              <a:srgbClr val="CFE0FF"/>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DESIGN PROBLEM</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The 8051 has 32 I/O pins and the board needs 54</a:t>
            </a:r>
          </a:p>
        </p:txBody>
      </p:sp>
      <p:sp>
        <p:nvSpPr>
          <p:cNvPr id="6" name="Rectangle 5"/>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9" name="TextBox 8"/>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6</a:t>
            </a:r>
          </a:p>
        </p:txBody>
      </p:sp>
      <p:graphicFrame>
        <p:nvGraphicFramePr>
          <p:cNvPr id="10" name="Table 9"/>
          <p:cNvGraphicFramePr>
            <a:graphicFrameLocks noGrp="1"/>
          </p:cNvGraphicFramePr>
          <p:nvPr/>
        </p:nvGraphicFramePr>
        <p:xfrm>
          <a:off x="566928" y="1627632"/>
          <a:ext cx="6903720" cy="3566160"/>
        </p:xfrm>
        <a:graphic>
          <a:graphicData uri="http://schemas.openxmlformats.org/drawingml/2006/table">
            <a:tbl>
              <a:tblPr firstRow="1">
                <a:tableStyleId>{5C22544A-7EE6-4342-B048-85BDC9FD1C3A}</a:tableStyleId>
              </a:tblPr>
              <a:tblGrid>
                <a:gridCol w="1828800"/>
                <a:gridCol w="1051560"/>
                <a:gridCol w="1143000"/>
                <a:gridCol w="2880360"/>
              </a:tblGrid>
              <a:tr h="297180">
                <a:tc>
                  <a:txBody>
                    <a:bodyPr wrap="square"/>
                    <a:lstStyle/>
                    <a:p>
                      <a:pPr algn="l"/>
                      <a:r>
                        <a:rPr sz="950" b="1">
                          <a:solidFill>
                            <a:srgbClr val="CFE0FF"/>
                          </a:solidFill>
                          <a:latin typeface="Calibri"/>
                        </a:rPr>
                        <a:t>Peripheral</a:t>
                      </a:r>
                    </a:p>
                  </a:txBody>
                  <a:tcPr marL="73152" marR="73152" marT="27432" marB="27432" anchor="ctr">
                    <a:solidFill>
                      <a:srgbClr val="2A3C63"/>
                    </a:solidFill>
                  </a:tcPr>
                </a:tc>
                <a:tc>
                  <a:txBody>
                    <a:bodyPr wrap="square"/>
                    <a:lstStyle/>
                    <a:p>
                      <a:pPr algn="ctr"/>
                      <a:r>
                        <a:rPr sz="950" b="1">
                          <a:solidFill>
                            <a:srgbClr val="CFE0FF"/>
                          </a:solidFill>
                          <a:latin typeface="Calibri"/>
                        </a:rPr>
                        <a:t>Dedicated pins</a:t>
                      </a:r>
                    </a:p>
                  </a:txBody>
                  <a:tcPr marL="73152" marR="73152" marT="27432" marB="27432" anchor="ctr">
                    <a:solidFill>
                      <a:srgbClr val="2A3C63"/>
                    </a:solidFill>
                  </a:tcPr>
                </a:tc>
                <a:tc>
                  <a:txBody>
                    <a:bodyPr wrap="square"/>
                    <a:lstStyle/>
                    <a:p>
                      <a:pPr algn="ctr"/>
                      <a:r>
                        <a:rPr sz="950" b="1">
                          <a:solidFill>
                            <a:srgbClr val="CFE0FF"/>
                          </a:solidFill>
                          <a:latin typeface="Calibri"/>
                        </a:rPr>
                        <a:t>After bus sharing</a:t>
                      </a:r>
                    </a:p>
                  </a:txBody>
                  <a:tcPr marL="73152" marR="73152" marT="27432" marB="27432" anchor="ctr">
                    <a:solidFill>
                      <a:srgbClr val="2A3C63"/>
                    </a:solidFill>
                  </a:tcPr>
                </a:tc>
                <a:tc>
                  <a:txBody>
                    <a:bodyPr wrap="square"/>
                    <a:lstStyle/>
                    <a:p>
                      <a:pPr algn="l"/>
                      <a:r>
                        <a:rPr sz="950" b="1">
                          <a:solidFill>
                            <a:srgbClr val="CFE0FF"/>
                          </a:solidFill>
                          <a:latin typeface="Calibri"/>
                        </a:rPr>
                        <a:t>How the saving is made</a:t>
                      </a:r>
                    </a:p>
                  </a:txBody>
                  <a:tcPr marL="73152" marR="73152" marT="27432" marB="27432" anchor="ctr">
                    <a:solidFill>
                      <a:srgbClr val="2A3C63"/>
                    </a:solidFill>
                  </a:tcPr>
                </a:tc>
              </a:tr>
              <a:tr h="297180">
                <a:tc>
                  <a:txBody>
                    <a:bodyPr wrap="square"/>
                    <a:lstStyle/>
                    <a:p>
                      <a:pPr algn="l"/>
                      <a:r>
                        <a:rPr sz="950" b="0">
                          <a:solidFill>
                            <a:srgbClr val="F2F6FF"/>
                          </a:solidFill>
                          <a:latin typeface="Calibri"/>
                        </a:rPr>
                        <a:t>8 LED output bank</a:t>
                      </a:r>
                    </a:p>
                  </a:txBody>
                  <a:tcPr marL="73152" marR="73152" marT="27432" marB="27432" anchor="ctr">
                    <a:solidFill>
                      <a:srgbClr val="17243E"/>
                    </a:solidFill>
                  </a:tcPr>
                </a:tc>
                <a:tc>
                  <a:txBody>
                    <a:bodyPr wrap="square"/>
                    <a:lstStyle/>
                    <a:p>
                      <a:pPr algn="ctr"/>
                      <a:r>
                        <a:rPr sz="950" b="0">
                          <a:solidFill>
                            <a:srgbClr val="F2F6FF"/>
                          </a:solidFill>
                          <a:latin typeface="Calibri"/>
                        </a:rPr>
                        <a:t>8</a:t>
                      </a:r>
                    </a:p>
                  </a:txBody>
                  <a:tcPr marL="73152" marR="73152" marT="27432" marB="27432" anchor="ctr">
                    <a:solidFill>
                      <a:srgbClr val="17243E"/>
                    </a:solidFill>
                  </a:tcPr>
                </a:tc>
                <a:tc>
                  <a:txBody>
                    <a:bodyPr wrap="square"/>
                    <a:lstStyle/>
                    <a:p>
                      <a:pPr algn="ctr"/>
                      <a:r>
                        <a:rPr sz="950" b="0">
                          <a:solidFill>
                            <a:srgbClr val="F2F6FF"/>
                          </a:solidFill>
                          <a:latin typeface="Calibri"/>
                        </a:rPr>
                        <a:t>0</a:t>
                      </a:r>
                    </a:p>
                  </a:txBody>
                  <a:tcPr marL="73152" marR="73152" marT="27432" marB="27432" anchor="ctr">
                    <a:solidFill>
                      <a:srgbClr val="17243E"/>
                    </a:solidFill>
                  </a:tcPr>
                </a:tc>
                <a:tc>
                  <a:txBody>
                    <a:bodyPr wrap="square"/>
                    <a:lstStyle/>
                    <a:p>
                      <a:pPr algn="l"/>
                      <a:r>
                        <a:rPr sz="950" b="0">
                          <a:solidFill>
                            <a:srgbClr val="F2F6FF"/>
                          </a:solidFill>
                          <a:latin typeface="Calibri"/>
                        </a:rPr>
                        <a:t>moves behind latch U2 on the bus</a:t>
                      </a:r>
                    </a:p>
                  </a:txBody>
                  <a:tcPr marL="73152" marR="73152" marT="27432" marB="27432" anchor="ctr">
                    <a:solidFill>
                      <a:srgbClr val="17243E"/>
                    </a:solidFill>
                  </a:tcPr>
                </a:tc>
              </a:tr>
              <a:tr h="297180">
                <a:tc>
                  <a:txBody>
                    <a:bodyPr wrap="square"/>
                    <a:lstStyle/>
                    <a:p>
                      <a:pPr algn="l"/>
                      <a:r>
                        <a:rPr sz="950" b="0">
                          <a:solidFill>
                            <a:srgbClr val="F2F6FF"/>
                          </a:solidFill>
                          <a:latin typeface="Calibri"/>
                        </a:rPr>
                        <a:t>7-segment segment lines</a:t>
                      </a:r>
                    </a:p>
                  </a:txBody>
                  <a:tcPr marL="73152" marR="73152" marT="27432" marB="27432" anchor="ctr">
                    <a:solidFill>
                      <a:srgbClr val="1E2E4E"/>
                    </a:solidFill>
                  </a:tcPr>
                </a:tc>
                <a:tc>
                  <a:txBody>
                    <a:bodyPr wrap="square"/>
                    <a:lstStyle/>
                    <a:p>
                      <a:pPr algn="ctr"/>
                      <a:r>
                        <a:rPr sz="950" b="0">
                          <a:solidFill>
                            <a:srgbClr val="F2F6FF"/>
                          </a:solidFill>
                          <a:latin typeface="Calibri"/>
                        </a:rPr>
                        <a:t>8</a:t>
                      </a:r>
                    </a:p>
                  </a:txBody>
                  <a:tcPr marL="73152" marR="73152" marT="27432" marB="27432" anchor="ctr">
                    <a:solidFill>
                      <a:srgbClr val="1E2E4E"/>
                    </a:solidFill>
                  </a:tcPr>
                </a:tc>
                <a:tc>
                  <a:txBody>
                    <a:bodyPr wrap="square"/>
                    <a:lstStyle/>
                    <a:p>
                      <a:pPr algn="ctr"/>
                      <a:r>
                        <a:rPr sz="950" b="0">
                          <a:solidFill>
                            <a:srgbClr val="F2F6FF"/>
                          </a:solidFill>
                          <a:latin typeface="Calibri"/>
                        </a:rPr>
                        <a:t>0</a:t>
                      </a:r>
                    </a:p>
                  </a:txBody>
                  <a:tcPr marL="73152" marR="73152" marT="27432" marB="27432" anchor="ctr">
                    <a:solidFill>
                      <a:srgbClr val="1E2E4E"/>
                    </a:solidFill>
                  </a:tcPr>
                </a:tc>
                <a:tc>
                  <a:txBody>
                    <a:bodyPr wrap="square"/>
                    <a:lstStyle/>
                    <a:p>
                      <a:pPr algn="l"/>
                      <a:r>
                        <a:rPr sz="950" b="0">
                          <a:solidFill>
                            <a:srgbClr val="F2F6FF"/>
                          </a:solidFill>
                          <a:latin typeface="Calibri"/>
                        </a:rPr>
                        <a:t>moves behind latch U3 on the bus</a:t>
                      </a:r>
                    </a:p>
                  </a:txBody>
                  <a:tcPr marL="73152" marR="73152" marT="27432" marB="27432" anchor="ctr">
                    <a:solidFill>
                      <a:srgbClr val="1E2E4E"/>
                    </a:solidFill>
                  </a:tcPr>
                </a:tc>
              </a:tr>
              <a:tr h="297180">
                <a:tc>
                  <a:txBody>
                    <a:bodyPr wrap="square"/>
                    <a:lstStyle/>
                    <a:p>
                      <a:pPr algn="l"/>
                      <a:r>
                        <a:rPr sz="950" b="0">
                          <a:solidFill>
                            <a:srgbClr val="F2F6FF"/>
                          </a:solidFill>
                          <a:latin typeface="Calibri"/>
                        </a:rPr>
                        <a:t>16x2 LCD</a:t>
                      </a:r>
                    </a:p>
                  </a:txBody>
                  <a:tcPr marL="73152" marR="73152" marT="27432" marB="27432" anchor="ctr">
                    <a:solidFill>
                      <a:srgbClr val="17243E"/>
                    </a:solidFill>
                  </a:tcPr>
                </a:tc>
                <a:tc>
                  <a:txBody>
                    <a:bodyPr wrap="square"/>
                    <a:lstStyle/>
                    <a:p>
                      <a:pPr algn="ctr"/>
                      <a:r>
                        <a:rPr sz="950" b="0">
                          <a:solidFill>
                            <a:srgbClr val="F2F6FF"/>
                          </a:solidFill>
                          <a:latin typeface="Calibri"/>
                        </a:rPr>
                        <a:t>11</a:t>
                      </a:r>
                    </a:p>
                  </a:txBody>
                  <a:tcPr marL="73152" marR="73152" marT="27432" marB="27432" anchor="ctr">
                    <a:solidFill>
                      <a:srgbClr val="17243E"/>
                    </a:solidFill>
                  </a:tcPr>
                </a:tc>
                <a:tc>
                  <a:txBody>
                    <a:bodyPr wrap="square"/>
                    <a:lstStyle/>
                    <a:p>
                      <a:pPr algn="ctr"/>
                      <a:r>
                        <a:rPr sz="950" b="0">
                          <a:solidFill>
                            <a:srgbClr val="F2F6FF"/>
                          </a:solidFill>
                          <a:latin typeface="Calibri"/>
                        </a:rPr>
                        <a:t>3</a:t>
                      </a:r>
                    </a:p>
                  </a:txBody>
                  <a:tcPr marL="73152" marR="73152" marT="27432" marB="27432" anchor="ctr">
                    <a:solidFill>
                      <a:srgbClr val="17243E"/>
                    </a:solidFill>
                  </a:tcPr>
                </a:tc>
                <a:tc>
                  <a:txBody>
                    <a:bodyPr wrap="square"/>
                    <a:lstStyle/>
                    <a:p>
                      <a:pPr algn="l"/>
                      <a:r>
                        <a:rPr sz="950" b="0">
                          <a:solidFill>
                            <a:srgbClr val="F2F6FF"/>
                          </a:solidFill>
                          <a:latin typeface="Calibri"/>
                        </a:rPr>
                        <a:t>data lines move to the bus, RS RW E stay</a:t>
                      </a:r>
                    </a:p>
                  </a:txBody>
                  <a:tcPr marL="73152" marR="73152" marT="27432" marB="27432" anchor="ctr">
                    <a:solidFill>
                      <a:srgbClr val="17243E"/>
                    </a:solidFill>
                  </a:tcPr>
                </a:tc>
              </a:tr>
              <a:tr h="297180">
                <a:tc>
                  <a:txBody>
                    <a:bodyPr wrap="square"/>
                    <a:lstStyle/>
                    <a:p>
                      <a:pPr algn="l"/>
                      <a:r>
                        <a:rPr sz="950" b="0">
                          <a:solidFill>
                            <a:srgbClr val="F2F6FF"/>
                          </a:solidFill>
                          <a:latin typeface="Calibri"/>
                        </a:rPr>
                        <a:t>ADC0804</a:t>
                      </a:r>
                    </a:p>
                  </a:txBody>
                  <a:tcPr marL="73152" marR="73152" marT="27432" marB="27432" anchor="ctr">
                    <a:solidFill>
                      <a:srgbClr val="1E2E4E"/>
                    </a:solidFill>
                  </a:tcPr>
                </a:tc>
                <a:tc>
                  <a:txBody>
                    <a:bodyPr wrap="square"/>
                    <a:lstStyle/>
                    <a:p>
                      <a:pPr algn="ctr"/>
                      <a:r>
                        <a:rPr sz="950" b="0">
                          <a:solidFill>
                            <a:srgbClr val="F2F6FF"/>
                          </a:solidFill>
                          <a:latin typeface="Calibri"/>
                        </a:rPr>
                        <a:t>11</a:t>
                      </a:r>
                    </a:p>
                  </a:txBody>
                  <a:tcPr marL="73152" marR="73152" marT="27432" marB="27432" anchor="ctr">
                    <a:solidFill>
                      <a:srgbClr val="1E2E4E"/>
                    </a:solidFill>
                  </a:tcPr>
                </a:tc>
                <a:tc>
                  <a:txBody>
                    <a:bodyPr wrap="square"/>
                    <a:lstStyle/>
                    <a:p>
                      <a:pPr algn="ctr"/>
                      <a:r>
                        <a:rPr sz="950" b="0">
                          <a:solidFill>
                            <a:srgbClr val="F2F6FF"/>
                          </a:solidFill>
                          <a:latin typeface="Calibri"/>
                        </a:rPr>
                        <a:t>3</a:t>
                      </a:r>
                    </a:p>
                  </a:txBody>
                  <a:tcPr marL="73152" marR="73152" marT="27432" marB="27432" anchor="ctr">
                    <a:solidFill>
                      <a:srgbClr val="1E2E4E"/>
                    </a:solidFill>
                  </a:tcPr>
                </a:tc>
                <a:tc>
                  <a:txBody>
                    <a:bodyPr wrap="square"/>
                    <a:lstStyle/>
                    <a:p>
                      <a:pPr algn="l"/>
                      <a:r>
                        <a:rPr sz="950" b="0">
                          <a:solidFill>
                            <a:srgbClr val="F2F6FF"/>
                          </a:solidFill>
                          <a:latin typeface="Calibri"/>
                        </a:rPr>
                        <a:t>data lines move to the bus, WR RD INTR stay</a:t>
                      </a:r>
                    </a:p>
                  </a:txBody>
                  <a:tcPr marL="73152" marR="73152" marT="27432" marB="27432" anchor="ctr">
                    <a:solidFill>
                      <a:srgbClr val="1E2E4E"/>
                    </a:solidFill>
                  </a:tcPr>
                </a:tc>
              </a:tr>
              <a:tr h="297180">
                <a:tc>
                  <a:txBody>
                    <a:bodyPr wrap="square"/>
                    <a:lstStyle/>
                    <a:p>
                      <a:pPr algn="l"/>
                      <a:r>
                        <a:rPr sz="950" b="0">
                          <a:solidFill>
                            <a:srgbClr val="F2F6FF"/>
                          </a:solidFill>
                          <a:latin typeface="Calibri"/>
                        </a:rPr>
                        <a:t>8 way DIP switch</a:t>
                      </a:r>
                    </a:p>
                  </a:txBody>
                  <a:tcPr marL="73152" marR="73152" marT="27432" marB="27432" anchor="ctr">
                    <a:solidFill>
                      <a:srgbClr val="17243E"/>
                    </a:solidFill>
                  </a:tcPr>
                </a:tc>
                <a:tc>
                  <a:txBody>
                    <a:bodyPr wrap="square"/>
                    <a:lstStyle/>
                    <a:p>
                      <a:pPr algn="ctr"/>
                      <a:r>
                        <a:rPr sz="950" b="0">
                          <a:solidFill>
                            <a:srgbClr val="F2F6FF"/>
                          </a:solidFill>
                          <a:latin typeface="Calibri"/>
                        </a:rPr>
                        <a:t>8</a:t>
                      </a:r>
                    </a:p>
                  </a:txBody>
                  <a:tcPr marL="73152" marR="73152" marT="27432" marB="27432" anchor="ctr">
                    <a:solidFill>
                      <a:srgbClr val="17243E"/>
                    </a:solidFill>
                  </a:tcPr>
                </a:tc>
                <a:tc>
                  <a:txBody>
                    <a:bodyPr wrap="square"/>
                    <a:lstStyle/>
                    <a:p>
                      <a:pPr algn="ctr"/>
                      <a:r>
                        <a:rPr sz="950" b="0">
                          <a:solidFill>
                            <a:srgbClr val="F2F6FF"/>
                          </a:solidFill>
                          <a:latin typeface="Calibri"/>
                        </a:rPr>
                        <a:t>8</a:t>
                      </a:r>
                    </a:p>
                  </a:txBody>
                  <a:tcPr marL="73152" marR="73152" marT="27432" marB="27432" anchor="ctr">
                    <a:solidFill>
                      <a:srgbClr val="17243E"/>
                    </a:solidFill>
                  </a:tcPr>
                </a:tc>
                <a:tc>
                  <a:txBody>
                    <a:bodyPr wrap="square"/>
                    <a:lstStyle/>
                    <a:p>
                      <a:pPr algn="l"/>
                      <a:r>
                        <a:rPr sz="950" b="0">
                          <a:solidFill>
                            <a:srgbClr val="F2F6FF"/>
                          </a:solidFill>
                          <a:latin typeface="Calibri"/>
                        </a:rPr>
                        <a:t>stays on port 1</a:t>
                      </a:r>
                    </a:p>
                  </a:txBody>
                  <a:tcPr marL="73152" marR="73152" marT="27432" marB="27432" anchor="ctr">
                    <a:solidFill>
                      <a:srgbClr val="17243E"/>
                    </a:solidFill>
                  </a:tcPr>
                </a:tc>
              </a:tr>
              <a:tr h="297180">
                <a:tc>
                  <a:txBody>
                    <a:bodyPr wrap="square"/>
                    <a:lstStyle/>
                    <a:p>
                      <a:pPr algn="l"/>
                      <a:r>
                        <a:rPr sz="950" b="0">
                          <a:solidFill>
                            <a:srgbClr val="F2F6FF"/>
                          </a:solidFill>
                          <a:latin typeface="Calibri"/>
                        </a:rPr>
                        <a:t>Digit selects</a:t>
                      </a:r>
                    </a:p>
                  </a:txBody>
                  <a:tcPr marL="73152" marR="73152" marT="27432" marB="27432" anchor="ctr">
                    <a:solidFill>
                      <a:srgbClr val="1E2E4E"/>
                    </a:solidFill>
                  </a:tcPr>
                </a:tc>
                <a:tc>
                  <a:txBody>
                    <a:bodyPr wrap="square"/>
                    <a:lstStyle/>
                    <a:p>
                      <a:pPr algn="ctr"/>
                      <a:r>
                        <a:rPr sz="950" b="0">
                          <a:solidFill>
                            <a:srgbClr val="F2F6FF"/>
                          </a:solidFill>
                          <a:latin typeface="Calibri"/>
                        </a:rPr>
                        <a:t>2</a:t>
                      </a:r>
                    </a:p>
                  </a:txBody>
                  <a:tcPr marL="73152" marR="73152" marT="27432" marB="27432" anchor="ctr">
                    <a:solidFill>
                      <a:srgbClr val="1E2E4E"/>
                    </a:solidFill>
                  </a:tcPr>
                </a:tc>
                <a:tc>
                  <a:txBody>
                    <a:bodyPr wrap="square"/>
                    <a:lstStyle/>
                    <a:p>
                      <a:pPr algn="ctr"/>
                      <a:r>
                        <a:rPr sz="950" b="0">
                          <a:solidFill>
                            <a:srgbClr val="F2F6FF"/>
                          </a:solidFill>
                          <a:latin typeface="Calibri"/>
                        </a:rPr>
                        <a:t>2</a:t>
                      </a:r>
                    </a:p>
                  </a:txBody>
                  <a:tcPr marL="73152" marR="73152" marT="27432" marB="27432" anchor="ctr">
                    <a:solidFill>
                      <a:srgbClr val="1E2E4E"/>
                    </a:solidFill>
                  </a:tcPr>
                </a:tc>
                <a:tc>
                  <a:txBody>
                    <a:bodyPr wrap="square"/>
                    <a:lstStyle/>
                    <a:p>
                      <a:pPr algn="l"/>
                      <a:r>
                        <a:rPr sz="950" b="0">
                          <a:solidFill>
                            <a:srgbClr val="F2F6FF"/>
                          </a:solidFill>
                          <a:latin typeface="Calibri"/>
                        </a:rPr>
                        <a:t>stays on P3.6 and P3.7</a:t>
                      </a:r>
                    </a:p>
                  </a:txBody>
                  <a:tcPr marL="73152" marR="73152" marT="27432" marB="27432" anchor="ctr">
                    <a:solidFill>
                      <a:srgbClr val="1E2E4E"/>
                    </a:solidFill>
                  </a:tcPr>
                </a:tc>
              </a:tr>
              <a:tr h="297180">
                <a:tc>
                  <a:txBody>
                    <a:bodyPr wrap="square"/>
                    <a:lstStyle/>
                    <a:p>
                      <a:pPr algn="l"/>
                      <a:r>
                        <a:rPr sz="950" b="0">
                          <a:solidFill>
                            <a:srgbClr val="F2F6FF"/>
                          </a:solidFill>
                          <a:latin typeface="Calibri"/>
                        </a:rPr>
                        <a:t>UART</a:t>
                      </a:r>
                    </a:p>
                  </a:txBody>
                  <a:tcPr marL="73152" marR="73152" marT="27432" marB="27432" anchor="ctr">
                    <a:solidFill>
                      <a:srgbClr val="17243E"/>
                    </a:solidFill>
                  </a:tcPr>
                </a:tc>
                <a:tc>
                  <a:txBody>
                    <a:bodyPr wrap="square"/>
                    <a:lstStyle/>
                    <a:p>
                      <a:pPr algn="ctr"/>
                      <a:r>
                        <a:rPr sz="950" b="0">
                          <a:solidFill>
                            <a:srgbClr val="F2F6FF"/>
                          </a:solidFill>
                          <a:latin typeface="Calibri"/>
                        </a:rPr>
                        <a:t>2</a:t>
                      </a:r>
                    </a:p>
                  </a:txBody>
                  <a:tcPr marL="73152" marR="73152" marT="27432" marB="27432" anchor="ctr">
                    <a:solidFill>
                      <a:srgbClr val="17243E"/>
                    </a:solidFill>
                  </a:tcPr>
                </a:tc>
                <a:tc>
                  <a:txBody>
                    <a:bodyPr wrap="square"/>
                    <a:lstStyle/>
                    <a:p>
                      <a:pPr algn="ctr"/>
                      <a:r>
                        <a:rPr sz="950" b="0">
                          <a:solidFill>
                            <a:srgbClr val="F2F6FF"/>
                          </a:solidFill>
                          <a:latin typeface="Calibri"/>
                        </a:rPr>
                        <a:t>2</a:t>
                      </a:r>
                    </a:p>
                  </a:txBody>
                  <a:tcPr marL="73152" marR="73152" marT="27432" marB="27432" anchor="ctr">
                    <a:solidFill>
                      <a:srgbClr val="17243E"/>
                    </a:solidFill>
                  </a:tcPr>
                </a:tc>
                <a:tc>
                  <a:txBody>
                    <a:bodyPr wrap="square"/>
                    <a:lstStyle/>
                    <a:p>
                      <a:pPr algn="l"/>
                      <a:r>
                        <a:rPr sz="950" b="0">
                          <a:solidFill>
                            <a:srgbClr val="F2F6FF"/>
                          </a:solidFill>
                          <a:latin typeface="Calibri"/>
                        </a:rPr>
                        <a:t>stays on P3.0 and P3.1</a:t>
                      </a:r>
                    </a:p>
                  </a:txBody>
                  <a:tcPr marL="73152" marR="73152" marT="27432" marB="27432" anchor="ctr">
                    <a:solidFill>
                      <a:srgbClr val="17243E"/>
                    </a:solidFill>
                  </a:tcPr>
                </a:tc>
              </a:tr>
              <a:tr h="297180">
                <a:tc>
                  <a:txBody>
                    <a:bodyPr wrap="square"/>
                    <a:lstStyle/>
                    <a:p>
                      <a:pPr algn="l"/>
                      <a:r>
                        <a:rPr sz="950" b="0">
                          <a:solidFill>
                            <a:srgbClr val="F2F6FF"/>
                          </a:solidFill>
                          <a:latin typeface="Calibri"/>
                        </a:rPr>
                        <a:t>Interrupt buttons</a:t>
                      </a:r>
                    </a:p>
                  </a:txBody>
                  <a:tcPr marL="73152" marR="73152" marT="27432" marB="27432" anchor="ctr">
                    <a:solidFill>
                      <a:srgbClr val="1E2E4E"/>
                    </a:solidFill>
                  </a:tcPr>
                </a:tc>
                <a:tc>
                  <a:txBody>
                    <a:bodyPr wrap="square"/>
                    <a:lstStyle/>
                    <a:p>
                      <a:pPr algn="ctr"/>
                      <a:r>
                        <a:rPr sz="950" b="0">
                          <a:solidFill>
                            <a:srgbClr val="F2F6FF"/>
                          </a:solidFill>
                          <a:latin typeface="Calibri"/>
                        </a:rPr>
                        <a:t>2</a:t>
                      </a:r>
                    </a:p>
                  </a:txBody>
                  <a:tcPr marL="73152" marR="73152" marT="27432" marB="27432" anchor="ctr">
                    <a:solidFill>
                      <a:srgbClr val="1E2E4E"/>
                    </a:solidFill>
                  </a:tcPr>
                </a:tc>
                <a:tc>
                  <a:txBody>
                    <a:bodyPr wrap="square"/>
                    <a:lstStyle/>
                    <a:p>
                      <a:pPr algn="ctr"/>
                      <a:r>
                        <a:rPr sz="950" b="0">
                          <a:solidFill>
                            <a:srgbClr val="F2F6FF"/>
                          </a:solidFill>
                          <a:latin typeface="Calibri"/>
                        </a:rPr>
                        <a:t>2</a:t>
                      </a:r>
                    </a:p>
                  </a:txBody>
                  <a:tcPr marL="73152" marR="73152" marT="27432" marB="27432" anchor="ctr">
                    <a:solidFill>
                      <a:srgbClr val="1E2E4E"/>
                    </a:solidFill>
                  </a:tcPr>
                </a:tc>
                <a:tc>
                  <a:txBody>
                    <a:bodyPr wrap="square"/>
                    <a:lstStyle/>
                    <a:p>
                      <a:pPr algn="l"/>
                      <a:r>
                        <a:rPr sz="950" b="0">
                          <a:solidFill>
                            <a:srgbClr val="F2F6FF"/>
                          </a:solidFill>
                          <a:latin typeface="Calibri"/>
                        </a:rPr>
                        <a:t>stays on P3.2 and P3.3</a:t>
                      </a:r>
                    </a:p>
                  </a:txBody>
                  <a:tcPr marL="73152" marR="73152" marT="27432" marB="27432" anchor="ctr">
                    <a:solidFill>
                      <a:srgbClr val="1E2E4E"/>
                    </a:solidFill>
                  </a:tcPr>
                </a:tc>
              </a:tr>
              <a:tr h="297180">
                <a:tc>
                  <a:txBody>
                    <a:bodyPr wrap="square"/>
                    <a:lstStyle/>
                    <a:p>
                      <a:pPr algn="l"/>
                      <a:r>
                        <a:rPr sz="950" b="0">
                          <a:solidFill>
                            <a:srgbClr val="F2F6FF"/>
                          </a:solidFill>
                          <a:latin typeface="Calibri"/>
                        </a:rPr>
                        <a:t>Relay and buzzer</a:t>
                      </a:r>
                    </a:p>
                  </a:txBody>
                  <a:tcPr marL="73152" marR="73152" marT="27432" marB="27432" anchor="ctr">
                    <a:solidFill>
                      <a:srgbClr val="17243E"/>
                    </a:solidFill>
                  </a:tcPr>
                </a:tc>
                <a:tc>
                  <a:txBody>
                    <a:bodyPr wrap="square"/>
                    <a:lstStyle/>
                    <a:p>
                      <a:pPr algn="ctr"/>
                      <a:r>
                        <a:rPr sz="950" b="0">
                          <a:solidFill>
                            <a:srgbClr val="F2F6FF"/>
                          </a:solidFill>
                          <a:latin typeface="Calibri"/>
                        </a:rPr>
                        <a:t>2</a:t>
                      </a:r>
                    </a:p>
                  </a:txBody>
                  <a:tcPr marL="73152" marR="73152" marT="27432" marB="27432" anchor="ctr">
                    <a:solidFill>
                      <a:srgbClr val="17243E"/>
                    </a:solidFill>
                  </a:tcPr>
                </a:tc>
                <a:tc>
                  <a:txBody>
                    <a:bodyPr wrap="square"/>
                    <a:lstStyle/>
                    <a:p>
                      <a:pPr algn="ctr"/>
                      <a:r>
                        <a:rPr sz="950" b="0">
                          <a:solidFill>
                            <a:srgbClr val="F2F6FF"/>
                          </a:solidFill>
                          <a:latin typeface="Calibri"/>
                        </a:rPr>
                        <a:t>2</a:t>
                      </a:r>
                    </a:p>
                  </a:txBody>
                  <a:tcPr marL="73152" marR="73152" marT="27432" marB="27432" anchor="ctr">
                    <a:solidFill>
                      <a:srgbClr val="17243E"/>
                    </a:solidFill>
                  </a:tcPr>
                </a:tc>
                <a:tc>
                  <a:txBody>
                    <a:bodyPr wrap="square"/>
                    <a:lstStyle/>
                    <a:p>
                      <a:pPr algn="l"/>
                      <a:r>
                        <a:rPr sz="950" b="0">
                          <a:solidFill>
                            <a:srgbClr val="F2F6FF"/>
                          </a:solidFill>
                          <a:latin typeface="Calibri"/>
                        </a:rPr>
                        <a:t>stays on P3.4 and P3.5</a:t>
                      </a:r>
                    </a:p>
                  </a:txBody>
                  <a:tcPr marL="73152" marR="73152" marT="27432" marB="27432" anchor="ctr">
                    <a:solidFill>
                      <a:srgbClr val="17243E"/>
                    </a:solidFill>
                  </a:tcPr>
                </a:tc>
              </a:tr>
              <a:tr h="297180">
                <a:tc>
                  <a:txBody>
                    <a:bodyPr wrap="square"/>
                    <a:lstStyle/>
                    <a:p>
                      <a:pPr algn="l"/>
                      <a:r>
                        <a:rPr sz="950" b="0">
                          <a:solidFill>
                            <a:srgbClr val="F2F6FF"/>
                          </a:solidFill>
                          <a:latin typeface="Calibri"/>
                        </a:rPr>
                        <a:t>Control strobes</a:t>
                      </a:r>
                    </a:p>
                  </a:txBody>
                  <a:tcPr marL="73152" marR="73152" marT="27432" marB="27432" anchor="ctr">
                    <a:solidFill>
                      <a:srgbClr val="1E2E4E"/>
                    </a:solidFill>
                  </a:tcPr>
                </a:tc>
                <a:tc>
                  <a:txBody>
                    <a:bodyPr wrap="square"/>
                    <a:lstStyle/>
                    <a:p>
                      <a:pPr algn="ctr"/>
                      <a:r>
                        <a:rPr sz="950" b="0">
                          <a:solidFill>
                            <a:srgbClr val="F2F6FF"/>
                          </a:solidFill>
                          <a:latin typeface="Calibri"/>
                        </a:rPr>
                        <a:t>0</a:t>
                      </a:r>
                    </a:p>
                  </a:txBody>
                  <a:tcPr marL="73152" marR="73152" marT="27432" marB="27432" anchor="ctr">
                    <a:solidFill>
                      <a:srgbClr val="1E2E4E"/>
                    </a:solidFill>
                  </a:tcPr>
                </a:tc>
                <a:tc>
                  <a:txBody>
                    <a:bodyPr wrap="square"/>
                    <a:lstStyle/>
                    <a:p>
                      <a:pPr algn="ctr"/>
                      <a:r>
                        <a:rPr sz="950" b="0">
                          <a:solidFill>
                            <a:srgbClr val="F2F6FF"/>
                          </a:solidFill>
                          <a:latin typeface="Calibri"/>
                        </a:rPr>
                        <a:t>8</a:t>
                      </a:r>
                    </a:p>
                  </a:txBody>
                  <a:tcPr marL="73152" marR="73152" marT="27432" marB="27432" anchor="ctr">
                    <a:solidFill>
                      <a:srgbClr val="1E2E4E"/>
                    </a:solidFill>
                  </a:tcPr>
                </a:tc>
                <a:tc>
                  <a:txBody>
                    <a:bodyPr wrap="square"/>
                    <a:lstStyle/>
                    <a:p>
                      <a:pPr algn="l"/>
                      <a:r>
                        <a:rPr sz="950" b="0">
                          <a:solidFill>
                            <a:srgbClr val="F2F6FF"/>
                          </a:solidFill>
                          <a:latin typeface="Calibri"/>
                        </a:rPr>
                        <a:t>new: enables on port 2, replace the per-device data pins</a:t>
                      </a:r>
                    </a:p>
                  </a:txBody>
                  <a:tcPr marL="73152" marR="73152" marT="27432" marB="27432" anchor="ctr">
                    <a:solidFill>
                      <a:srgbClr val="1E2E4E"/>
                    </a:solidFill>
                  </a:tcPr>
                </a:tc>
              </a:tr>
              <a:tr h="297180">
                <a:tc>
                  <a:txBody>
                    <a:bodyPr wrap="square"/>
                    <a:lstStyle/>
                    <a:p>
                      <a:pPr algn="l"/>
                      <a:r>
                        <a:rPr sz="950" b="0">
                          <a:solidFill>
                            <a:srgbClr val="F2F6FF"/>
                          </a:solidFill>
                          <a:latin typeface="Calibri"/>
                        </a:rPr>
                        <a:t>TOTAL</a:t>
                      </a:r>
                    </a:p>
                  </a:txBody>
                  <a:tcPr marL="73152" marR="73152" marT="27432" marB="27432" anchor="ctr">
                    <a:solidFill>
                      <a:srgbClr val="243A62"/>
                    </a:solidFill>
                  </a:tcPr>
                </a:tc>
                <a:tc>
                  <a:txBody>
                    <a:bodyPr wrap="square"/>
                    <a:lstStyle/>
                    <a:p>
                      <a:pPr algn="ctr"/>
                      <a:r>
                        <a:rPr sz="950" b="0">
                          <a:solidFill>
                            <a:srgbClr val="F2F6FF"/>
                          </a:solidFill>
                          <a:latin typeface="Calibri"/>
                        </a:rPr>
                        <a:t>54</a:t>
                      </a:r>
                    </a:p>
                  </a:txBody>
                  <a:tcPr marL="73152" marR="73152" marT="27432" marB="27432" anchor="ctr">
                    <a:solidFill>
                      <a:srgbClr val="243A62"/>
                    </a:solidFill>
                  </a:tcPr>
                </a:tc>
                <a:tc>
                  <a:txBody>
                    <a:bodyPr wrap="square"/>
                    <a:lstStyle/>
                    <a:p>
                      <a:pPr algn="ctr"/>
                      <a:r>
                        <a:rPr sz="950" b="0">
                          <a:solidFill>
                            <a:srgbClr val="F2F6FF"/>
                          </a:solidFill>
                          <a:latin typeface="Calibri"/>
                        </a:rPr>
                        <a:t>32</a:t>
                      </a:r>
                    </a:p>
                  </a:txBody>
                  <a:tcPr marL="73152" marR="73152" marT="27432" marB="27432" anchor="ctr">
                    <a:solidFill>
                      <a:srgbClr val="243A62"/>
                    </a:solidFill>
                  </a:tcPr>
                </a:tc>
                <a:tc>
                  <a:txBody>
                    <a:bodyPr wrap="square"/>
                    <a:lstStyle/>
                    <a:p>
                      <a:pPr algn="l"/>
                      <a:r>
                        <a:rPr sz="950" b="0">
                          <a:solidFill>
                            <a:srgbClr val="F2F6FF"/>
                          </a:solidFill>
                          <a:latin typeface="Calibri"/>
                        </a:rPr>
                        <a:t>exactly the 32 pins the 8051 provides</a:t>
                      </a:r>
                    </a:p>
                  </a:txBody>
                  <a:tcPr marL="73152" marR="73152" marT="27432" marB="27432" anchor="ctr">
                    <a:solidFill>
                      <a:srgbClr val="17243E"/>
                    </a:solidFill>
                  </a:tcPr>
                </a:tc>
              </a:tr>
            </a:tbl>
          </a:graphicData>
        </a:graphic>
      </p:graphicFrame>
      <p:sp>
        <p:nvSpPr>
          <p:cNvPr id="11" name="Rounded Rectangle 10"/>
          <p:cNvSpPr/>
          <p:nvPr/>
        </p:nvSpPr>
        <p:spPr>
          <a:xfrm>
            <a:off x="7744967" y="1627632"/>
            <a:ext cx="3877056" cy="356616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44967" y="1627632"/>
            <a:ext cx="50292" cy="356616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2711" y="1792224"/>
            <a:ext cx="3465576"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Why this works</a:t>
            </a:r>
          </a:p>
        </p:txBody>
      </p:sp>
      <p:sp>
        <p:nvSpPr>
          <p:cNvPr id="14" name="TextBox 13"/>
          <p:cNvSpPr txBox="1"/>
          <p:nvPr/>
        </p:nvSpPr>
        <p:spPr>
          <a:xfrm>
            <a:off x="7982711" y="2176272"/>
            <a:ext cx="3465576" cy="2880360"/>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The LCD, the ADC and the two latches only hold data. None of them needs to be driven continuously.</a:t>
            </a:r>
            <a:br/>
            <a:br/>
            <a:r>
              <a:rPr sz="1050" b="0" i="0">
                <a:solidFill>
                  <a:srgbClr val="A9B8D6"/>
                </a:solidFill>
                <a:latin typeface="Calibri"/>
              </a:rPr>
              <a:t>Each one keeps its own enable line on port 2. A transfer writes a byte to port 0 and pulses exactly one enable, so only the addressed device captures the byte.</a:t>
            </a:r>
            <a:br/>
            <a:br/>
            <a:r>
              <a:rPr sz="1050" b="0" i="0">
                <a:solidFill>
                  <a:srgbClr val="A9B8D6"/>
                </a:solidFill>
                <a:latin typeface="Calibri"/>
              </a:rPr>
              <a:t>The bus is driven by software rather than by MOVX, which keeps port 2 free for those eight strobes and keeps the code readable.</a:t>
            </a:r>
          </a:p>
        </p:txBody>
      </p:sp>
      <p:sp>
        <p:nvSpPr>
          <p:cNvPr id="15" name="Rounded Rectangle 14"/>
          <p:cNvSpPr/>
          <p:nvPr/>
        </p:nvSpPr>
        <p:spPr>
          <a:xfrm>
            <a:off x="566928" y="5376672"/>
            <a:ext cx="11058113" cy="88696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504688"/>
            <a:ext cx="10546049" cy="713232"/>
          </a:xfrm>
          <a:prstGeom prst="rect">
            <a:avLst/>
          </a:prstGeom>
          <a:noFill/>
        </p:spPr>
        <p:txBody>
          <a:bodyPr wrap="square" lIns="0" rIns="0" tIns="0" bIns="0" anchor="t">
            <a:spAutoFit/>
          </a:bodyPr>
          <a:lstStyle/>
          <a:p>
            <a:pPr algn="l">
              <a:lnSpc>
                <a:spcPct val="115000"/>
              </a:lnSpc>
              <a:spcAft>
                <a:spcPts val="0"/>
              </a:spcAft>
            </a:pPr>
            <a:r>
              <a:rPr sz="1200" b="1" i="0">
                <a:solidFill>
                  <a:srgbClr val="F2F6FF"/>
                </a:solidFill>
                <a:latin typeface="Calibri"/>
              </a:rPr>
              <a:t>Bus rule used everywhere in the firmware:  </a:t>
            </a:r>
          </a:p>
          <a:p>
            <a:pPr algn="l">
              <a:lnSpc>
                <a:spcPct val="115000"/>
              </a:lnSpc>
              <a:spcAft>
                <a:spcPts val="0"/>
              </a:spcAft>
            </a:pPr>
            <a:r>
              <a:rPr sz="1200" b="0" i="0">
                <a:solidFill>
                  <a:srgbClr val="A9B8D6"/>
                </a:solidFill>
                <a:latin typeface="Calibri"/>
              </a:rPr>
              <a:t>place the byte on P0, pulse the enable, restore the shadow byte. Interrupts are disabled during LCD and ADC transfers so the 5 ms display refresh cannot corrupt a bus cycle.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PIN ALLOCATION</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All 32 pins accounted for</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AT89S52, 40 pin plastic DIP, 11.0592 MHz</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7</a:t>
            </a:r>
          </a:p>
        </p:txBody>
      </p:sp>
      <p:graphicFrame>
        <p:nvGraphicFramePr>
          <p:cNvPr id="11" name="Table 10"/>
          <p:cNvGraphicFramePr>
            <a:graphicFrameLocks noGrp="1"/>
          </p:cNvGraphicFramePr>
          <p:nvPr/>
        </p:nvGraphicFramePr>
        <p:xfrm>
          <a:off x="566928" y="1627632"/>
          <a:ext cx="5440680" cy="3246120"/>
        </p:xfrm>
        <a:graphic>
          <a:graphicData uri="http://schemas.openxmlformats.org/drawingml/2006/table">
            <a:tbl>
              <a:tblPr firstRow="1">
                <a:tableStyleId>{5C22544A-7EE6-4342-B048-85BDC9FD1C3A}</a:tableStyleId>
              </a:tblPr>
              <a:tblGrid>
                <a:gridCol w="777240"/>
                <a:gridCol w="1417320"/>
                <a:gridCol w="3246120"/>
              </a:tblGrid>
              <a:tr h="270510">
                <a:tc>
                  <a:txBody>
                    <a:bodyPr wrap="square"/>
                    <a:lstStyle/>
                    <a:p>
                      <a:pPr algn="ctr"/>
                      <a:r>
                        <a:rPr sz="950" b="1">
                          <a:solidFill>
                            <a:srgbClr val="CFE0FF"/>
                          </a:solidFill>
                          <a:latin typeface="Calibri"/>
                        </a:rPr>
                        <a:t>Pin</a:t>
                      </a:r>
                    </a:p>
                  </a:txBody>
                  <a:tcPr marL="73152" marR="73152" marT="27432" marB="27432" anchor="ctr">
                    <a:solidFill>
                      <a:srgbClr val="2A3C63"/>
                    </a:solidFill>
                  </a:tcPr>
                </a:tc>
                <a:tc>
                  <a:txBody>
                    <a:bodyPr wrap="square"/>
                    <a:lstStyle/>
                    <a:p>
                      <a:pPr algn="l"/>
                      <a:r>
                        <a:rPr sz="950" b="1">
                          <a:solidFill>
                            <a:srgbClr val="CFE0FF"/>
                          </a:solidFill>
                          <a:latin typeface="Calibri"/>
                        </a:rPr>
                        <a:t>Signal</a:t>
                      </a:r>
                    </a:p>
                  </a:txBody>
                  <a:tcPr marL="73152" marR="73152" marT="27432" marB="27432" anchor="ctr">
                    <a:solidFill>
                      <a:srgbClr val="2A3C63"/>
                    </a:solidFill>
                  </a:tcPr>
                </a:tc>
                <a:tc>
                  <a:txBody>
                    <a:bodyPr wrap="square"/>
                    <a:lstStyle/>
                    <a:p>
                      <a:pPr algn="l"/>
                      <a:r>
                        <a:rPr sz="950" b="1">
                          <a:solidFill>
                            <a:srgbClr val="CFE0FF"/>
                          </a:solidFill>
                          <a:latin typeface="Calibri"/>
                        </a:rPr>
                        <a:t>Board net</a:t>
                      </a:r>
                    </a:p>
                  </a:txBody>
                  <a:tcPr marL="73152" marR="73152" marT="27432" marB="27432" anchor="ctr">
                    <a:solidFill>
                      <a:srgbClr val="2A3C63"/>
                    </a:solidFill>
                  </a:tcPr>
                </a:tc>
              </a:tr>
              <a:tr h="270510">
                <a:tc>
                  <a:txBody>
                    <a:bodyPr wrap="square"/>
                    <a:lstStyle/>
                    <a:p>
                      <a:pPr algn="ctr"/>
                      <a:r>
                        <a:rPr sz="950" b="0">
                          <a:solidFill>
                            <a:srgbClr val="F2F6FF"/>
                          </a:solidFill>
                          <a:latin typeface="Calibri"/>
                        </a:rPr>
                        <a:t>39-32</a:t>
                      </a:r>
                    </a:p>
                  </a:txBody>
                  <a:tcPr marL="73152" marR="73152" marT="27432" marB="27432" anchor="ctr">
                    <a:solidFill>
                      <a:srgbClr val="17243E"/>
                    </a:solidFill>
                  </a:tcPr>
                </a:tc>
                <a:tc>
                  <a:txBody>
                    <a:bodyPr wrap="square"/>
                    <a:lstStyle/>
                    <a:p>
                      <a:pPr algn="l"/>
                      <a:r>
                        <a:rPr sz="950" b="0">
                          <a:solidFill>
                            <a:srgbClr val="F2F6FF"/>
                          </a:solidFill>
                          <a:latin typeface="Calibri"/>
                        </a:rPr>
                        <a:t>P0.0-P0.7</a:t>
                      </a:r>
                    </a:p>
                  </a:txBody>
                  <a:tcPr marL="73152" marR="73152" marT="27432" marB="27432" anchor="ctr">
                    <a:solidFill>
                      <a:srgbClr val="17243E"/>
                    </a:solidFill>
                  </a:tcPr>
                </a:tc>
                <a:tc>
                  <a:txBody>
                    <a:bodyPr wrap="square"/>
                    <a:lstStyle/>
                    <a:p>
                      <a:pPr algn="l"/>
                      <a:r>
                        <a:rPr sz="950" b="0">
                          <a:solidFill>
                            <a:srgbClr val="F2F6FF"/>
                          </a:solidFill>
                          <a:latin typeface="Calibri"/>
                        </a:rPr>
                        <a:t>BD0-BD7 shared data bus</a:t>
                      </a:r>
                    </a:p>
                  </a:txBody>
                  <a:tcPr marL="73152" marR="73152" marT="27432" marB="27432" anchor="ctr">
                    <a:solidFill>
                      <a:srgbClr val="17243E"/>
                    </a:solidFill>
                  </a:tcPr>
                </a:tc>
              </a:tr>
              <a:tr h="270510">
                <a:tc>
                  <a:txBody>
                    <a:bodyPr wrap="square"/>
                    <a:lstStyle/>
                    <a:p>
                      <a:pPr algn="ctr"/>
                      <a:r>
                        <a:rPr sz="950" b="0">
                          <a:solidFill>
                            <a:srgbClr val="F2F6FF"/>
                          </a:solidFill>
                          <a:latin typeface="Calibri"/>
                        </a:rPr>
                        <a:t>1-5</a:t>
                      </a:r>
                    </a:p>
                  </a:txBody>
                  <a:tcPr marL="73152" marR="73152" marT="27432" marB="27432" anchor="ctr">
                    <a:solidFill>
                      <a:srgbClr val="1E2E4E"/>
                    </a:solidFill>
                  </a:tcPr>
                </a:tc>
                <a:tc>
                  <a:txBody>
                    <a:bodyPr wrap="square"/>
                    <a:lstStyle/>
                    <a:p>
                      <a:pPr algn="l"/>
                      <a:r>
                        <a:rPr sz="950" b="0">
                          <a:solidFill>
                            <a:srgbClr val="F2F6FF"/>
                          </a:solidFill>
                          <a:latin typeface="Calibri"/>
                        </a:rPr>
                        <a:t>P1.0-P1.4</a:t>
                      </a:r>
                    </a:p>
                  </a:txBody>
                  <a:tcPr marL="73152" marR="73152" marT="27432" marB="27432" anchor="ctr">
                    <a:solidFill>
                      <a:srgbClr val="1E2E4E"/>
                    </a:solidFill>
                  </a:tcPr>
                </a:tc>
                <a:tc>
                  <a:txBody>
                    <a:bodyPr wrap="square"/>
                    <a:lstStyle/>
                    <a:p>
                      <a:pPr algn="l"/>
                      <a:r>
                        <a:rPr sz="950" b="0">
                          <a:solidFill>
                            <a:srgbClr val="F2F6FF"/>
                          </a:solidFill>
                          <a:latin typeface="Calibri"/>
                        </a:rPr>
                        <a:t>SW1-SW5</a:t>
                      </a:r>
                    </a:p>
                  </a:txBody>
                  <a:tcPr marL="73152" marR="73152" marT="27432" marB="27432" anchor="ctr">
                    <a:solidFill>
                      <a:srgbClr val="1E2E4E"/>
                    </a:solidFill>
                  </a:tcPr>
                </a:tc>
              </a:tr>
              <a:tr h="270510">
                <a:tc>
                  <a:txBody>
                    <a:bodyPr wrap="square"/>
                    <a:lstStyle/>
                    <a:p>
                      <a:pPr algn="ctr"/>
                      <a:r>
                        <a:rPr sz="950" b="0">
                          <a:solidFill>
                            <a:srgbClr val="F2F6FF"/>
                          </a:solidFill>
                          <a:latin typeface="Calibri"/>
                        </a:rPr>
                        <a:t>6-8</a:t>
                      </a:r>
                    </a:p>
                  </a:txBody>
                  <a:tcPr marL="73152" marR="73152" marT="27432" marB="27432" anchor="ctr">
                    <a:solidFill>
                      <a:srgbClr val="17243E"/>
                    </a:solidFill>
                  </a:tcPr>
                </a:tc>
                <a:tc>
                  <a:txBody>
                    <a:bodyPr wrap="square"/>
                    <a:lstStyle/>
                    <a:p>
                      <a:pPr algn="l"/>
                      <a:r>
                        <a:rPr sz="950" b="0">
                          <a:solidFill>
                            <a:srgbClr val="F2F6FF"/>
                          </a:solidFill>
                          <a:latin typeface="Calibri"/>
                        </a:rPr>
                        <a:t>P1.5-P1.7</a:t>
                      </a:r>
                    </a:p>
                  </a:txBody>
                  <a:tcPr marL="73152" marR="73152" marT="27432" marB="27432" anchor="ctr">
                    <a:solidFill>
                      <a:srgbClr val="17243E"/>
                    </a:solidFill>
                  </a:tcPr>
                </a:tc>
                <a:tc>
                  <a:txBody>
                    <a:bodyPr wrap="square"/>
                    <a:lstStyle/>
                    <a:p>
                      <a:pPr algn="l"/>
                      <a:r>
                        <a:rPr sz="950" b="0">
                          <a:solidFill>
                            <a:srgbClr val="F2F6FF"/>
                          </a:solidFill>
                          <a:latin typeface="Calibri"/>
                        </a:rPr>
                        <a:t>SW6-SW8 and MOSI, MISO, SCK</a:t>
                      </a:r>
                    </a:p>
                  </a:txBody>
                  <a:tcPr marL="73152" marR="73152" marT="27432" marB="27432" anchor="ctr">
                    <a:solidFill>
                      <a:srgbClr val="17243E"/>
                    </a:solidFill>
                  </a:tcPr>
                </a:tc>
              </a:tr>
              <a:tr h="270510">
                <a:tc>
                  <a:txBody>
                    <a:bodyPr wrap="square"/>
                    <a:lstStyle/>
                    <a:p>
                      <a:pPr algn="ctr"/>
                      <a:r>
                        <a:rPr sz="950" b="0">
                          <a:solidFill>
                            <a:srgbClr val="F2F6FF"/>
                          </a:solidFill>
                          <a:latin typeface="Calibri"/>
                        </a:rPr>
                        <a:t>21</a:t>
                      </a:r>
                    </a:p>
                  </a:txBody>
                  <a:tcPr marL="73152" marR="73152" marT="27432" marB="27432" anchor="ctr">
                    <a:solidFill>
                      <a:srgbClr val="1E2E4E"/>
                    </a:solidFill>
                  </a:tcPr>
                </a:tc>
                <a:tc>
                  <a:txBody>
                    <a:bodyPr wrap="square"/>
                    <a:lstStyle/>
                    <a:p>
                      <a:pPr algn="l"/>
                      <a:r>
                        <a:rPr sz="950" b="0">
                          <a:solidFill>
                            <a:srgbClr val="F2F6FF"/>
                          </a:solidFill>
                          <a:latin typeface="Calibri"/>
                        </a:rPr>
                        <a:t>P2.0</a:t>
                      </a:r>
                    </a:p>
                  </a:txBody>
                  <a:tcPr marL="73152" marR="73152" marT="27432" marB="27432" anchor="ctr">
                    <a:solidFill>
                      <a:srgbClr val="1E2E4E"/>
                    </a:solidFill>
                  </a:tcPr>
                </a:tc>
                <a:tc>
                  <a:txBody>
                    <a:bodyPr wrap="square"/>
                    <a:lstStyle/>
                    <a:p>
                      <a:pPr algn="l"/>
                      <a:r>
                        <a:rPr sz="950" b="0">
                          <a:solidFill>
                            <a:srgbClr val="F2F6FF"/>
                          </a:solidFill>
                          <a:latin typeface="Calibri"/>
                        </a:rPr>
                        <a:t>LED_LE</a:t>
                      </a:r>
                    </a:p>
                  </a:txBody>
                  <a:tcPr marL="73152" marR="73152" marT="27432" marB="27432" anchor="ctr">
                    <a:solidFill>
                      <a:srgbClr val="1E2E4E"/>
                    </a:solidFill>
                  </a:tcPr>
                </a:tc>
              </a:tr>
              <a:tr h="270510">
                <a:tc>
                  <a:txBody>
                    <a:bodyPr wrap="square"/>
                    <a:lstStyle/>
                    <a:p>
                      <a:pPr algn="ctr"/>
                      <a:r>
                        <a:rPr sz="950" b="0">
                          <a:solidFill>
                            <a:srgbClr val="F2F6FF"/>
                          </a:solidFill>
                          <a:latin typeface="Calibri"/>
                        </a:rPr>
                        <a:t>22</a:t>
                      </a:r>
                    </a:p>
                  </a:txBody>
                  <a:tcPr marL="73152" marR="73152" marT="27432" marB="27432" anchor="ctr">
                    <a:solidFill>
                      <a:srgbClr val="17243E"/>
                    </a:solidFill>
                  </a:tcPr>
                </a:tc>
                <a:tc>
                  <a:txBody>
                    <a:bodyPr wrap="square"/>
                    <a:lstStyle/>
                    <a:p>
                      <a:pPr algn="l"/>
                      <a:r>
                        <a:rPr sz="950" b="0">
                          <a:solidFill>
                            <a:srgbClr val="F2F6FF"/>
                          </a:solidFill>
                          <a:latin typeface="Calibri"/>
                        </a:rPr>
                        <a:t>P2.1</a:t>
                      </a:r>
                    </a:p>
                  </a:txBody>
                  <a:tcPr marL="73152" marR="73152" marT="27432" marB="27432" anchor="ctr">
                    <a:solidFill>
                      <a:srgbClr val="17243E"/>
                    </a:solidFill>
                  </a:tcPr>
                </a:tc>
                <a:tc>
                  <a:txBody>
                    <a:bodyPr wrap="square"/>
                    <a:lstStyle/>
                    <a:p>
                      <a:pPr algn="l"/>
                      <a:r>
                        <a:rPr sz="950" b="0">
                          <a:solidFill>
                            <a:srgbClr val="F2F6FF"/>
                          </a:solidFill>
                          <a:latin typeface="Calibri"/>
                        </a:rPr>
                        <a:t>SEG_LE</a:t>
                      </a:r>
                    </a:p>
                  </a:txBody>
                  <a:tcPr marL="73152" marR="73152" marT="27432" marB="27432" anchor="ctr">
                    <a:solidFill>
                      <a:srgbClr val="17243E"/>
                    </a:solidFill>
                  </a:tcPr>
                </a:tc>
              </a:tr>
              <a:tr h="270510">
                <a:tc>
                  <a:txBody>
                    <a:bodyPr wrap="square"/>
                    <a:lstStyle/>
                    <a:p>
                      <a:pPr algn="ctr"/>
                      <a:r>
                        <a:rPr sz="950" b="0">
                          <a:solidFill>
                            <a:srgbClr val="F2F6FF"/>
                          </a:solidFill>
                          <a:latin typeface="Calibri"/>
                        </a:rPr>
                        <a:t>23</a:t>
                      </a:r>
                    </a:p>
                  </a:txBody>
                  <a:tcPr marL="73152" marR="73152" marT="27432" marB="27432" anchor="ctr">
                    <a:solidFill>
                      <a:srgbClr val="1E2E4E"/>
                    </a:solidFill>
                  </a:tcPr>
                </a:tc>
                <a:tc>
                  <a:txBody>
                    <a:bodyPr wrap="square"/>
                    <a:lstStyle/>
                    <a:p>
                      <a:pPr algn="l"/>
                      <a:r>
                        <a:rPr sz="950" b="0">
                          <a:solidFill>
                            <a:srgbClr val="F2F6FF"/>
                          </a:solidFill>
                          <a:latin typeface="Calibri"/>
                        </a:rPr>
                        <a:t>P2.2</a:t>
                      </a:r>
                    </a:p>
                  </a:txBody>
                  <a:tcPr marL="73152" marR="73152" marT="27432" marB="27432" anchor="ctr">
                    <a:solidFill>
                      <a:srgbClr val="1E2E4E"/>
                    </a:solidFill>
                  </a:tcPr>
                </a:tc>
                <a:tc>
                  <a:txBody>
                    <a:bodyPr wrap="square"/>
                    <a:lstStyle/>
                    <a:p>
                      <a:pPr algn="l"/>
                      <a:r>
                        <a:rPr sz="950" b="0">
                          <a:solidFill>
                            <a:srgbClr val="F2F6FF"/>
                          </a:solidFill>
                          <a:latin typeface="Calibri"/>
                        </a:rPr>
                        <a:t>LCD_E</a:t>
                      </a:r>
                    </a:p>
                  </a:txBody>
                  <a:tcPr marL="73152" marR="73152" marT="27432" marB="27432" anchor="ctr">
                    <a:solidFill>
                      <a:srgbClr val="1E2E4E"/>
                    </a:solidFill>
                  </a:tcPr>
                </a:tc>
              </a:tr>
              <a:tr h="270510">
                <a:tc>
                  <a:txBody>
                    <a:bodyPr wrap="square"/>
                    <a:lstStyle/>
                    <a:p>
                      <a:pPr algn="ctr"/>
                      <a:r>
                        <a:rPr sz="950" b="0">
                          <a:solidFill>
                            <a:srgbClr val="F2F6FF"/>
                          </a:solidFill>
                          <a:latin typeface="Calibri"/>
                        </a:rPr>
                        <a:t>24</a:t>
                      </a:r>
                    </a:p>
                  </a:txBody>
                  <a:tcPr marL="73152" marR="73152" marT="27432" marB="27432" anchor="ctr">
                    <a:solidFill>
                      <a:srgbClr val="17243E"/>
                    </a:solidFill>
                  </a:tcPr>
                </a:tc>
                <a:tc>
                  <a:txBody>
                    <a:bodyPr wrap="square"/>
                    <a:lstStyle/>
                    <a:p>
                      <a:pPr algn="l"/>
                      <a:r>
                        <a:rPr sz="950" b="0">
                          <a:solidFill>
                            <a:srgbClr val="F2F6FF"/>
                          </a:solidFill>
                          <a:latin typeface="Calibri"/>
                        </a:rPr>
                        <a:t>P2.3</a:t>
                      </a:r>
                    </a:p>
                  </a:txBody>
                  <a:tcPr marL="73152" marR="73152" marT="27432" marB="27432" anchor="ctr">
                    <a:solidFill>
                      <a:srgbClr val="17243E"/>
                    </a:solidFill>
                  </a:tcPr>
                </a:tc>
                <a:tc>
                  <a:txBody>
                    <a:bodyPr wrap="square"/>
                    <a:lstStyle/>
                    <a:p>
                      <a:pPr algn="l"/>
                      <a:r>
                        <a:rPr sz="950" b="0">
                          <a:solidFill>
                            <a:srgbClr val="F2F6FF"/>
                          </a:solidFill>
                          <a:latin typeface="Calibri"/>
                        </a:rPr>
                        <a:t>LCD_RS</a:t>
                      </a:r>
                    </a:p>
                  </a:txBody>
                  <a:tcPr marL="73152" marR="73152" marT="27432" marB="27432" anchor="ctr">
                    <a:solidFill>
                      <a:srgbClr val="17243E"/>
                    </a:solidFill>
                  </a:tcPr>
                </a:tc>
              </a:tr>
              <a:tr h="270510">
                <a:tc>
                  <a:txBody>
                    <a:bodyPr wrap="square"/>
                    <a:lstStyle/>
                    <a:p>
                      <a:pPr algn="ctr"/>
                      <a:r>
                        <a:rPr sz="950" b="0">
                          <a:solidFill>
                            <a:srgbClr val="F2F6FF"/>
                          </a:solidFill>
                          <a:latin typeface="Calibri"/>
                        </a:rPr>
                        <a:t>25</a:t>
                      </a:r>
                    </a:p>
                  </a:txBody>
                  <a:tcPr marL="73152" marR="73152" marT="27432" marB="27432" anchor="ctr">
                    <a:solidFill>
                      <a:srgbClr val="1E2E4E"/>
                    </a:solidFill>
                  </a:tcPr>
                </a:tc>
                <a:tc>
                  <a:txBody>
                    <a:bodyPr wrap="square"/>
                    <a:lstStyle/>
                    <a:p>
                      <a:pPr algn="l"/>
                      <a:r>
                        <a:rPr sz="950" b="0">
                          <a:solidFill>
                            <a:srgbClr val="F2F6FF"/>
                          </a:solidFill>
                          <a:latin typeface="Calibri"/>
                        </a:rPr>
                        <a:t>P2.4</a:t>
                      </a:r>
                    </a:p>
                  </a:txBody>
                  <a:tcPr marL="73152" marR="73152" marT="27432" marB="27432" anchor="ctr">
                    <a:solidFill>
                      <a:srgbClr val="1E2E4E"/>
                    </a:solidFill>
                  </a:tcPr>
                </a:tc>
                <a:tc>
                  <a:txBody>
                    <a:bodyPr wrap="square"/>
                    <a:lstStyle/>
                    <a:p>
                      <a:pPr algn="l"/>
                      <a:r>
                        <a:rPr sz="950" b="0">
                          <a:solidFill>
                            <a:srgbClr val="F2F6FF"/>
                          </a:solidFill>
                          <a:latin typeface="Calibri"/>
                        </a:rPr>
                        <a:t>LCD_RW</a:t>
                      </a:r>
                    </a:p>
                  </a:txBody>
                  <a:tcPr marL="73152" marR="73152" marT="27432" marB="27432" anchor="ctr">
                    <a:solidFill>
                      <a:srgbClr val="1E2E4E"/>
                    </a:solidFill>
                  </a:tcPr>
                </a:tc>
              </a:tr>
              <a:tr h="270510">
                <a:tc>
                  <a:txBody>
                    <a:bodyPr wrap="square"/>
                    <a:lstStyle/>
                    <a:p>
                      <a:pPr algn="ctr"/>
                      <a:r>
                        <a:rPr sz="950" b="0">
                          <a:solidFill>
                            <a:srgbClr val="F2F6FF"/>
                          </a:solidFill>
                          <a:latin typeface="Calibri"/>
                        </a:rPr>
                        <a:t>26</a:t>
                      </a:r>
                    </a:p>
                  </a:txBody>
                  <a:tcPr marL="73152" marR="73152" marT="27432" marB="27432" anchor="ctr">
                    <a:solidFill>
                      <a:srgbClr val="17243E"/>
                    </a:solidFill>
                  </a:tcPr>
                </a:tc>
                <a:tc>
                  <a:txBody>
                    <a:bodyPr wrap="square"/>
                    <a:lstStyle/>
                    <a:p>
                      <a:pPr algn="l"/>
                      <a:r>
                        <a:rPr sz="950" b="0">
                          <a:solidFill>
                            <a:srgbClr val="F2F6FF"/>
                          </a:solidFill>
                          <a:latin typeface="Calibri"/>
                        </a:rPr>
                        <a:t>P2.5</a:t>
                      </a:r>
                    </a:p>
                  </a:txBody>
                  <a:tcPr marL="73152" marR="73152" marT="27432" marB="27432" anchor="ctr">
                    <a:solidFill>
                      <a:srgbClr val="17243E"/>
                    </a:solidFill>
                  </a:tcPr>
                </a:tc>
                <a:tc>
                  <a:txBody>
                    <a:bodyPr wrap="square"/>
                    <a:lstStyle/>
                    <a:p>
                      <a:pPr algn="l"/>
                      <a:r>
                        <a:rPr sz="950" b="0">
                          <a:solidFill>
                            <a:srgbClr val="F2F6FF"/>
                          </a:solidFill>
                          <a:latin typeface="Calibri"/>
                        </a:rPr>
                        <a:t>ADC_WR</a:t>
                      </a:r>
                    </a:p>
                  </a:txBody>
                  <a:tcPr marL="73152" marR="73152" marT="27432" marB="27432" anchor="ctr">
                    <a:solidFill>
                      <a:srgbClr val="17243E"/>
                    </a:solidFill>
                  </a:tcPr>
                </a:tc>
              </a:tr>
              <a:tr h="270510">
                <a:tc>
                  <a:txBody>
                    <a:bodyPr wrap="square"/>
                    <a:lstStyle/>
                    <a:p>
                      <a:pPr algn="ctr"/>
                      <a:r>
                        <a:rPr sz="950" b="0">
                          <a:solidFill>
                            <a:srgbClr val="F2F6FF"/>
                          </a:solidFill>
                          <a:latin typeface="Calibri"/>
                        </a:rPr>
                        <a:t>27</a:t>
                      </a:r>
                    </a:p>
                  </a:txBody>
                  <a:tcPr marL="73152" marR="73152" marT="27432" marB="27432" anchor="ctr">
                    <a:solidFill>
                      <a:srgbClr val="1E2E4E"/>
                    </a:solidFill>
                  </a:tcPr>
                </a:tc>
                <a:tc>
                  <a:txBody>
                    <a:bodyPr wrap="square"/>
                    <a:lstStyle/>
                    <a:p>
                      <a:pPr algn="l"/>
                      <a:r>
                        <a:rPr sz="950" b="0">
                          <a:solidFill>
                            <a:srgbClr val="F2F6FF"/>
                          </a:solidFill>
                          <a:latin typeface="Calibri"/>
                        </a:rPr>
                        <a:t>P2.6</a:t>
                      </a:r>
                    </a:p>
                  </a:txBody>
                  <a:tcPr marL="73152" marR="73152" marT="27432" marB="27432" anchor="ctr">
                    <a:solidFill>
                      <a:srgbClr val="1E2E4E"/>
                    </a:solidFill>
                  </a:tcPr>
                </a:tc>
                <a:tc>
                  <a:txBody>
                    <a:bodyPr wrap="square"/>
                    <a:lstStyle/>
                    <a:p>
                      <a:pPr algn="l"/>
                      <a:r>
                        <a:rPr sz="950" b="0">
                          <a:solidFill>
                            <a:srgbClr val="F2F6FF"/>
                          </a:solidFill>
                          <a:latin typeface="Calibri"/>
                        </a:rPr>
                        <a:t>ADC_RD</a:t>
                      </a:r>
                    </a:p>
                  </a:txBody>
                  <a:tcPr marL="73152" marR="73152" marT="27432" marB="27432" anchor="ctr">
                    <a:solidFill>
                      <a:srgbClr val="1E2E4E"/>
                    </a:solidFill>
                  </a:tcPr>
                </a:tc>
              </a:tr>
              <a:tr h="270510">
                <a:tc>
                  <a:txBody>
                    <a:bodyPr wrap="square"/>
                    <a:lstStyle/>
                    <a:p>
                      <a:pPr algn="ctr"/>
                      <a:r>
                        <a:rPr sz="950" b="0">
                          <a:solidFill>
                            <a:srgbClr val="F2F6FF"/>
                          </a:solidFill>
                          <a:latin typeface="Calibri"/>
                        </a:rPr>
                        <a:t>28</a:t>
                      </a:r>
                    </a:p>
                  </a:txBody>
                  <a:tcPr marL="73152" marR="73152" marT="27432" marB="27432" anchor="ctr">
                    <a:solidFill>
                      <a:srgbClr val="17243E"/>
                    </a:solidFill>
                  </a:tcPr>
                </a:tc>
                <a:tc>
                  <a:txBody>
                    <a:bodyPr wrap="square"/>
                    <a:lstStyle/>
                    <a:p>
                      <a:pPr algn="l"/>
                      <a:r>
                        <a:rPr sz="950" b="0">
                          <a:solidFill>
                            <a:srgbClr val="F2F6FF"/>
                          </a:solidFill>
                          <a:latin typeface="Calibri"/>
                        </a:rPr>
                        <a:t>P2.7</a:t>
                      </a:r>
                    </a:p>
                  </a:txBody>
                  <a:tcPr marL="73152" marR="73152" marT="27432" marB="27432" anchor="ctr">
                    <a:solidFill>
                      <a:srgbClr val="17243E"/>
                    </a:solidFill>
                  </a:tcPr>
                </a:tc>
                <a:tc>
                  <a:txBody>
                    <a:bodyPr wrap="square"/>
                    <a:lstStyle/>
                    <a:p>
                      <a:pPr algn="l"/>
                      <a:r>
                        <a:rPr sz="950" b="0">
                          <a:solidFill>
                            <a:srgbClr val="F2F6FF"/>
                          </a:solidFill>
                          <a:latin typeface="Calibri"/>
                        </a:rPr>
                        <a:t>ADC_INTR</a:t>
                      </a:r>
                    </a:p>
                  </a:txBody>
                  <a:tcPr marL="73152" marR="73152" marT="27432" marB="27432" anchor="ctr">
                    <a:solidFill>
                      <a:srgbClr val="17243E"/>
                    </a:solidFill>
                  </a:tcPr>
                </a:tc>
              </a:tr>
            </a:tbl>
          </a:graphicData>
        </a:graphic>
      </p:graphicFrame>
      <p:graphicFrame>
        <p:nvGraphicFramePr>
          <p:cNvPr id="12" name="Table 11"/>
          <p:cNvGraphicFramePr>
            <a:graphicFrameLocks noGrp="1"/>
          </p:cNvGraphicFramePr>
          <p:nvPr/>
        </p:nvGraphicFramePr>
        <p:xfrm>
          <a:off x="6181344" y="1627632"/>
          <a:ext cx="5440680" cy="3246120"/>
        </p:xfrm>
        <a:graphic>
          <a:graphicData uri="http://schemas.openxmlformats.org/drawingml/2006/table">
            <a:tbl>
              <a:tblPr firstRow="1">
                <a:tableStyleId>{5C22544A-7EE6-4342-B048-85BDC9FD1C3A}</a:tableStyleId>
              </a:tblPr>
              <a:tblGrid>
                <a:gridCol w="777240"/>
                <a:gridCol w="1417320"/>
                <a:gridCol w="3246120"/>
              </a:tblGrid>
              <a:tr h="249701">
                <a:tc>
                  <a:txBody>
                    <a:bodyPr wrap="square"/>
                    <a:lstStyle/>
                    <a:p>
                      <a:pPr algn="ctr"/>
                      <a:r>
                        <a:rPr sz="950" b="1">
                          <a:solidFill>
                            <a:srgbClr val="CFE0FF"/>
                          </a:solidFill>
                          <a:latin typeface="Calibri"/>
                        </a:rPr>
                        <a:t>Pin</a:t>
                      </a:r>
                    </a:p>
                  </a:txBody>
                  <a:tcPr marL="73152" marR="73152" marT="27432" marB="27432" anchor="ctr">
                    <a:solidFill>
                      <a:srgbClr val="2A3C63"/>
                    </a:solidFill>
                  </a:tcPr>
                </a:tc>
                <a:tc>
                  <a:txBody>
                    <a:bodyPr wrap="square"/>
                    <a:lstStyle/>
                    <a:p>
                      <a:pPr algn="l"/>
                      <a:r>
                        <a:rPr sz="950" b="1">
                          <a:solidFill>
                            <a:srgbClr val="CFE0FF"/>
                          </a:solidFill>
                          <a:latin typeface="Calibri"/>
                        </a:rPr>
                        <a:t>Signal</a:t>
                      </a:r>
                    </a:p>
                  </a:txBody>
                  <a:tcPr marL="73152" marR="73152" marT="27432" marB="27432" anchor="ctr">
                    <a:solidFill>
                      <a:srgbClr val="2A3C63"/>
                    </a:solidFill>
                  </a:tcPr>
                </a:tc>
                <a:tc>
                  <a:txBody>
                    <a:bodyPr wrap="square"/>
                    <a:lstStyle/>
                    <a:p>
                      <a:pPr algn="l"/>
                      <a:r>
                        <a:rPr sz="950" b="1">
                          <a:solidFill>
                            <a:srgbClr val="CFE0FF"/>
                          </a:solidFill>
                          <a:latin typeface="Calibri"/>
                        </a:rPr>
                        <a:t>Board net</a:t>
                      </a:r>
                    </a:p>
                  </a:txBody>
                  <a:tcPr marL="73152" marR="73152" marT="27432" marB="27432" anchor="ctr">
                    <a:solidFill>
                      <a:srgbClr val="2A3C63"/>
                    </a:solidFill>
                  </a:tcPr>
                </a:tc>
              </a:tr>
              <a:tr h="249701">
                <a:tc>
                  <a:txBody>
                    <a:bodyPr wrap="square"/>
                    <a:lstStyle/>
                    <a:p>
                      <a:pPr algn="ctr"/>
                      <a:r>
                        <a:rPr sz="950" b="0">
                          <a:solidFill>
                            <a:srgbClr val="F2F6FF"/>
                          </a:solidFill>
                          <a:latin typeface="Calibri"/>
                        </a:rPr>
                        <a:t>10</a:t>
                      </a:r>
                    </a:p>
                  </a:txBody>
                  <a:tcPr marL="73152" marR="73152" marT="27432" marB="27432" anchor="ctr">
                    <a:solidFill>
                      <a:srgbClr val="17243E"/>
                    </a:solidFill>
                  </a:tcPr>
                </a:tc>
                <a:tc>
                  <a:txBody>
                    <a:bodyPr wrap="square"/>
                    <a:lstStyle/>
                    <a:p>
                      <a:pPr algn="l"/>
                      <a:r>
                        <a:rPr sz="950" b="0">
                          <a:solidFill>
                            <a:srgbClr val="F2F6FF"/>
                          </a:solidFill>
                          <a:latin typeface="Calibri"/>
                        </a:rPr>
                        <a:t>P3.0 RxD</a:t>
                      </a:r>
                    </a:p>
                  </a:txBody>
                  <a:tcPr marL="73152" marR="73152" marT="27432" marB="27432" anchor="ctr">
                    <a:solidFill>
                      <a:srgbClr val="17243E"/>
                    </a:solidFill>
                  </a:tcPr>
                </a:tc>
                <a:tc>
                  <a:txBody>
                    <a:bodyPr wrap="square"/>
                    <a:lstStyle/>
                    <a:p>
                      <a:pPr algn="l"/>
                      <a:r>
                        <a:rPr sz="950" b="0">
                          <a:solidFill>
                            <a:srgbClr val="F2F6FF"/>
                          </a:solidFill>
                          <a:latin typeface="Calibri"/>
                        </a:rPr>
                        <a:t>MAX232 R1OUT</a:t>
                      </a:r>
                    </a:p>
                  </a:txBody>
                  <a:tcPr marL="73152" marR="73152" marT="27432" marB="27432" anchor="ctr">
                    <a:solidFill>
                      <a:srgbClr val="17243E"/>
                    </a:solidFill>
                  </a:tcPr>
                </a:tc>
              </a:tr>
              <a:tr h="249701">
                <a:tc>
                  <a:txBody>
                    <a:bodyPr wrap="square"/>
                    <a:lstStyle/>
                    <a:p>
                      <a:pPr algn="ctr"/>
                      <a:r>
                        <a:rPr sz="950" b="0">
                          <a:solidFill>
                            <a:srgbClr val="F2F6FF"/>
                          </a:solidFill>
                          <a:latin typeface="Calibri"/>
                        </a:rPr>
                        <a:t>11</a:t>
                      </a:r>
                    </a:p>
                  </a:txBody>
                  <a:tcPr marL="73152" marR="73152" marT="27432" marB="27432" anchor="ctr">
                    <a:solidFill>
                      <a:srgbClr val="1E2E4E"/>
                    </a:solidFill>
                  </a:tcPr>
                </a:tc>
                <a:tc>
                  <a:txBody>
                    <a:bodyPr wrap="square"/>
                    <a:lstStyle/>
                    <a:p>
                      <a:pPr algn="l"/>
                      <a:r>
                        <a:rPr sz="950" b="0">
                          <a:solidFill>
                            <a:srgbClr val="F2F6FF"/>
                          </a:solidFill>
                          <a:latin typeface="Calibri"/>
                        </a:rPr>
                        <a:t>P3.1 TxD</a:t>
                      </a:r>
                    </a:p>
                  </a:txBody>
                  <a:tcPr marL="73152" marR="73152" marT="27432" marB="27432" anchor="ctr">
                    <a:solidFill>
                      <a:srgbClr val="1E2E4E"/>
                    </a:solidFill>
                  </a:tcPr>
                </a:tc>
                <a:tc>
                  <a:txBody>
                    <a:bodyPr wrap="square"/>
                    <a:lstStyle/>
                    <a:p>
                      <a:pPr algn="l"/>
                      <a:r>
                        <a:rPr sz="950" b="0">
                          <a:solidFill>
                            <a:srgbClr val="F2F6FF"/>
                          </a:solidFill>
                          <a:latin typeface="Calibri"/>
                        </a:rPr>
                        <a:t>MAX232 T1IN</a:t>
                      </a:r>
                    </a:p>
                  </a:txBody>
                  <a:tcPr marL="73152" marR="73152" marT="27432" marB="27432" anchor="ctr">
                    <a:solidFill>
                      <a:srgbClr val="1E2E4E"/>
                    </a:solidFill>
                  </a:tcPr>
                </a:tc>
              </a:tr>
              <a:tr h="249701">
                <a:tc>
                  <a:txBody>
                    <a:bodyPr wrap="square"/>
                    <a:lstStyle/>
                    <a:p>
                      <a:pPr algn="ctr"/>
                      <a:r>
                        <a:rPr sz="950" b="0">
                          <a:solidFill>
                            <a:srgbClr val="F2F6FF"/>
                          </a:solidFill>
                          <a:latin typeface="Calibri"/>
                        </a:rPr>
                        <a:t>12</a:t>
                      </a:r>
                    </a:p>
                  </a:txBody>
                  <a:tcPr marL="73152" marR="73152" marT="27432" marB="27432" anchor="ctr">
                    <a:solidFill>
                      <a:srgbClr val="17243E"/>
                    </a:solidFill>
                  </a:tcPr>
                </a:tc>
                <a:tc>
                  <a:txBody>
                    <a:bodyPr wrap="square"/>
                    <a:lstStyle/>
                    <a:p>
                      <a:pPr algn="l"/>
                      <a:r>
                        <a:rPr sz="950" b="0">
                          <a:solidFill>
                            <a:srgbClr val="F2F6FF"/>
                          </a:solidFill>
                          <a:latin typeface="Calibri"/>
                        </a:rPr>
                        <a:t>P3.2 INT0</a:t>
                      </a:r>
                    </a:p>
                  </a:txBody>
                  <a:tcPr marL="73152" marR="73152" marT="27432" marB="27432" anchor="ctr">
                    <a:solidFill>
                      <a:srgbClr val="17243E"/>
                    </a:solidFill>
                  </a:tcPr>
                </a:tc>
                <a:tc>
                  <a:txBody>
                    <a:bodyPr wrap="square"/>
                    <a:lstStyle/>
                    <a:p>
                      <a:pPr algn="l"/>
                      <a:r>
                        <a:rPr sz="950" b="0">
                          <a:solidFill>
                            <a:srgbClr val="F2F6FF"/>
                          </a:solidFill>
                          <a:latin typeface="Calibri"/>
                        </a:rPr>
                        <a:t>PB1 emergency button</a:t>
                      </a:r>
                    </a:p>
                  </a:txBody>
                  <a:tcPr marL="73152" marR="73152" marT="27432" marB="27432" anchor="ctr">
                    <a:solidFill>
                      <a:srgbClr val="17243E"/>
                    </a:solidFill>
                  </a:tcPr>
                </a:tc>
              </a:tr>
              <a:tr h="249701">
                <a:tc>
                  <a:txBody>
                    <a:bodyPr wrap="square"/>
                    <a:lstStyle/>
                    <a:p>
                      <a:pPr algn="ctr"/>
                      <a:r>
                        <a:rPr sz="950" b="0">
                          <a:solidFill>
                            <a:srgbClr val="F2F6FF"/>
                          </a:solidFill>
                          <a:latin typeface="Calibri"/>
                        </a:rPr>
                        <a:t>13</a:t>
                      </a:r>
                    </a:p>
                  </a:txBody>
                  <a:tcPr marL="73152" marR="73152" marT="27432" marB="27432" anchor="ctr">
                    <a:solidFill>
                      <a:srgbClr val="1E2E4E"/>
                    </a:solidFill>
                  </a:tcPr>
                </a:tc>
                <a:tc>
                  <a:txBody>
                    <a:bodyPr wrap="square"/>
                    <a:lstStyle/>
                    <a:p>
                      <a:pPr algn="l"/>
                      <a:r>
                        <a:rPr sz="950" b="0">
                          <a:solidFill>
                            <a:srgbClr val="F2F6FF"/>
                          </a:solidFill>
                          <a:latin typeface="Calibri"/>
                        </a:rPr>
                        <a:t>P3.3 INT1</a:t>
                      </a:r>
                    </a:p>
                  </a:txBody>
                  <a:tcPr marL="73152" marR="73152" marT="27432" marB="27432" anchor="ctr">
                    <a:solidFill>
                      <a:srgbClr val="1E2E4E"/>
                    </a:solidFill>
                  </a:tcPr>
                </a:tc>
                <a:tc>
                  <a:txBody>
                    <a:bodyPr wrap="square"/>
                    <a:lstStyle/>
                    <a:p>
                      <a:pPr algn="l"/>
                      <a:r>
                        <a:rPr sz="950" b="0">
                          <a:solidFill>
                            <a:srgbClr val="F2F6FF"/>
                          </a:solidFill>
                          <a:latin typeface="Calibri"/>
                        </a:rPr>
                        <a:t>PB2 mode button</a:t>
                      </a:r>
                    </a:p>
                  </a:txBody>
                  <a:tcPr marL="73152" marR="73152" marT="27432" marB="27432" anchor="ctr">
                    <a:solidFill>
                      <a:srgbClr val="1E2E4E"/>
                    </a:solidFill>
                  </a:tcPr>
                </a:tc>
              </a:tr>
              <a:tr h="249701">
                <a:tc>
                  <a:txBody>
                    <a:bodyPr wrap="square"/>
                    <a:lstStyle/>
                    <a:p>
                      <a:pPr algn="ctr"/>
                      <a:r>
                        <a:rPr sz="950" b="0">
                          <a:solidFill>
                            <a:srgbClr val="F2F6FF"/>
                          </a:solidFill>
                          <a:latin typeface="Calibri"/>
                        </a:rPr>
                        <a:t>14</a:t>
                      </a:r>
                    </a:p>
                  </a:txBody>
                  <a:tcPr marL="73152" marR="73152" marT="27432" marB="27432" anchor="ctr">
                    <a:solidFill>
                      <a:srgbClr val="17243E"/>
                    </a:solidFill>
                  </a:tcPr>
                </a:tc>
                <a:tc>
                  <a:txBody>
                    <a:bodyPr wrap="square"/>
                    <a:lstStyle/>
                    <a:p>
                      <a:pPr algn="l"/>
                      <a:r>
                        <a:rPr sz="950" b="0">
                          <a:solidFill>
                            <a:srgbClr val="F2F6FF"/>
                          </a:solidFill>
                          <a:latin typeface="Calibri"/>
                        </a:rPr>
                        <a:t>P3.4 T0</a:t>
                      </a:r>
                    </a:p>
                  </a:txBody>
                  <a:tcPr marL="73152" marR="73152" marT="27432" marB="27432" anchor="ctr">
                    <a:solidFill>
                      <a:srgbClr val="17243E"/>
                    </a:solidFill>
                  </a:tcPr>
                </a:tc>
                <a:tc>
                  <a:txBody>
                    <a:bodyPr wrap="square"/>
                    <a:lstStyle/>
                    <a:p>
                      <a:pPr algn="l"/>
                      <a:r>
                        <a:rPr sz="950" b="0">
                          <a:solidFill>
                            <a:srgbClr val="F2F6FF"/>
                          </a:solidFill>
                          <a:latin typeface="Calibri"/>
                        </a:rPr>
                        <a:t>relay driver via JP1</a:t>
                      </a:r>
                    </a:p>
                  </a:txBody>
                  <a:tcPr marL="73152" marR="73152" marT="27432" marB="27432" anchor="ctr">
                    <a:solidFill>
                      <a:srgbClr val="17243E"/>
                    </a:solidFill>
                  </a:tcPr>
                </a:tc>
              </a:tr>
              <a:tr h="249701">
                <a:tc>
                  <a:txBody>
                    <a:bodyPr wrap="square"/>
                    <a:lstStyle/>
                    <a:p>
                      <a:pPr algn="ctr"/>
                      <a:r>
                        <a:rPr sz="950" b="0">
                          <a:solidFill>
                            <a:srgbClr val="F2F6FF"/>
                          </a:solidFill>
                          <a:latin typeface="Calibri"/>
                        </a:rPr>
                        <a:t>15</a:t>
                      </a:r>
                    </a:p>
                  </a:txBody>
                  <a:tcPr marL="73152" marR="73152" marT="27432" marB="27432" anchor="ctr">
                    <a:solidFill>
                      <a:srgbClr val="1E2E4E"/>
                    </a:solidFill>
                  </a:tcPr>
                </a:tc>
                <a:tc>
                  <a:txBody>
                    <a:bodyPr wrap="square"/>
                    <a:lstStyle/>
                    <a:p>
                      <a:pPr algn="l"/>
                      <a:r>
                        <a:rPr sz="950" b="0">
                          <a:solidFill>
                            <a:srgbClr val="F2F6FF"/>
                          </a:solidFill>
                          <a:latin typeface="Calibri"/>
                        </a:rPr>
                        <a:t>P3.5 T1</a:t>
                      </a:r>
                    </a:p>
                  </a:txBody>
                  <a:tcPr marL="73152" marR="73152" marT="27432" marB="27432" anchor="ctr">
                    <a:solidFill>
                      <a:srgbClr val="1E2E4E"/>
                    </a:solidFill>
                  </a:tcPr>
                </a:tc>
                <a:tc>
                  <a:txBody>
                    <a:bodyPr wrap="square"/>
                    <a:lstStyle/>
                    <a:p>
                      <a:pPr algn="l"/>
                      <a:r>
                        <a:rPr sz="950" b="0">
                          <a:solidFill>
                            <a:srgbClr val="F2F6FF"/>
                          </a:solidFill>
                          <a:latin typeface="Calibri"/>
                        </a:rPr>
                        <a:t>buzzer driver</a:t>
                      </a:r>
                    </a:p>
                  </a:txBody>
                  <a:tcPr marL="73152" marR="73152" marT="27432" marB="27432" anchor="ctr">
                    <a:solidFill>
                      <a:srgbClr val="1E2E4E"/>
                    </a:solidFill>
                  </a:tcPr>
                </a:tc>
              </a:tr>
              <a:tr h="249701">
                <a:tc>
                  <a:txBody>
                    <a:bodyPr wrap="square"/>
                    <a:lstStyle/>
                    <a:p>
                      <a:pPr algn="ctr"/>
                      <a:r>
                        <a:rPr sz="950" b="0">
                          <a:solidFill>
                            <a:srgbClr val="F2F6FF"/>
                          </a:solidFill>
                          <a:latin typeface="Calibri"/>
                        </a:rPr>
                        <a:t>16</a:t>
                      </a:r>
                    </a:p>
                  </a:txBody>
                  <a:tcPr marL="73152" marR="73152" marT="27432" marB="27432" anchor="ctr">
                    <a:solidFill>
                      <a:srgbClr val="17243E"/>
                    </a:solidFill>
                  </a:tcPr>
                </a:tc>
                <a:tc>
                  <a:txBody>
                    <a:bodyPr wrap="square"/>
                    <a:lstStyle/>
                    <a:p>
                      <a:pPr algn="l"/>
                      <a:r>
                        <a:rPr sz="950" b="0">
                          <a:solidFill>
                            <a:srgbClr val="F2F6FF"/>
                          </a:solidFill>
                          <a:latin typeface="Calibri"/>
                        </a:rPr>
                        <a:t>P3.6 WR</a:t>
                      </a:r>
                    </a:p>
                  </a:txBody>
                  <a:tcPr marL="73152" marR="73152" marT="27432" marB="27432" anchor="ctr">
                    <a:solidFill>
                      <a:srgbClr val="17243E"/>
                    </a:solidFill>
                  </a:tcPr>
                </a:tc>
                <a:tc>
                  <a:txBody>
                    <a:bodyPr wrap="square"/>
                    <a:lstStyle/>
                    <a:p>
                      <a:pPr algn="l"/>
                      <a:r>
                        <a:rPr sz="950" b="0">
                          <a:solidFill>
                            <a:srgbClr val="F2F6FF"/>
                          </a:solidFill>
                          <a:latin typeface="Calibri"/>
                        </a:rPr>
                        <a:t>DIG1 digit select</a:t>
                      </a:r>
                    </a:p>
                  </a:txBody>
                  <a:tcPr marL="73152" marR="73152" marT="27432" marB="27432" anchor="ctr">
                    <a:solidFill>
                      <a:srgbClr val="17243E"/>
                    </a:solidFill>
                  </a:tcPr>
                </a:tc>
              </a:tr>
              <a:tr h="249701">
                <a:tc>
                  <a:txBody>
                    <a:bodyPr wrap="square"/>
                    <a:lstStyle/>
                    <a:p>
                      <a:pPr algn="ctr"/>
                      <a:r>
                        <a:rPr sz="950" b="0">
                          <a:solidFill>
                            <a:srgbClr val="F2F6FF"/>
                          </a:solidFill>
                          <a:latin typeface="Calibri"/>
                        </a:rPr>
                        <a:t>17</a:t>
                      </a:r>
                    </a:p>
                  </a:txBody>
                  <a:tcPr marL="73152" marR="73152" marT="27432" marB="27432" anchor="ctr">
                    <a:solidFill>
                      <a:srgbClr val="1E2E4E"/>
                    </a:solidFill>
                  </a:tcPr>
                </a:tc>
                <a:tc>
                  <a:txBody>
                    <a:bodyPr wrap="square"/>
                    <a:lstStyle/>
                    <a:p>
                      <a:pPr algn="l"/>
                      <a:r>
                        <a:rPr sz="950" b="0">
                          <a:solidFill>
                            <a:srgbClr val="F2F6FF"/>
                          </a:solidFill>
                          <a:latin typeface="Calibri"/>
                        </a:rPr>
                        <a:t>P3.7 RD</a:t>
                      </a:r>
                    </a:p>
                  </a:txBody>
                  <a:tcPr marL="73152" marR="73152" marT="27432" marB="27432" anchor="ctr">
                    <a:solidFill>
                      <a:srgbClr val="1E2E4E"/>
                    </a:solidFill>
                  </a:tcPr>
                </a:tc>
                <a:tc>
                  <a:txBody>
                    <a:bodyPr wrap="square"/>
                    <a:lstStyle/>
                    <a:p>
                      <a:pPr algn="l"/>
                      <a:r>
                        <a:rPr sz="950" b="0">
                          <a:solidFill>
                            <a:srgbClr val="F2F6FF"/>
                          </a:solidFill>
                          <a:latin typeface="Calibri"/>
                        </a:rPr>
                        <a:t>DIG2 digit select</a:t>
                      </a:r>
                    </a:p>
                  </a:txBody>
                  <a:tcPr marL="73152" marR="73152" marT="27432" marB="27432" anchor="ctr">
                    <a:solidFill>
                      <a:srgbClr val="1E2E4E"/>
                    </a:solidFill>
                  </a:tcPr>
                </a:tc>
              </a:tr>
              <a:tr h="249701">
                <a:tc>
                  <a:txBody>
                    <a:bodyPr wrap="square"/>
                    <a:lstStyle/>
                    <a:p>
                      <a:pPr algn="ctr"/>
                      <a:r>
                        <a:rPr sz="950" b="0">
                          <a:solidFill>
                            <a:srgbClr val="F2F6FF"/>
                          </a:solidFill>
                          <a:latin typeface="Calibri"/>
                        </a:rPr>
                        <a:t>9</a:t>
                      </a:r>
                    </a:p>
                  </a:txBody>
                  <a:tcPr marL="73152" marR="73152" marT="27432" marB="27432" anchor="ctr">
                    <a:solidFill>
                      <a:srgbClr val="17243E"/>
                    </a:solidFill>
                  </a:tcPr>
                </a:tc>
                <a:tc>
                  <a:txBody>
                    <a:bodyPr wrap="square"/>
                    <a:lstStyle/>
                    <a:p>
                      <a:pPr algn="l"/>
                      <a:r>
                        <a:rPr sz="950" b="0">
                          <a:solidFill>
                            <a:srgbClr val="F2F6FF"/>
                          </a:solidFill>
                          <a:latin typeface="Calibri"/>
                        </a:rPr>
                        <a:t>RST</a:t>
                      </a:r>
                    </a:p>
                  </a:txBody>
                  <a:tcPr marL="73152" marR="73152" marT="27432" marB="27432" anchor="ctr">
                    <a:solidFill>
                      <a:srgbClr val="17243E"/>
                    </a:solidFill>
                  </a:tcPr>
                </a:tc>
                <a:tc>
                  <a:txBody>
                    <a:bodyPr wrap="square"/>
                    <a:lstStyle/>
                    <a:p>
                      <a:pPr algn="l"/>
                      <a:r>
                        <a:rPr sz="950" b="0">
                          <a:solidFill>
                            <a:srgbClr val="F2F6FF"/>
                          </a:solidFill>
                          <a:latin typeface="Calibri"/>
                        </a:rPr>
                        <a:t>reset RC and PB3, ISP pin 5</a:t>
                      </a:r>
                    </a:p>
                  </a:txBody>
                  <a:tcPr marL="73152" marR="73152" marT="27432" marB="27432" anchor="ctr">
                    <a:solidFill>
                      <a:srgbClr val="17243E"/>
                    </a:solidFill>
                  </a:tcPr>
                </a:tc>
              </a:tr>
              <a:tr h="249701">
                <a:tc>
                  <a:txBody>
                    <a:bodyPr wrap="square"/>
                    <a:lstStyle/>
                    <a:p>
                      <a:pPr algn="ctr"/>
                      <a:r>
                        <a:rPr sz="950" b="0">
                          <a:solidFill>
                            <a:srgbClr val="F2F6FF"/>
                          </a:solidFill>
                          <a:latin typeface="Calibri"/>
                        </a:rPr>
                        <a:t>18</a:t>
                      </a:r>
                    </a:p>
                  </a:txBody>
                  <a:tcPr marL="73152" marR="73152" marT="27432" marB="27432" anchor="ctr">
                    <a:solidFill>
                      <a:srgbClr val="1E2E4E"/>
                    </a:solidFill>
                  </a:tcPr>
                </a:tc>
                <a:tc>
                  <a:txBody>
                    <a:bodyPr wrap="square"/>
                    <a:lstStyle/>
                    <a:p>
                      <a:pPr algn="l"/>
                      <a:r>
                        <a:rPr sz="950" b="0">
                          <a:solidFill>
                            <a:srgbClr val="F2F6FF"/>
                          </a:solidFill>
                          <a:latin typeface="Calibri"/>
                        </a:rPr>
                        <a:t>XTAL2</a:t>
                      </a:r>
                    </a:p>
                  </a:txBody>
                  <a:tcPr marL="73152" marR="73152" marT="27432" marB="27432" anchor="ctr">
                    <a:solidFill>
                      <a:srgbClr val="1E2E4E"/>
                    </a:solidFill>
                  </a:tcPr>
                </a:tc>
                <a:tc>
                  <a:txBody>
                    <a:bodyPr wrap="square"/>
                    <a:lstStyle/>
                    <a:p>
                      <a:pPr algn="l"/>
                      <a:r>
                        <a:rPr sz="950" b="0">
                          <a:solidFill>
                            <a:srgbClr val="F2F6FF"/>
                          </a:solidFill>
                          <a:latin typeface="Calibri"/>
                        </a:rPr>
                        <a:t>crystal and 30 pF</a:t>
                      </a:r>
                    </a:p>
                  </a:txBody>
                  <a:tcPr marL="73152" marR="73152" marT="27432" marB="27432" anchor="ctr">
                    <a:solidFill>
                      <a:srgbClr val="1E2E4E"/>
                    </a:solidFill>
                  </a:tcPr>
                </a:tc>
              </a:tr>
              <a:tr h="249701">
                <a:tc>
                  <a:txBody>
                    <a:bodyPr wrap="square"/>
                    <a:lstStyle/>
                    <a:p>
                      <a:pPr algn="ctr"/>
                      <a:r>
                        <a:rPr sz="950" b="0">
                          <a:solidFill>
                            <a:srgbClr val="F2F6FF"/>
                          </a:solidFill>
                          <a:latin typeface="Calibri"/>
                        </a:rPr>
                        <a:t>19</a:t>
                      </a:r>
                    </a:p>
                  </a:txBody>
                  <a:tcPr marL="73152" marR="73152" marT="27432" marB="27432" anchor="ctr">
                    <a:solidFill>
                      <a:srgbClr val="17243E"/>
                    </a:solidFill>
                  </a:tcPr>
                </a:tc>
                <a:tc>
                  <a:txBody>
                    <a:bodyPr wrap="square"/>
                    <a:lstStyle/>
                    <a:p>
                      <a:pPr algn="l"/>
                      <a:r>
                        <a:rPr sz="950" b="0">
                          <a:solidFill>
                            <a:srgbClr val="F2F6FF"/>
                          </a:solidFill>
                          <a:latin typeface="Calibri"/>
                        </a:rPr>
                        <a:t>XTAL1</a:t>
                      </a:r>
                    </a:p>
                  </a:txBody>
                  <a:tcPr marL="73152" marR="73152" marT="27432" marB="27432" anchor="ctr">
                    <a:solidFill>
                      <a:srgbClr val="17243E"/>
                    </a:solidFill>
                  </a:tcPr>
                </a:tc>
                <a:tc>
                  <a:txBody>
                    <a:bodyPr wrap="square"/>
                    <a:lstStyle/>
                    <a:p>
                      <a:pPr algn="l"/>
                      <a:r>
                        <a:rPr sz="950" b="0">
                          <a:solidFill>
                            <a:srgbClr val="F2F6FF"/>
                          </a:solidFill>
                          <a:latin typeface="Calibri"/>
                        </a:rPr>
                        <a:t>crystal and 30 pF</a:t>
                      </a:r>
                    </a:p>
                  </a:txBody>
                  <a:tcPr marL="73152" marR="73152" marT="27432" marB="27432" anchor="ctr">
                    <a:solidFill>
                      <a:srgbClr val="17243E"/>
                    </a:solidFill>
                  </a:tcPr>
                </a:tc>
              </a:tr>
              <a:tr h="249708">
                <a:tc>
                  <a:txBody>
                    <a:bodyPr wrap="square"/>
                    <a:lstStyle/>
                    <a:p>
                      <a:pPr algn="ctr"/>
                      <a:r>
                        <a:rPr sz="950" b="0">
                          <a:solidFill>
                            <a:srgbClr val="F2F6FF"/>
                          </a:solidFill>
                          <a:latin typeface="Calibri"/>
                        </a:rPr>
                        <a:t>31</a:t>
                      </a:r>
                    </a:p>
                  </a:txBody>
                  <a:tcPr marL="73152" marR="73152" marT="27432" marB="27432" anchor="ctr">
                    <a:solidFill>
                      <a:srgbClr val="1E2E4E"/>
                    </a:solidFill>
                  </a:tcPr>
                </a:tc>
                <a:tc>
                  <a:txBody>
                    <a:bodyPr wrap="square"/>
                    <a:lstStyle/>
                    <a:p>
                      <a:pPr algn="l"/>
                      <a:r>
                        <a:rPr sz="950" b="0">
                          <a:solidFill>
                            <a:srgbClr val="F2F6FF"/>
                          </a:solidFill>
                          <a:latin typeface="Calibri"/>
                        </a:rPr>
                        <a:t>EA/VPP</a:t>
                      </a:r>
                    </a:p>
                  </a:txBody>
                  <a:tcPr marL="73152" marR="73152" marT="27432" marB="27432" anchor="ctr">
                    <a:solidFill>
                      <a:srgbClr val="1E2E4E"/>
                    </a:solidFill>
                  </a:tcPr>
                </a:tc>
                <a:tc>
                  <a:txBody>
                    <a:bodyPr wrap="square"/>
                    <a:lstStyle/>
                    <a:p>
                      <a:pPr algn="l"/>
                      <a:r>
                        <a:rPr sz="950" b="0">
                          <a:solidFill>
                            <a:srgbClr val="F2F6FF"/>
                          </a:solidFill>
                          <a:latin typeface="Calibri"/>
                        </a:rPr>
                        <a:t>tied to +5 V</a:t>
                      </a:r>
                    </a:p>
                  </a:txBody>
                  <a:tcPr marL="73152" marR="73152" marT="27432" marB="27432" anchor="ctr">
                    <a:solidFill>
                      <a:srgbClr val="1E2E4E"/>
                    </a:solidFill>
                  </a:tcPr>
                </a:tc>
              </a:tr>
            </a:tbl>
          </a:graphicData>
        </a:graphic>
      </p:graphicFrame>
      <p:sp>
        <p:nvSpPr>
          <p:cNvPr id="13" name="Rounded Rectangle 12"/>
          <p:cNvSpPr/>
          <p:nvPr/>
        </p:nvSpPr>
        <p:spPr>
          <a:xfrm>
            <a:off x="566928" y="5138928"/>
            <a:ext cx="11058113" cy="1042415"/>
          </a:xfrm>
          <a:prstGeom prst="roundRect">
            <a:avLst>
              <a:gd name="adj" fmla="val 6000"/>
            </a:avLst>
          </a:prstGeom>
          <a:solidFill>
            <a:srgbClr val="1E2E4E"/>
          </a:solidFill>
          <a:ln w="12700">
            <a:solidFill>
              <a:srgbClr val="FF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285232"/>
            <a:ext cx="10546049" cy="822960"/>
          </a:xfrm>
          <a:prstGeom prst="rect">
            <a:avLst/>
          </a:prstGeom>
          <a:noFill/>
        </p:spPr>
        <p:txBody>
          <a:bodyPr wrap="square" lIns="0" rIns="0" tIns="0" bIns="0" anchor="t">
            <a:spAutoFit/>
          </a:bodyPr>
          <a:lstStyle/>
          <a:p>
            <a:pPr algn="l">
              <a:lnSpc>
                <a:spcPct val="120000"/>
              </a:lnSpc>
              <a:spcAft>
                <a:spcPts val="300"/>
              </a:spcAft>
            </a:pPr>
            <a:r>
              <a:rPr sz="1300" b="1" i="0">
                <a:solidFill>
                  <a:srgbClr val="FFB454"/>
                </a:solidFill>
                <a:latin typeface="Calibri"/>
              </a:rPr>
              <a:t>Three traps that make a board look dead</a:t>
            </a:r>
          </a:p>
          <a:p>
            <a:pPr algn="l">
              <a:lnSpc>
                <a:spcPct val="120000"/>
              </a:lnSpc>
              <a:spcAft>
                <a:spcPts val="300"/>
              </a:spcAft>
            </a:pPr>
            <a:r>
              <a:rPr sz="1050" b="0" i="0">
                <a:solidFill>
                  <a:srgbClr val="A9B8D6"/>
                </a:solidFill>
                <a:latin typeface="Calibri"/>
              </a:rPr>
              <a:t>EA/VPP (pin 31) floating - the device fetches code from external memory and never runs.</a:t>
            </a:r>
            <a:br/>
            <a:r>
              <a:rPr sz="1050" b="0" i="0">
                <a:solidFill>
                  <a:srgbClr val="A9B8D6"/>
                </a:solidFill>
                <a:latin typeface="Calibri"/>
              </a:rPr>
              <a:t>P0 used without RN1 pull-ups - port 0 is open drain and cannot drive a logic 1.</a:t>
            </a:r>
            <a:br/>
            <a:r>
              <a:rPr sz="1050" b="0" i="0">
                <a:solidFill>
                  <a:srgbClr val="A9B8D6"/>
                </a:solidFill>
                <a:latin typeface="Calibri"/>
              </a:rPr>
              <a:t>DIP switches 6, 7 and 8 closed while programming - they short the SPI lines on P1.5 to P1.7.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MINIMUM SYSTEM</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Clock, reset, EA strap and decoupling</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Four parts decide whether the board runs at all</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8</a:t>
            </a:r>
          </a:p>
        </p:txBody>
      </p:sp>
      <p:sp>
        <p:nvSpPr>
          <p:cNvPr id="11" name="Rounded Rectangle 10"/>
          <p:cNvSpPr/>
          <p:nvPr/>
        </p:nvSpPr>
        <p:spPr>
          <a:xfrm>
            <a:off x="868680" y="1874519"/>
            <a:ext cx="3017520" cy="2788920"/>
          </a:xfrm>
          <a:prstGeom prst="roundRect">
            <a:avLst>
              <a:gd name="adj" fmla="val 6000"/>
            </a:avLst>
          </a:prstGeom>
          <a:solidFill>
            <a:srgbClr val="17243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874519"/>
            <a:ext cx="2871215" cy="274320"/>
          </a:xfrm>
          <a:prstGeom prst="rect">
            <a:avLst/>
          </a:prstGeom>
          <a:noFill/>
        </p:spPr>
        <p:txBody>
          <a:bodyPr wrap="square" lIns="0" rIns="0" tIns="0" bIns="0" anchor="t">
            <a:spAutoFit/>
          </a:bodyPr>
          <a:lstStyle/>
          <a:p>
            <a:pPr algn="ctr">
              <a:lnSpc>
                <a:spcPct val="100000"/>
              </a:lnSpc>
              <a:spcAft>
                <a:spcPts val="0"/>
              </a:spcAft>
            </a:pPr>
          </a:p>
        </p:txBody>
      </p:sp>
      <p:sp>
        <p:nvSpPr>
          <p:cNvPr id="13" name="TextBox 12"/>
          <p:cNvSpPr txBox="1"/>
          <p:nvPr/>
        </p:nvSpPr>
        <p:spPr>
          <a:xfrm>
            <a:off x="1051560" y="2029968"/>
            <a:ext cx="2651760" cy="274320"/>
          </a:xfrm>
          <a:prstGeom prst="rect">
            <a:avLst/>
          </a:prstGeom>
          <a:noFill/>
        </p:spPr>
        <p:txBody>
          <a:bodyPr wrap="square" lIns="0" rIns="0" tIns="0" bIns="0" anchor="t">
            <a:spAutoFit/>
          </a:bodyPr>
          <a:lstStyle/>
          <a:p>
            <a:pPr algn="ctr">
              <a:lnSpc>
                <a:spcPct val="100000"/>
              </a:lnSpc>
              <a:spcAft>
                <a:spcPts val="0"/>
              </a:spcAft>
            </a:pPr>
            <a:r>
              <a:rPr sz="1300" b="1" i="0">
                <a:solidFill>
                  <a:srgbClr val="F2F6FF"/>
                </a:solidFill>
                <a:latin typeface="Calibri"/>
              </a:rPr>
              <a:t>AT89S52  (U1)</a:t>
            </a:r>
          </a:p>
        </p:txBody>
      </p:sp>
      <p:sp>
        <p:nvSpPr>
          <p:cNvPr id="14" name="TextBox 13"/>
          <p:cNvSpPr txBox="1"/>
          <p:nvPr/>
        </p:nvSpPr>
        <p:spPr>
          <a:xfrm>
            <a:off x="1051560" y="2432304"/>
            <a:ext cx="2651760" cy="256032"/>
          </a:xfrm>
          <a:prstGeom prst="rect">
            <a:avLst/>
          </a:prstGeom>
          <a:noFill/>
        </p:spPr>
        <p:txBody>
          <a:bodyPr wrap="square" lIns="0" rIns="0" tIns="0" bIns="0" anchor="t">
            <a:spAutoFit/>
          </a:bodyPr>
          <a:lstStyle/>
          <a:p>
            <a:pPr algn="l">
              <a:lnSpc>
                <a:spcPct val="100000"/>
              </a:lnSpc>
              <a:spcAft>
                <a:spcPts val="0"/>
              </a:spcAft>
            </a:pPr>
            <a:r>
              <a:rPr sz="1100" b="0" i="0">
                <a:solidFill>
                  <a:srgbClr val="CFE0FF"/>
                </a:solidFill>
                <a:latin typeface="Consolas"/>
              </a:rPr>
              <a:t>pin 40  VCC      5.00 V</a:t>
            </a:r>
          </a:p>
        </p:txBody>
      </p:sp>
      <p:sp>
        <p:nvSpPr>
          <p:cNvPr id="15" name="TextBox 14"/>
          <p:cNvSpPr txBox="1"/>
          <p:nvPr/>
        </p:nvSpPr>
        <p:spPr>
          <a:xfrm>
            <a:off x="1051560" y="2715768"/>
            <a:ext cx="2651760" cy="256032"/>
          </a:xfrm>
          <a:prstGeom prst="rect">
            <a:avLst/>
          </a:prstGeom>
          <a:noFill/>
        </p:spPr>
        <p:txBody>
          <a:bodyPr wrap="square" lIns="0" rIns="0" tIns="0" bIns="0" anchor="t">
            <a:spAutoFit/>
          </a:bodyPr>
          <a:lstStyle/>
          <a:p>
            <a:pPr algn="l">
              <a:lnSpc>
                <a:spcPct val="100000"/>
              </a:lnSpc>
              <a:spcAft>
                <a:spcPts val="0"/>
              </a:spcAft>
            </a:pPr>
            <a:r>
              <a:rPr sz="1100" b="0" i="0">
                <a:solidFill>
                  <a:srgbClr val="CFE0FF"/>
                </a:solidFill>
                <a:latin typeface="Consolas"/>
              </a:rPr>
              <a:t>pin 20  GND</a:t>
            </a:r>
          </a:p>
        </p:txBody>
      </p:sp>
      <p:sp>
        <p:nvSpPr>
          <p:cNvPr id="16" name="TextBox 15"/>
          <p:cNvSpPr txBox="1"/>
          <p:nvPr/>
        </p:nvSpPr>
        <p:spPr>
          <a:xfrm>
            <a:off x="1051560" y="2999232"/>
            <a:ext cx="2651760" cy="256032"/>
          </a:xfrm>
          <a:prstGeom prst="rect">
            <a:avLst/>
          </a:prstGeom>
          <a:noFill/>
        </p:spPr>
        <p:txBody>
          <a:bodyPr wrap="square" lIns="0" rIns="0" tIns="0" bIns="0" anchor="t">
            <a:spAutoFit/>
          </a:bodyPr>
          <a:lstStyle/>
          <a:p>
            <a:pPr algn="l">
              <a:lnSpc>
                <a:spcPct val="100000"/>
              </a:lnSpc>
              <a:spcAft>
                <a:spcPts val="0"/>
              </a:spcAft>
            </a:pPr>
            <a:r>
              <a:rPr sz="1100" b="0" i="0">
                <a:solidFill>
                  <a:srgbClr val="CFE0FF"/>
                </a:solidFill>
                <a:latin typeface="Consolas"/>
              </a:rPr>
              <a:t>pin 31  EA  -&gt;  +5 V</a:t>
            </a:r>
          </a:p>
        </p:txBody>
      </p:sp>
      <p:sp>
        <p:nvSpPr>
          <p:cNvPr id="17" name="TextBox 16"/>
          <p:cNvSpPr txBox="1"/>
          <p:nvPr/>
        </p:nvSpPr>
        <p:spPr>
          <a:xfrm>
            <a:off x="1051560" y="3282696"/>
            <a:ext cx="2651760" cy="256032"/>
          </a:xfrm>
          <a:prstGeom prst="rect">
            <a:avLst/>
          </a:prstGeom>
          <a:noFill/>
        </p:spPr>
        <p:txBody>
          <a:bodyPr wrap="square" lIns="0" rIns="0" tIns="0" bIns="0" anchor="t">
            <a:spAutoFit/>
          </a:bodyPr>
          <a:lstStyle/>
          <a:p>
            <a:pPr algn="l">
              <a:lnSpc>
                <a:spcPct val="100000"/>
              </a:lnSpc>
              <a:spcAft>
                <a:spcPts val="0"/>
              </a:spcAft>
            </a:pPr>
            <a:r>
              <a:rPr sz="1100" b="0" i="0">
                <a:solidFill>
                  <a:srgbClr val="CFE0FF"/>
                </a:solidFill>
                <a:latin typeface="Consolas"/>
              </a:rPr>
              <a:t>pin 19  XTAL1</a:t>
            </a:r>
          </a:p>
        </p:txBody>
      </p:sp>
      <p:sp>
        <p:nvSpPr>
          <p:cNvPr id="18" name="TextBox 17"/>
          <p:cNvSpPr txBox="1"/>
          <p:nvPr/>
        </p:nvSpPr>
        <p:spPr>
          <a:xfrm>
            <a:off x="1051560" y="3566160"/>
            <a:ext cx="2651760" cy="256032"/>
          </a:xfrm>
          <a:prstGeom prst="rect">
            <a:avLst/>
          </a:prstGeom>
          <a:noFill/>
        </p:spPr>
        <p:txBody>
          <a:bodyPr wrap="square" lIns="0" rIns="0" tIns="0" bIns="0" anchor="t">
            <a:spAutoFit/>
          </a:bodyPr>
          <a:lstStyle/>
          <a:p>
            <a:pPr algn="l">
              <a:lnSpc>
                <a:spcPct val="100000"/>
              </a:lnSpc>
              <a:spcAft>
                <a:spcPts val="0"/>
              </a:spcAft>
            </a:pPr>
            <a:r>
              <a:rPr sz="1100" b="0" i="0">
                <a:solidFill>
                  <a:srgbClr val="CFE0FF"/>
                </a:solidFill>
                <a:latin typeface="Consolas"/>
              </a:rPr>
              <a:t>pin 18  XTAL2</a:t>
            </a:r>
          </a:p>
        </p:txBody>
      </p:sp>
      <p:sp>
        <p:nvSpPr>
          <p:cNvPr id="19" name="TextBox 18"/>
          <p:cNvSpPr txBox="1"/>
          <p:nvPr/>
        </p:nvSpPr>
        <p:spPr>
          <a:xfrm>
            <a:off x="1051560" y="3849624"/>
            <a:ext cx="2651760" cy="256032"/>
          </a:xfrm>
          <a:prstGeom prst="rect">
            <a:avLst/>
          </a:prstGeom>
          <a:noFill/>
        </p:spPr>
        <p:txBody>
          <a:bodyPr wrap="square" lIns="0" rIns="0" tIns="0" bIns="0" anchor="t">
            <a:spAutoFit/>
          </a:bodyPr>
          <a:lstStyle/>
          <a:p>
            <a:pPr algn="l">
              <a:lnSpc>
                <a:spcPct val="100000"/>
              </a:lnSpc>
              <a:spcAft>
                <a:spcPts val="0"/>
              </a:spcAft>
            </a:pPr>
            <a:r>
              <a:rPr sz="1100" b="0" i="0">
                <a:solidFill>
                  <a:srgbClr val="CFE0FF"/>
                </a:solidFill>
                <a:latin typeface="Consolas"/>
              </a:rPr>
              <a:t>pin  9  RST</a:t>
            </a:r>
          </a:p>
        </p:txBody>
      </p:sp>
      <p:sp>
        <p:nvSpPr>
          <p:cNvPr id="20" name="TextBox 19"/>
          <p:cNvSpPr txBox="1"/>
          <p:nvPr/>
        </p:nvSpPr>
        <p:spPr>
          <a:xfrm>
            <a:off x="1051560" y="4133087"/>
            <a:ext cx="2651760" cy="256032"/>
          </a:xfrm>
          <a:prstGeom prst="rect">
            <a:avLst/>
          </a:prstGeom>
          <a:noFill/>
        </p:spPr>
        <p:txBody>
          <a:bodyPr wrap="square" lIns="0" rIns="0" tIns="0" bIns="0" anchor="t">
            <a:spAutoFit/>
          </a:bodyPr>
          <a:lstStyle/>
          <a:p>
            <a:pPr algn="l">
              <a:lnSpc>
                <a:spcPct val="100000"/>
              </a:lnSpc>
              <a:spcAft>
                <a:spcPts val="0"/>
              </a:spcAft>
            </a:pPr>
            <a:r>
              <a:rPr sz="1100" b="0" i="0">
                <a:solidFill>
                  <a:srgbClr val="CFE0FF"/>
                </a:solidFill>
                <a:latin typeface="Consolas"/>
              </a:rPr>
              <a:t>pin 30  ALE</a:t>
            </a:r>
          </a:p>
        </p:txBody>
      </p:sp>
      <p:graphicFrame>
        <p:nvGraphicFramePr>
          <p:cNvPr id="21" name="Table 20"/>
          <p:cNvGraphicFramePr>
            <a:graphicFrameLocks noGrp="1"/>
          </p:cNvGraphicFramePr>
          <p:nvPr/>
        </p:nvGraphicFramePr>
        <p:xfrm>
          <a:off x="4251960" y="1691640"/>
          <a:ext cx="6803136" cy="2331720"/>
        </p:xfrm>
        <a:graphic>
          <a:graphicData uri="http://schemas.openxmlformats.org/drawingml/2006/table">
            <a:tbl>
              <a:tblPr firstRow="1">
                <a:tableStyleId>{5C22544A-7EE6-4342-B048-85BDC9FD1C3A}</a:tableStyleId>
              </a:tblPr>
              <a:tblGrid>
                <a:gridCol w="1005840"/>
                <a:gridCol w="1143000"/>
                <a:gridCol w="2606040"/>
                <a:gridCol w="2048256"/>
              </a:tblGrid>
              <a:tr h="259080">
                <a:tc>
                  <a:txBody>
                    <a:bodyPr wrap="square"/>
                    <a:lstStyle/>
                    <a:p>
                      <a:pPr algn="l"/>
                      <a:r>
                        <a:rPr sz="950" b="1">
                          <a:solidFill>
                            <a:srgbClr val="CFE0FF"/>
                          </a:solidFill>
                          <a:latin typeface="Calibri"/>
                        </a:rPr>
                        <a:t>Part</a:t>
                      </a:r>
                    </a:p>
                  </a:txBody>
                  <a:tcPr marL="73152" marR="73152" marT="27432" marB="27432" anchor="ctr">
                    <a:solidFill>
                      <a:srgbClr val="2A3C63"/>
                    </a:solidFill>
                  </a:tcPr>
                </a:tc>
                <a:tc>
                  <a:txBody>
                    <a:bodyPr wrap="square"/>
                    <a:lstStyle/>
                    <a:p>
                      <a:pPr algn="l"/>
                      <a:r>
                        <a:rPr sz="950" b="1">
                          <a:solidFill>
                            <a:srgbClr val="CFE0FF"/>
                          </a:solidFill>
                          <a:latin typeface="Calibri"/>
                        </a:rPr>
                        <a:t>Value</a:t>
                      </a:r>
                    </a:p>
                  </a:txBody>
                  <a:tcPr marL="73152" marR="73152" marT="27432" marB="27432" anchor="ctr">
                    <a:solidFill>
                      <a:srgbClr val="2A3C63"/>
                    </a:solidFill>
                  </a:tcPr>
                </a:tc>
                <a:tc>
                  <a:txBody>
                    <a:bodyPr wrap="square"/>
                    <a:lstStyle/>
                    <a:p>
                      <a:pPr algn="l"/>
                      <a:r>
                        <a:rPr sz="950" b="1">
                          <a:solidFill>
                            <a:srgbClr val="CFE0FF"/>
                          </a:solidFill>
                          <a:latin typeface="Calibri"/>
                        </a:rPr>
                        <a:t>Purpose</a:t>
                      </a:r>
                    </a:p>
                  </a:txBody>
                  <a:tcPr marL="73152" marR="73152" marT="27432" marB="27432" anchor="ctr">
                    <a:solidFill>
                      <a:srgbClr val="2A3C63"/>
                    </a:solidFill>
                  </a:tcPr>
                </a:tc>
                <a:tc>
                  <a:txBody>
                    <a:bodyPr wrap="square"/>
                    <a:lstStyle/>
                    <a:p>
                      <a:pPr algn="l"/>
                      <a:r>
                        <a:rPr sz="950" b="1">
                          <a:solidFill>
                            <a:srgbClr val="CFE0FF"/>
                          </a:solidFill>
                          <a:latin typeface="Calibri"/>
                        </a:rPr>
                        <a:t>Measured</a:t>
                      </a:r>
                    </a:p>
                  </a:txBody>
                  <a:tcPr marL="73152" marR="73152" marT="27432" marB="27432" anchor="ctr">
                    <a:solidFill>
                      <a:srgbClr val="2A3C63"/>
                    </a:solidFill>
                  </a:tcPr>
                </a:tc>
              </a:tr>
              <a:tr h="259080">
                <a:tc>
                  <a:txBody>
                    <a:bodyPr wrap="square"/>
                    <a:lstStyle/>
                    <a:p>
                      <a:pPr algn="l"/>
                      <a:r>
                        <a:rPr sz="950" b="0">
                          <a:solidFill>
                            <a:srgbClr val="F2F6FF"/>
                          </a:solidFill>
                          <a:latin typeface="Calibri"/>
                        </a:rPr>
                        <a:t>Y1 crystal</a:t>
                      </a:r>
                    </a:p>
                  </a:txBody>
                  <a:tcPr marL="73152" marR="73152" marT="27432" marB="27432" anchor="ctr">
                    <a:solidFill>
                      <a:srgbClr val="17243E"/>
                    </a:solidFill>
                  </a:tcPr>
                </a:tc>
                <a:tc>
                  <a:txBody>
                    <a:bodyPr wrap="square"/>
                    <a:lstStyle/>
                    <a:p>
                      <a:pPr algn="l"/>
                      <a:r>
                        <a:rPr sz="950" b="0">
                          <a:solidFill>
                            <a:srgbClr val="F2F6FF"/>
                          </a:solidFill>
                          <a:latin typeface="Calibri"/>
                        </a:rPr>
                        <a:t>11.0592 MHz</a:t>
                      </a:r>
                    </a:p>
                  </a:txBody>
                  <a:tcPr marL="73152" marR="73152" marT="27432" marB="27432" anchor="ctr">
                    <a:solidFill>
                      <a:srgbClr val="17243E"/>
                    </a:solidFill>
                  </a:tcPr>
                </a:tc>
                <a:tc>
                  <a:txBody>
                    <a:bodyPr wrap="square"/>
                    <a:lstStyle/>
                    <a:p>
                      <a:pPr algn="l"/>
                      <a:r>
                        <a:rPr sz="950" b="0">
                          <a:solidFill>
                            <a:srgbClr val="F2F6FF"/>
                          </a:solidFill>
                          <a:latin typeface="Calibri"/>
                        </a:rPr>
                        <a:t>clock; gives exact 9600 baud</a:t>
                      </a:r>
                    </a:p>
                  </a:txBody>
                  <a:tcPr marL="73152" marR="73152" marT="27432" marB="27432" anchor="ctr">
                    <a:solidFill>
                      <a:srgbClr val="17243E"/>
                    </a:solidFill>
                  </a:tcPr>
                </a:tc>
                <a:tc>
                  <a:txBody>
                    <a:bodyPr wrap="square"/>
                    <a:lstStyle/>
                    <a:p>
                      <a:pPr algn="l"/>
                      <a:r>
                        <a:rPr sz="950" b="0">
                          <a:solidFill>
                            <a:srgbClr val="F2F6FF"/>
                          </a:solidFill>
                          <a:latin typeface="Calibri"/>
                        </a:rPr>
                        <a:t>11.0592 MHz on pin 18</a:t>
                      </a:r>
                    </a:p>
                  </a:txBody>
                  <a:tcPr marL="73152" marR="73152" marT="27432" marB="27432" anchor="ctr">
                    <a:solidFill>
                      <a:srgbClr val="17243E"/>
                    </a:solidFill>
                  </a:tcPr>
                </a:tc>
              </a:tr>
              <a:tr h="259080">
                <a:tc>
                  <a:txBody>
                    <a:bodyPr wrap="square"/>
                    <a:lstStyle/>
                    <a:p>
                      <a:pPr algn="l"/>
                      <a:r>
                        <a:rPr sz="950" b="0">
                          <a:solidFill>
                            <a:srgbClr val="F2F6FF"/>
                          </a:solidFill>
                          <a:latin typeface="Calibri"/>
                        </a:rPr>
                        <a:t>C3a, C3b</a:t>
                      </a:r>
                    </a:p>
                  </a:txBody>
                  <a:tcPr marL="73152" marR="73152" marT="27432" marB="27432" anchor="ctr">
                    <a:solidFill>
                      <a:srgbClr val="1E2E4E"/>
                    </a:solidFill>
                  </a:tcPr>
                </a:tc>
                <a:tc>
                  <a:txBody>
                    <a:bodyPr wrap="square"/>
                    <a:lstStyle/>
                    <a:p>
                      <a:pPr algn="l"/>
                      <a:r>
                        <a:rPr sz="950" b="0">
                          <a:solidFill>
                            <a:srgbClr val="F2F6FF"/>
                          </a:solidFill>
                          <a:latin typeface="Calibri"/>
                        </a:rPr>
                        <a:t>30 pF</a:t>
                      </a:r>
                    </a:p>
                  </a:txBody>
                  <a:tcPr marL="73152" marR="73152" marT="27432" marB="27432" anchor="ctr">
                    <a:solidFill>
                      <a:srgbClr val="1E2E4E"/>
                    </a:solidFill>
                  </a:tcPr>
                </a:tc>
                <a:tc>
                  <a:txBody>
                    <a:bodyPr wrap="square"/>
                    <a:lstStyle/>
                    <a:p>
                      <a:pPr algn="l"/>
                      <a:r>
                        <a:rPr sz="950" b="0">
                          <a:solidFill>
                            <a:srgbClr val="F2F6FF"/>
                          </a:solidFill>
                          <a:latin typeface="Calibri"/>
                        </a:rPr>
                        <a:t>crystal load capacitors</a:t>
                      </a:r>
                    </a:p>
                  </a:txBody>
                  <a:tcPr marL="73152" marR="73152" marT="27432" marB="27432" anchor="ctr">
                    <a:solidFill>
                      <a:srgbClr val="1E2E4E"/>
                    </a:solidFill>
                  </a:tcPr>
                </a:tc>
                <a:tc>
                  <a:txBody>
                    <a:bodyPr wrap="square"/>
                    <a:lstStyle/>
                    <a:p>
                      <a:pPr algn="l"/>
                      <a:r>
                        <a:rPr sz="950" b="0">
                          <a:solidFill>
                            <a:srgbClr val="F2F6FF"/>
                          </a:solidFill>
                          <a:latin typeface="Calibri"/>
                        </a:rPr>
                        <a:t>-</a:t>
                      </a:r>
                    </a:p>
                  </a:txBody>
                  <a:tcPr marL="73152" marR="73152" marT="27432" marB="27432" anchor="ctr">
                    <a:solidFill>
                      <a:srgbClr val="1E2E4E"/>
                    </a:solidFill>
                  </a:tcPr>
                </a:tc>
              </a:tr>
              <a:tr h="259080">
                <a:tc>
                  <a:txBody>
                    <a:bodyPr wrap="square"/>
                    <a:lstStyle/>
                    <a:p>
                      <a:pPr algn="l"/>
                      <a:r>
                        <a:rPr sz="950" b="0">
                          <a:solidFill>
                            <a:srgbClr val="F2F6FF"/>
                          </a:solidFill>
                          <a:latin typeface="Calibri"/>
                        </a:rPr>
                        <a:t>R1</a:t>
                      </a:r>
                    </a:p>
                  </a:txBody>
                  <a:tcPr marL="73152" marR="73152" marT="27432" marB="27432" anchor="ctr">
                    <a:solidFill>
                      <a:srgbClr val="17243E"/>
                    </a:solidFill>
                  </a:tcPr>
                </a:tc>
                <a:tc>
                  <a:txBody>
                    <a:bodyPr wrap="square"/>
                    <a:lstStyle/>
                    <a:p>
                      <a:pPr algn="l"/>
                      <a:r>
                        <a:rPr sz="950" b="0">
                          <a:solidFill>
                            <a:srgbClr val="F2F6FF"/>
                          </a:solidFill>
                          <a:latin typeface="Calibri"/>
                        </a:rPr>
                        <a:t>10 kOhm</a:t>
                      </a:r>
                    </a:p>
                  </a:txBody>
                  <a:tcPr marL="73152" marR="73152" marT="27432" marB="27432" anchor="ctr">
                    <a:solidFill>
                      <a:srgbClr val="17243E"/>
                    </a:solidFill>
                  </a:tcPr>
                </a:tc>
                <a:tc>
                  <a:txBody>
                    <a:bodyPr wrap="square"/>
                    <a:lstStyle/>
                    <a:p>
                      <a:pPr algn="l"/>
                      <a:r>
                        <a:rPr sz="950" b="0">
                          <a:solidFill>
                            <a:srgbClr val="F2F6FF"/>
                          </a:solidFill>
                          <a:latin typeface="Calibri"/>
                        </a:rPr>
                        <a:t>holds RST low in steady state</a:t>
                      </a:r>
                    </a:p>
                  </a:txBody>
                  <a:tcPr marL="73152" marR="73152" marT="27432" marB="27432" anchor="ctr">
                    <a:solidFill>
                      <a:srgbClr val="17243E"/>
                    </a:solidFill>
                  </a:tcPr>
                </a:tc>
                <a:tc>
                  <a:txBody>
                    <a:bodyPr wrap="square"/>
                    <a:lstStyle/>
                    <a:p>
                      <a:pPr algn="l"/>
                      <a:r>
                        <a:rPr sz="950" b="0">
                          <a:solidFill>
                            <a:srgbClr val="F2F6FF"/>
                          </a:solidFill>
                          <a:latin typeface="Calibri"/>
                        </a:rPr>
                        <a:t>-</a:t>
                      </a:r>
                    </a:p>
                  </a:txBody>
                  <a:tcPr marL="73152" marR="73152" marT="27432" marB="27432" anchor="ctr">
                    <a:solidFill>
                      <a:srgbClr val="17243E"/>
                    </a:solidFill>
                  </a:tcPr>
                </a:tc>
              </a:tr>
              <a:tr h="259080">
                <a:tc>
                  <a:txBody>
                    <a:bodyPr wrap="square"/>
                    <a:lstStyle/>
                    <a:p>
                      <a:pPr algn="l"/>
                      <a:r>
                        <a:rPr sz="950" b="0">
                          <a:solidFill>
                            <a:srgbClr val="F2F6FF"/>
                          </a:solidFill>
                          <a:latin typeface="Calibri"/>
                        </a:rPr>
                        <a:t>C2</a:t>
                      </a:r>
                    </a:p>
                  </a:txBody>
                  <a:tcPr marL="73152" marR="73152" marT="27432" marB="27432" anchor="ctr">
                    <a:solidFill>
                      <a:srgbClr val="1E2E4E"/>
                    </a:solidFill>
                  </a:tcPr>
                </a:tc>
                <a:tc>
                  <a:txBody>
                    <a:bodyPr wrap="square"/>
                    <a:lstStyle/>
                    <a:p>
                      <a:pPr algn="l"/>
                      <a:r>
                        <a:rPr sz="950" b="0">
                          <a:solidFill>
                            <a:srgbClr val="F2F6FF"/>
                          </a:solidFill>
                          <a:latin typeface="Calibri"/>
                        </a:rPr>
                        <a:t>10 uF</a:t>
                      </a:r>
                    </a:p>
                  </a:txBody>
                  <a:tcPr marL="73152" marR="73152" marT="27432" marB="27432" anchor="ctr">
                    <a:solidFill>
                      <a:srgbClr val="1E2E4E"/>
                    </a:solidFill>
                  </a:tcPr>
                </a:tc>
                <a:tc>
                  <a:txBody>
                    <a:bodyPr wrap="square"/>
                    <a:lstStyle/>
                    <a:p>
                      <a:pPr algn="l"/>
                      <a:r>
                        <a:rPr sz="950" b="0">
                          <a:solidFill>
                            <a:srgbClr val="F2F6FF"/>
                          </a:solidFill>
                          <a:latin typeface="Calibri"/>
                        </a:rPr>
                        <a:t>holds RST high for about 100 ms at power up</a:t>
                      </a:r>
                    </a:p>
                  </a:txBody>
                  <a:tcPr marL="73152" marR="73152" marT="27432" marB="27432" anchor="ctr">
                    <a:solidFill>
                      <a:srgbClr val="1E2E4E"/>
                    </a:solidFill>
                  </a:tcPr>
                </a:tc>
                <a:tc>
                  <a:txBody>
                    <a:bodyPr wrap="square"/>
                    <a:lstStyle/>
                    <a:p>
                      <a:pPr algn="l"/>
                      <a:r>
                        <a:rPr sz="950" b="0">
                          <a:solidFill>
                            <a:srgbClr val="F2F6FF"/>
                          </a:solidFill>
                          <a:latin typeface="Calibri"/>
                        </a:rPr>
                        <a:t>RST low when idle</a:t>
                      </a:r>
                    </a:p>
                  </a:txBody>
                  <a:tcPr marL="73152" marR="73152" marT="27432" marB="27432" anchor="ctr">
                    <a:solidFill>
                      <a:srgbClr val="1E2E4E"/>
                    </a:solidFill>
                  </a:tcPr>
                </a:tc>
              </a:tr>
              <a:tr h="259080">
                <a:tc>
                  <a:txBody>
                    <a:bodyPr wrap="square"/>
                    <a:lstStyle/>
                    <a:p>
                      <a:pPr algn="l"/>
                      <a:r>
                        <a:rPr sz="950" b="0">
                          <a:solidFill>
                            <a:srgbClr val="F2F6FF"/>
                          </a:solidFill>
                          <a:latin typeface="Calibri"/>
                        </a:rPr>
                        <a:t>PB3</a:t>
                      </a:r>
                    </a:p>
                  </a:txBody>
                  <a:tcPr marL="73152" marR="73152" marT="27432" marB="27432" anchor="ctr">
                    <a:solidFill>
                      <a:srgbClr val="17243E"/>
                    </a:solidFill>
                  </a:tcPr>
                </a:tc>
                <a:tc>
                  <a:txBody>
                    <a:bodyPr wrap="square"/>
                    <a:lstStyle/>
                    <a:p>
                      <a:pPr algn="l"/>
                      <a:r>
                        <a:rPr sz="950" b="0">
                          <a:solidFill>
                            <a:srgbClr val="F2F6FF"/>
                          </a:solidFill>
                          <a:latin typeface="Calibri"/>
                        </a:rPr>
                        <a:t>tactile</a:t>
                      </a:r>
                    </a:p>
                  </a:txBody>
                  <a:tcPr marL="73152" marR="73152" marT="27432" marB="27432" anchor="ctr">
                    <a:solidFill>
                      <a:srgbClr val="17243E"/>
                    </a:solidFill>
                  </a:tcPr>
                </a:tc>
                <a:tc>
                  <a:txBody>
                    <a:bodyPr wrap="square"/>
                    <a:lstStyle/>
                    <a:p>
                      <a:pPr algn="l"/>
                      <a:r>
                        <a:rPr sz="950" b="0">
                          <a:solidFill>
                            <a:srgbClr val="F2F6FF"/>
                          </a:solidFill>
                          <a:latin typeface="Calibri"/>
                        </a:rPr>
                        <a:t>manual reset to +5 V</a:t>
                      </a:r>
                    </a:p>
                  </a:txBody>
                  <a:tcPr marL="73152" marR="73152" marT="27432" marB="27432" anchor="ctr">
                    <a:solidFill>
                      <a:srgbClr val="17243E"/>
                    </a:solidFill>
                  </a:tcPr>
                </a:tc>
                <a:tc>
                  <a:txBody>
                    <a:bodyPr wrap="square"/>
                    <a:lstStyle/>
                    <a:p>
                      <a:pPr algn="l"/>
                      <a:r>
                        <a:rPr sz="950" b="0">
                          <a:solidFill>
                            <a:srgbClr val="F2F6FF"/>
                          </a:solidFill>
                          <a:latin typeface="Calibri"/>
                        </a:rPr>
                        <a:t>RST above 4 V when held</a:t>
                      </a:r>
                    </a:p>
                  </a:txBody>
                  <a:tcPr marL="73152" marR="73152" marT="27432" marB="27432" anchor="ctr">
                    <a:solidFill>
                      <a:srgbClr val="17243E"/>
                    </a:solidFill>
                  </a:tcPr>
                </a:tc>
              </a:tr>
              <a:tr h="259080">
                <a:tc>
                  <a:txBody>
                    <a:bodyPr wrap="square"/>
                    <a:lstStyle/>
                    <a:p>
                      <a:pPr algn="l"/>
                      <a:r>
                        <a:rPr sz="950" b="0">
                          <a:solidFill>
                            <a:srgbClr val="F2F6FF"/>
                          </a:solidFill>
                          <a:latin typeface="Calibri"/>
                        </a:rPr>
                        <a:t>EA strap</a:t>
                      </a:r>
                    </a:p>
                  </a:txBody>
                  <a:tcPr marL="73152" marR="73152" marT="27432" marB="27432" anchor="ctr">
                    <a:solidFill>
                      <a:srgbClr val="1E2E4E"/>
                    </a:solidFill>
                  </a:tcPr>
                </a:tc>
                <a:tc>
                  <a:txBody>
                    <a:bodyPr wrap="square"/>
                    <a:lstStyle/>
                    <a:p>
                      <a:pPr algn="l"/>
                      <a:r>
                        <a:rPr sz="950" b="0">
                          <a:solidFill>
                            <a:srgbClr val="F2F6FF"/>
                          </a:solidFill>
                          <a:latin typeface="Calibri"/>
                        </a:rPr>
                        <a:t>wire to +5 V</a:t>
                      </a:r>
                    </a:p>
                  </a:txBody>
                  <a:tcPr marL="73152" marR="73152" marT="27432" marB="27432" anchor="ctr">
                    <a:solidFill>
                      <a:srgbClr val="1E2E4E"/>
                    </a:solidFill>
                  </a:tcPr>
                </a:tc>
                <a:tc>
                  <a:txBody>
                    <a:bodyPr wrap="square"/>
                    <a:lstStyle/>
                    <a:p>
                      <a:pPr algn="l"/>
                      <a:r>
                        <a:rPr sz="950" b="0">
                          <a:solidFill>
                            <a:srgbClr val="F2F6FF"/>
                          </a:solidFill>
                          <a:latin typeface="Calibri"/>
                        </a:rPr>
                        <a:t>selects internal flash</a:t>
                      </a:r>
                    </a:p>
                  </a:txBody>
                  <a:tcPr marL="73152" marR="73152" marT="27432" marB="27432" anchor="ctr">
                    <a:solidFill>
                      <a:srgbClr val="1E2E4E"/>
                    </a:solidFill>
                  </a:tcPr>
                </a:tc>
                <a:tc>
                  <a:txBody>
                    <a:bodyPr wrap="square"/>
                    <a:lstStyle/>
                    <a:p>
                      <a:pPr algn="l"/>
                      <a:r>
                        <a:rPr sz="950" b="0">
                          <a:solidFill>
                            <a:srgbClr val="F2F6FF"/>
                          </a:solidFill>
                          <a:latin typeface="Calibri"/>
                        </a:rPr>
                        <a:t>5.00 V on pin 31</a:t>
                      </a:r>
                    </a:p>
                  </a:txBody>
                  <a:tcPr marL="73152" marR="73152" marT="27432" marB="27432" anchor="ctr">
                    <a:solidFill>
                      <a:srgbClr val="1E2E4E"/>
                    </a:solidFill>
                  </a:tcPr>
                </a:tc>
              </a:tr>
              <a:tr h="259080">
                <a:tc>
                  <a:txBody>
                    <a:bodyPr wrap="square"/>
                    <a:lstStyle/>
                    <a:p>
                      <a:pPr algn="l"/>
                      <a:r>
                        <a:rPr sz="950" b="0">
                          <a:solidFill>
                            <a:srgbClr val="F2F6FF"/>
                          </a:solidFill>
                          <a:latin typeface="Calibri"/>
                        </a:rPr>
                        <a:t>C1</a:t>
                      </a:r>
                    </a:p>
                  </a:txBody>
                  <a:tcPr marL="73152" marR="73152" marT="27432" marB="27432" anchor="ctr">
                    <a:solidFill>
                      <a:srgbClr val="17243E"/>
                    </a:solidFill>
                  </a:tcPr>
                </a:tc>
                <a:tc>
                  <a:txBody>
                    <a:bodyPr wrap="square"/>
                    <a:lstStyle/>
                    <a:p>
                      <a:pPr algn="l"/>
                      <a:r>
                        <a:rPr sz="950" b="0">
                          <a:solidFill>
                            <a:srgbClr val="F2F6FF"/>
                          </a:solidFill>
                          <a:latin typeface="Calibri"/>
                        </a:rPr>
                        <a:t>0.1 uF</a:t>
                      </a:r>
                    </a:p>
                  </a:txBody>
                  <a:tcPr marL="73152" marR="73152" marT="27432" marB="27432" anchor="ctr">
                    <a:solidFill>
                      <a:srgbClr val="17243E"/>
                    </a:solidFill>
                  </a:tcPr>
                </a:tc>
                <a:tc>
                  <a:txBody>
                    <a:bodyPr wrap="square"/>
                    <a:lstStyle/>
                    <a:p>
                      <a:pPr algn="l"/>
                      <a:r>
                        <a:rPr sz="950" b="0">
                          <a:solidFill>
                            <a:srgbClr val="F2F6FF"/>
                          </a:solidFill>
                          <a:latin typeface="Calibri"/>
                        </a:rPr>
                        <a:t>decoupling across pins 40 and 20</a:t>
                      </a:r>
                    </a:p>
                  </a:txBody>
                  <a:tcPr marL="73152" marR="73152" marT="27432" marB="27432" anchor="ctr">
                    <a:solidFill>
                      <a:srgbClr val="17243E"/>
                    </a:solidFill>
                  </a:tcPr>
                </a:tc>
                <a:tc>
                  <a:txBody>
                    <a:bodyPr wrap="square"/>
                    <a:lstStyle/>
                    <a:p>
                      <a:pPr algn="l"/>
                      <a:r>
                        <a:rPr sz="950" b="0">
                          <a:solidFill>
                            <a:srgbClr val="F2F6FF"/>
                          </a:solidFill>
                          <a:latin typeface="Calibri"/>
                        </a:rPr>
                        <a:t>5.00 V, no ripple spike</a:t>
                      </a:r>
                    </a:p>
                  </a:txBody>
                  <a:tcPr marL="73152" marR="73152" marT="27432" marB="27432" anchor="ctr">
                    <a:solidFill>
                      <a:srgbClr val="17243E"/>
                    </a:solidFill>
                  </a:tcPr>
                </a:tc>
              </a:tr>
              <a:tr h="259080">
                <a:tc>
                  <a:txBody>
                    <a:bodyPr wrap="square"/>
                    <a:lstStyle/>
                    <a:p>
                      <a:pPr algn="l"/>
                      <a:r>
                        <a:rPr sz="950" b="0">
                          <a:solidFill>
                            <a:srgbClr val="F2F6FF"/>
                          </a:solidFill>
                          <a:latin typeface="Calibri"/>
                        </a:rPr>
                        <a:t>ALE</a:t>
                      </a:r>
                    </a:p>
                  </a:txBody>
                  <a:tcPr marL="73152" marR="73152" marT="27432" marB="27432" anchor="ctr">
                    <a:solidFill>
                      <a:srgbClr val="1E2E4E"/>
                    </a:solidFill>
                  </a:tcPr>
                </a:tc>
                <a:tc>
                  <a:txBody>
                    <a:bodyPr wrap="square"/>
                    <a:lstStyle/>
                    <a:p>
                      <a:pPr algn="l"/>
                      <a:r>
                        <a:rPr sz="950" b="0">
                          <a:solidFill>
                            <a:srgbClr val="F2F6FF"/>
                          </a:solidFill>
                          <a:latin typeface="Calibri"/>
                        </a:rPr>
                        <a:t>output</a:t>
                      </a:r>
                    </a:p>
                  </a:txBody>
                  <a:tcPr marL="73152" marR="73152" marT="27432" marB="27432" anchor="ctr">
                    <a:solidFill>
                      <a:srgbClr val="1E2E4E"/>
                    </a:solidFill>
                  </a:tcPr>
                </a:tc>
                <a:tc>
                  <a:txBody>
                    <a:bodyPr wrap="square"/>
                    <a:lstStyle/>
                    <a:p>
                      <a:pPr algn="l"/>
                      <a:r>
                        <a:rPr sz="950" b="0">
                          <a:solidFill>
                            <a:srgbClr val="F2F6FF"/>
                          </a:solidFill>
                          <a:latin typeface="Calibri"/>
                        </a:rPr>
                        <a:t>clock divided by 6</a:t>
                      </a:r>
                    </a:p>
                  </a:txBody>
                  <a:tcPr marL="73152" marR="73152" marT="27432" marB="27432" anchor="ctr">
                    <a:solidFill>
                      <a:srgbClr val="1E2E4E"/>
                    </a:solidFill>
                  </a:tcPr>
                </a:tc>
                <a:tc>
                  <a:txBody>
                    <a:bodyPr wrap="square"/>
                    <a:lstStyle/>
                    <a:p>
                      <a:pPr algn="l"/>
                      <a:r>
                        <a:rPr sz="950" b="0">
                          <a:solidFill>
                            <a:srgbClr val="F2F6FF"/>
                          </a:solidFill>
                          <a:latin typeface="Calibri"/>
                        </a:rPr>
                        <a:t>1.843 MHz</a:t>
                      </a:r>
                    </a:p>
                  </a:txBody>
                  <a:tcPr marL="73152" marR="73152" marT="27432" marB="27432" anchor="ctr">
                    <a:solidFill>
                      <a:srgbClr val="1E2E4E"/>
                    </a:solidFill>
                  </a:tcPr>
                </a:tc>
              </a:tr>
            </a:tbl>
          </a:graphicData>
        </a:graphic>
      </p:graphicFrame>
      <p:sp>
        <p:nvSpPr>
          <p:cNvPr id="22" name="Rounded Rectangle 21"/>
          <p:cNvSpPr/>
          <p:nvPr/>
        </p:nvSpPr>
        <p:spPr>
          <a:xfrm>
            <a:off x="4251960" y="4206240"/>
            <a:ext cx="6803136" cy="1170432"/>
          </a:xfrm>
          <a:prstGeom prst="roundRect">
            <a:avLst>
              <a:gd name="adj" fmla="val 6000"/>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53128" y="4334255"/>
            <a:ext cx="6437376" cy="219456"/>
          </a:xfrm>
          <a:prstGeom prst="rect">
            <a:avLst/>
          </a:prstGeom>
          <a:noFill/>
        </p:spPr>
        <p:txBody>
          <a:bodyPr wrap="square" lIns="0" rIns="0" tIns="0" bIns="0" anchor="t">
            <a:spAutoFit/>
          </a:bodyPr>
          <a:lstStyle/>
          <a:p>
            <a:pPr algn="l">
              <a:lnSpc>
                <a:spcPct val="100000"/>
              </a:lnSpc>
              <a:spcAft>
                <a:spcPts val="0"/>
              </a:spcAft>
            </a:pPr>
            <a:r>
              <a:rPr sz="950" b="1" i="0">
                <a:solidFill>
                  <a:srgbClr val="6F81A5"/>
                </a:solidFill>
                <a:latin typeface="Calibri"/>
              </a:rPr>
              <a:t>TIMING</a:t>
            </a:r>
          </a:p>
        </p:txBody>
      </p:sp>
      <p:sp>
        <p:nvSpPr>
          <p:cNvPr id="24" name="TextBox 23"/>
          <p:cNvSpPr txBox="1"/>
          <p:nvPr/>
        </p:nvSpPr>
        <p:spPr>
          <a:xfrm>
            <a:off x="4453128" y="4590288"/>
            <a:ext cx="6437376" cy="694944"/>
          </a:xfrm>
          <a:prstGeom prst="rect">
            <a:avLst/>
          </a:prstGeom>
          <a:noFill/>
        </p:spPr>
        <p:txBody>
          <a:bodyPr wrap="square" lIns="0" rIns="0" tIns="0" bIns="0" anchor="t">
            <a:spAutoFit/>
          </a:bodyPr>
          <a:lstStyle/>
          <a:p>
            <a:pPr algn="l">
              <a:lnSpc>
                <a:spcPct val="114000"/>
              </a:lnSpc>
              <a:spcAft>
                <a:spcPts val="0"/>
              </a:spcAft>
            </a:pPr>
            <a:r>
              <a:rPr sz="1100" b="0" i="0">
                <a:solidFill>
                  <a:srgbClr val="CFE0FF"/>
                </a:solidFill>
                <a:latin typeface="Consolas"/>
              </a:rPr>
              <a:t>machine cycle = 12 oscillator periods</a:t>
            </a:r>
          </a:p>
          <a:p>
            <a:pPr algn="l">
              <a:lnSpc>
                <a:spcPct val="114000"/>
              </a:lnSpc>
              <a:spcAft>
                <a:spcPts val="0"/>
              </a:spcAft>
            </a:pPr>
            <a:r>
              <a:rPr sz="1100" b="0" i="0">
                <a:solidFill>
                  <a:srgbClr val="CFE0FF"/>
                </a:solidFill>
                <a:latin typeface="Consolas"/>
              </a:rPr>
              <a:t>Tcy = 12 / 11.0592 MHz = 1.0851 microseconds</a:t>
            </a:r>
          </a:p>
          <a:p>
            <a:pPr algn="l">
              <a:lnSpc>
                <a:spcPct val="114000"/>
              </a:lnSpc>
              <a:spcAft>
                <a:spcPts val="0"/>
              </a:spcAft>
            </a:pPr>
            <a:r>
              <a:rPr sz="1100" b="0" i="0">
                <a:solidFill>
                  <a:srgbClr val="CFE0FF"/>
                </a:solidFill>
                <a:latin typeface="Consolas"/>
              </a:rPr>
              <a:t>ALE = fosc / 6 = 1.8432 MHz  (fastest proof the device is running)</a:t>
            </a:r>
          </a:p>
        </p:txBody>
      </p:sp>
      <p:sp>
        <p:nvSpPr>
          <p:cNvPr id="25" name="Rounded Rectangle 24"/>
          <p:cNvSpPr/>
          <p:nvPr/>
        </p:nvSpPr>
        <p:spPr>
          <a:xfrm>
            <a:off x="868680" y="5138928"/>
            <a:ext cx="3017520" cy="1060704"/>
          </a:xfrm>
          <a:prstGeom prst="roundRect">
            <a:avLst>
              <a:gd name="adj" fmla="val 6000"/>
            </a:avLst>
          </a:prstGeom>
          <a:solidFill>
            <a:srgbClr val="1E2E4E"/>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5285232"/>
            <a:ext cx="2651760" cy="822960"/>
          </a:xfrm>
          <a:prstGeom prst="rect">
            <a:avLst/>
          </a:prstGeom>
          <a:noFill/>
        </p:spPr>
        <p:txBody>
          <a:bodyPr wrap="square" lIns="0" rIns="0" tIns="0" bIns="0" anchor="t">
            <a:spAutoFit/>
          </a:bodyPr>
          <a:lstStyle/>
          <a:p>
            <a:pPr algn="l">
              <a:lnSpc>
                <a:spcPct val="115000"/>
              </a:lnSpc>
              <a:spcAft>
                <a:spcPts val="300"/>
              </a:spcAft>
            </a:pPr>
            <a:r>
              <a:rPr sz="1200" b="1" i="0">
                <a:solidFill>
                  <a:srgbClr val="FFB454"/>
                </a:solidFill>
                <a:latin typeface="Calibri"/>
              </a:rPr>
              <a:t>Reset rule</a:t>
            </a:r>
          </a:p>
          <a:p>
            <a:pPr algn="l">
              <a:lnSpc>
                <a:spcPct val="115000"/>
              </a:lnSpc>
              <a:spcAft>
                <a:spcPts val="300"/>
              </a:spcAft>
            </a:pPr>
            <a:r>
              <a:rPr sz="1000" b="0" i="0">
                <a:solidFill>
                  <a:srgbClr val="A9B8D6"/>
                </a:solidFill>
                <a:latin typeface="Calibri"/>
              </a:rPr>
              <a:t>RST must stay above 1.2 V for at least two machine cycles, about 2.2 us.</a:t>
            </a:r>
            <a:br/>
            <a:r>
              <a:rPr sz="1000" b="0" i="0">
                <a:solidFill>
                  <a:srgbClr val="A9B8D6"/>
                </a:solidFill>
                <a:latin typeface="Calibri"/>
              </a:rPr>
              <a:t>The RC gives about 100 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SHARED BUS</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How one byte reaches one device</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The four steps every transfer follows, and why the shadow byte exists</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9</a:t>
            </a:r>
          </a:p>
        </p:txBody>
      </p:sp>
      <p:sp>
        <p:nvSpPr>
          <p:cNvPr id="11" name="Rounded Rectangle 10"/>
          <p:cNvSpPr/>
          <p:nvPr/>
        </p:nvSpPr>
        <p:spPr>
          <a:xfrm>
            <a:off x="566928" y="1645920"/>
            <a:ext cx="2606040" cy="21031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1645920"/>
            <a:ext cx="26060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1828800"/>
            <a:ext cx="548640" cy="365760"/>
          </a:xfrm>
          <a:prstGeom prst="rect">
            <a:avLst/>
          </a:prstGeom>
          <a:noFill/>
        </p:spPr>
        <p:txBody>
          <a:bodyPr wrap="square" lIns="0" rIns="0" tIns="0" bIns="0" anchor="t">
            <a:spAutoFit/>
          </a:bodyPr>
          <a:lstStyle/>
          <a:p>
            <a:pPr algn="l">
              <a:lnSpc>
                <a:spcPct val="100000"/>
              </a:lnSpc>
              <a:spcAft>
                <a:spcPts val="0"/>
              </a:spcAft>
            </a:pPr>
            <a:r>
              <a:rPr sz="2000" b="1" i="0">
                <a:solidFill>
                  <a:srgbClr val="2FE0C0"/>
                </a:solidFill>
                <a:latin typeface="Calibri"/>
              </a:rPr>
              <a:t>1</a:t>
            </a:r>
          </a:p>
        </p:txBody>
      </p:sp>
      <p:sp>
        <p:nvSpPr>
          <p:cNvPr id="14" name="TextBox 13"/>
          <p:cNvSpPr txBox="1"/>
          <p:nvPr/>
        </p:nvSpPr>
        <p:spPr>
          <a:xfrm>
            <a:off x="768096" y="2249424"/>
            <a:ext cx="2240280" cy="274320"/>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Place the byte</a:t>
            </a:r>
          </a:p>
        </p:txBody>
      </p:sp>
      <p:sp>
        <p:nvSpPr>
          <p:cNvPr id="15" name="TextBox 14"/>
          <p:cNvSpPr txBox="1"/>
          <p:nvPr/>
        </p:nvSpPr>
        <p:spPr>
          <a:xfrm>
            <a:off x="768096" y="2578608"/>
            <a:ext cx="2240280" cy="1051560"/>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BUS = value; the byte appears on P0.0 to P0.7 and is copied into bus_shadow.</a:t>
            </a:r>
          </a:p>
        </p:txBody>
      </p:sp>
      <p:sp>
        <p:nvSpPr>
          <p:cNvPr id="16" name="Rounded Rectangle 15"/>
          <p:cNvSpPr/>
          <p:nvPr/>
        </p:nvSpPr>
        <p:spPr>
          <a:xfrm>
            <a:off x="3392424" y="1645920"/>
            <a:ext cx="2606040" cy="21031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2424" y="1645920"/>
            <a:ext cx="2606040" cy="41148"/>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1828800"/>
            <a:ext cx="548640" cy="365760"/>
          </a:xfrm>
          <a:prstGeom prst="rect">
            <a:avLst/>
          </a:prstGeom>
          <a:noFill/>
        </p:spPr>
        <p:txBody>
          <a:bodyPr wrap="square" lIns="0" rIns="0" tIns="0" bIns="0" anchor="t">
            <a:spAutoFit/>
          </a:bodyPr>
          <a:lstStyle/>
          <a:p>
            <a:pPr algn="l">
              <a:lnSpc>
                <a:spcPct val="100000"/>
              </a:lnSpc>
              <a:spcAft>
                <a:spcPts val="0"/>
              </a:spcAft>
            </a:pPr>
            <a:r>
              <a:rPr sz="2000" b="1" i="0">
                <a:solidFill>
                  <a:srgbClr val="FFB454"/>
                </a:solidFill>
                <a:latin typeface="Calibri"/>
              </a:rPr>
              <a:t>2</a:t>
            </a:r>
          </a:p>
        </p:txBody>
      </p:sp>
      <p:sp>
        <p:nvSpPr>
          <p:cNvPr id="19" name="TextBox 18"/>
          <p:cNvSpPr txBox="1"/>
          <p:nvPr/>
        </p:nvSpPr>
        <p:spPr>
          <a:xfrm>
            <a:off x="3593592" y="2249424"/>
            <a:ext cx="2240280" cy="274320"/>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Disable interrupts</a:t>
            </a:r>
          </a:p>
        </p:txBody>
      </p:sp>
      <p:sp>
        <p:nvSpPr>
          <p:cNvPr id="20" name="TextBox 19"/>
          <p:cNvSpPr txBox="1"/>
          <p:nvPr/>
        </p:nvSpPr>
        <p:spPr>
          <a:xfrm>
            <a:off x="3593592" y="2578608"/>
            <a:ext cx="2240280" cy="1051560"/>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EA = 0, so the 5 ms display refresh cannot overwrite the bus half way through.</a:t>
            </a:r>
          </a:p>
        </p:txBody>
      </p:sp>
      <p:sp>
        <p:nvSpPr>
          <p:cNvPr id="21" name="Rounded Rectangle 20"/>
          <p:cNvSpPr/>
          <p:nvPr/>
        </p:nvSpPr>
        <p:spPr>
          <a:xfrm>
            <a:off x="6217920" y="1645920"/>
            <a:ext cx="2606040" cy="21031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645920"/>
            <a:ext cx="26060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1828800"/>
            <a:ext cx="548640" cy="365760"/>
          </a:xfrm>
          <a:prstGeom prst="rect">
            <a:avLst/>
          </a:prstGeom>
          <a:noFill/>
        </p:spPr>
        <p:txBody>
          <a:bodyPr wrap="square" lIns="0" rIns="0" tIns="0" bIns="0" anchor="t">
            <a:spAutoFit/>
          </a:bodyPr>
          <a:lstStyle/>
          <a:p>
            <a:pPr algn="l">
              <a:lnSpc>
                <a:spcPct val="100000"/>
              </a:lnSpc>
              <a:spcAft>
                <a:spcPts val="0"/>
              </a:spcAft>
            </a:pPr>
            <a:r>
              <a:rPr sz="2000" b="1" i="0">
                <a:solidFill>
                  <a:srgbClr val="2FE0C0"/>
                </a:solidFill>
                <a:latin typeface="Calibri"/>
              </a:rPr>
              <a:t>3</a:t>
            </a:r>
          </a:p>
        </p:txBody>
      </p:sp>
      <p:sp>
        <p:nvSpPr>
          <p:cNvPr id="24" name="TextBox 23"/>
          <p:cNvSpPr txBox="1"/>
          <p:nvPr/>
        </p:nvSpPr>
        <p:spPr>
          <a:xfrm>
            <a:off x="6419088" y="2249424"/>
            <a:ext cx="2240280" cy="274320"/>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Pulse the enable</a:t>
            </a:r>
          </a:p>
        </p:txBody>
      </p:sp>
      <p:sp>
        <p:nvSpPr>
          <p:cNvPr id="25" name="TextBox 24"/>
          <p:cNvSpPr txBox="1"/>
          <p:nvPr/>
        </p:nvSpPr>
        <p:spPr>
          <a:xfrm>
            <a:off x="6419088" y="2578608"/>
            <a:ext cx="2240280" cy="1051560"/>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One strobe line on port 2 goes high for about 2.7 us. Only the device wired to that strobe captures the byte.</a:t>
            </a:r>
          </a:p>
        </p:txBody>
      </p:sp>
      <p:sp>
        <p:nvSpPr>
          <p:cNvPr id="26" name="Rounded Rectangle 25"/>
          <p:cNvSpPr/>
          <p:nvPr/>
        </p:nvSpPr>
        <p:spPr>
          <a:xfrm>
            <a:off x="9043415" y="1645920"/>
            <a:ext cx="2606040" cy="21031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43415" y="1645920"/>
            <a:ext cx="26060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44584" y="1828800"/>
            <a:ext cx="548640" cy="365760"/>
          </a:xfrm>
          <a:prstGeom prst="rect">
            <a:avLst/>
          </a:prstGeom>
          <a:noFill/>
        </p:spPr>
        <p:txBody>
          <a:bodyPr wrap="square" lIns="0" rIns="0" tIns="0" bIns="0" anchor="t">
            <a:spAutoFit/>
          </a:bodyPr>
          <a:lstStyle/>
          <a:p>
            <a:pPr algn="l">
              <a:lnSpc>
                <a:spcPct val="100000"/>
              </a:lnSpc>
              <a:spcAft>
                <a:spcPts val="0"/>
              </a:spcAft>
            </a:pPr>
            <a:r>
              <a:rPr sz="2000" b="1" i="0">
                <a:solidFill>
                  <a:srgbClr val="2FE0C0"/>
                </a:solidFill>
                <a:latin typeface="Calibri"/>
              </a:rPr>
              <a:t>4</a:t>
            </a:r>
          </a:p>
        </p:txBody>
      </p:sp>
      <p:sp>
        <p:nvSpPr>
          <p:cNvPr id="29" name="TextBox 28"/>
          <p:cNvSpPr txBox="1"/>
          <p:nvPr/>
        </p:nvSpPr>
        <p:spPr>
          <a:xfrm>
            <a:off x="9244584" y="2249424"/>
            <a:ext cx="2240280" cy="274320"/>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Restore the bus</a:t>
            </a:r>
          </a:p>
        </p:txBody>
      </p:sp>
      <p:sp>
        <p:nvSpPr>
          <p:cNvPr id="30" name="TextBox 29"/>
          <p:cNvSpPr txBox="1"/>
          <p:nvPr/>
        </p:nvSpPr>
        <p:spPr>
          <a:xfrm>
            <a:off x="9244584" y="2578608"/>
            <a:ext cx="2240280" cy="1051560"/>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BUS = bus_shadow, then EA is restored. The other three devices never saw a strobe, so they are unaffected.</a:t>
            </a:r>
          </a:p>
        </p:txBody>
      </p:sp>
      <p:sp>
        <p:nvSpPr>
          <p:cNvPr id="31" name="Rounded Rectangle 30"/>
          <p:cNvSpPr/>
          <p:nvPr/>
        </p:nvSpPr>
        <p:spPr>
          <a:xfrm>
            <a:off x="566928" y="3931920"/>
            <a:ext cx="5440680" cy="2267712"/>
          </a:xfrm>
          <a:prstGeom prst="roundRect">
            <a:avLst>
              <a:gd name="adj" fmla="val 6000"/>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059935"/>
            <a:ext cx="5074920" cy="219456"/>
          </a:xfrm>
          <a:prstGeom prst="rect">
            <a:avLst/>
          </a:prstGeom>
          <a:noFill/>
        </p:spPr>
        <p:txBody>
          <a:bodyPr wrap="square" lIns="0" rIns="0" tIns="0" bIns="0" anchor="t">
            <a:spAutoFit/>
          </a:bodyPr>
          <a:lstStyle/>
          <a:p>
            <a:pPr algn="l">
              <a:lnSpc>
                <a:spcPct val="100000"/>
              </a:lnSpc>
              <a:spcAft>
                <a:spcPts val="0"/>
              </a:spcAft>
            </a:pPr>
            <a:r>
              <a:rPr sz="950" b="1" i="0">
                <a:solidFill>
                  <a:srgbClr val="6F81A5"/>
                </a:solidFill>
                <a:latin typeface="Calibri"/>
              </a:rPr>
              <a:t>firmware/inc/board.h</a:t>
            </a:r>
          </a:p>
        </p:txBody>
      </p:sp>
      <p:sp>
        <p:nvSpPr>
          <p:cNvPr id="33" name="TextBox 32"/>
          <p:cNvSpPr txBox="1"/>
          <p:nvPr/>
        </p:nvSpPr>
        <p:spPr>
          <a:xfrm>
            <a:off x="768096" y="4315968"/>
            <a:ext cx="5074920" cy="1792224"/>
          </a:xfrm>
          <a:prstGeom prst="rect">
            <a:avLst/>
          </a:prstGeom>
          <a:noFill/>
        </p:spPr>
        <p:txBody>
          <a:bodyPr wrap="square" lIns="0" rIns="0" tIns="0" bIns="0" anchor="t">
            <a:spAutoFit/>
          </a:bodyPr>
          <a:lstStyle/>
          <a:p>
            <a:pPr algn="l">
              <a:lnSpc>
                <a:spcPct val="114000"/>
              </a:lnSpc>
              <a:spcAft>
                <a:spcPts val="0"/>
              </a:spcAft>
            </a:pPr>
            <a:r>
              <a:rPr sz="900" b="0" i="0">
                <a:solidFill>
                  <a:srgbClr val="CFE0FF"/>
                </a:solidFill>
                <a:latin typeface="Consolas"/>
              </a:rPr>
              <a:t>void led_write(unsigned char v)</a:t>
            </a:r>
          </a:p>
          <a:p>
            <a:pPr algn="l">
              <a:lnSpc>
                <a:spcPct val="114000"/>
              </a:lnSpc>
              <a:spcAft>
                <a:spcPts val="0"/>
              </a:spcAft>
            </a:pPr>
            <a:r>
              <a:rPr sz="900" b="0" i="0">
                <a:solidFill>
                  <a:srgbClr val="CFE0FF"/>
                </a:solidFill>
                <a:latin typeface="Consolas"/>
              </a:rPr>
              <a:t>{</a:t>
            </a:r>
          </a:p>
          <a:p>
            <a:pPr algn="l">
              <a:lnSpc>
                <a:spcPct val="114000"/>
              </a:lnSpc>
              <a:spcAft>
                <a:spcPts val="0"/>
              </a:spcAft>
            </a:pPr>
            <a:r>
              <a:rPr sz="900" b="0" i="0">
                <a:solidFill>
                  <a:srgbClr val="CFE0FF"/>
                </a:solidFill>
                <a:latin typeface="Consolas"/>
              </a:rPr>
              <a:t>    unsigned char ea_state;</a:t>
            </a:r>
          </a:p>
          <a:p>
            <a:pPr algn="l">
              <a:lnSpc>
                <a:spcPct val="114000"/>
              </a:lnSpc>
              <a:spcAft>
                <a:spcPts val="0"/>
              </a:spcAft>
            </a:pPr>
            <a:r>
              <a:rPr sz="900" b="0" i="0">
                <a:solidFill>
                  <a:srgbClr val="CFE0FF"/>
                </a:solidFill>
                <a:latin typeface="Consolas"/>
              </a:rPr>
              <a:t>    ea_state = EA;</a:t>
            </a:r>
          </a:p>
          <a:p>
            <a:pPr algn="l">
              <a:lnSpc>
                <a:spcPct val="114000"/>
              </a:lnSpc>
              <a:spcAft>
                <a:spcPts val="0"/>
              </a:spcAft>
            </a:pPr>
            <a:r>
              <a:rPr sz="900" b="0" i="0">
                <a:solidFill>
                  <a:srgbClr val="CFE0FF"/>
                </a:solidFill>
                <a:latin typeface="Consolas"/>
              </a:rPr>
              <a:t>    EA = 0;</a:t>
            </a:r>
          </a:p>
          <a:p>
            <a:pPr algn="l">
              <a:lnSpc>
                <a:spcPct val="114000"/>
              </a:lnSpc>
              <a:spcAft>
                <a:spcPts val="0"/>
              </a:spcAft>
            </a:pPr>
            <a:r>
              <a:rPr sz="900" b="0" i="0">
                <a:solidFill>
                  <a:srgbClr val="CFE0FF"/>
                </a:solidFill>
                <a:latin typeface="Consolas"/>
              </a:rPr>
              <a:t>    bus_put(v);</a:t>
            </a:r>
          </a:p>
          <a:p>
            <a:pPr algn="l">
              <a:lnSpc>
                <a:spcPct val="114000"/>
              </a:lnSpc>
              <a:spcAft>
                <a:spcPts val="0"/>
              </a:spcAft>
            </a:pPr>
            <a:r>
              <a:rPr sz="900" b="0" i="0">
                <a:solidFill>
                  <a:srgbClr val="CFE0FF"/>
                </a:solidFill>
                <a:latin typeface="Consolas"/>
              </a:rPr>
              <a:t>    LED_LE = 1;</a:t>
            </a:r>
          </a:p>
          <a:p>
            <a:pPr algn="l">
              <a:lnSpc>
                <a:spcPct val="114000"/>
              </a:lnSpc>
              <a:spcAft>
                <a:spcPts val="0"/>
              </a:spcAft>
            </a:pPr>
            <a:r>
              <a:rPr sz="900" b="0" i="0">
                <a:solidFill>
                  <a:srgbClr val="CFE0FF"/>
                </a:solidFill>
                <a:latin typeface="Consolas"/>
              </a:rPr>
              <a:t>    delay_short();</a:t>
            </a:r>
          </a:p>
          <a:p>
            <a:pPr algn="l">
              <a:lnSpc>
                <a:spcPct val="114000"/>
              </a:lnSpc>
              <a:spcAft>
                <a:spcPts val="0"/>
              </a:spcAft>
            </a:pPr>
            <a:r>
              <a:rPr sz="900" b="0" i="0">
                <a:solidFill>
                  <a:srgbClr val="CFE0FF"/>
                </a:solidFill>
                <a:latin typeface="Consolas"/>
              </a:rPr>
              <a:t>    LED_LE = 0;</a:t>
            </a:r>
          </a:p>
          <a:p>
            <a:pPr algn="l">
              <a:lnSpc>
                <a:spcPct val="114000"/>
              </a:lnSpc>
              <a:spcAft>
                <a:spcPts val="0"/>
              </a:spcAft>
            </a:pPr>
            <a:r>
              <a:rPr sz="900" b="0" i="0">
                <a:solidFill>
                  <a:srgbClr val="CFE0FF"/>
                </a:solidFill>
                <a:latin typeface="Consolas"/>
              </a:rPr>
              <a:t>    EA = ea_state;</a:t>
            </a:r>
          </a:p>
          <a:p>
            <a:pPr algn="l">
              <a:lnSpc>
                <a:spcPct val="114000"/>
              </a:lnSpc>
              <a:spcAft>
                <a:spcPts val="0"/>
              </a:spcAft>
            </a:pPr>
            <a:r>
              <a:rPr sz="900" b="0" i="0">
                <a:solidFill>
                  <a:srgbClr val="CFE0FF"/>
                </a:solidFill>
                <a:latin typeface="Consolas"/>
              </a:rPr>
              <a:t>}</a:t>
            </a:r>
          </a:p>
        </p:txBody>
      </p:sp>
      <p:sp>
        <p:nvSpPr>
          <p:cNvPr id="34" name="Rounded Rectangle 33"/>
          <p:cNvSpPr/>
          <p:nvPr/>
        </p:nvSpPr>
        <p:spPr>
          <a:xfrm>
            <a:off x="6181344" y="3950208"/>
            <a:ext cx="5440680" cy="2139696"/>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81344" y="3950208"/>
            <a:ext cx="50292" cy="2139696"/>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19088" y="4114800"/>
            <a:ext cx="5029200"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Why the shadow byte is not optional</a:t>
            </a:r>
          </a:p>
        </p:txBody>
      </p:sp>
      <p:sp>
        <p:nvSpPr>
          <p:cNvPr id="37" name="TextBox 36"/>
          <p:cNvSpPr txBox="1"/>
          <p:nvPr/>
        </p:nvSpPr>
        <p:spPr>
          <a:xfrm>
            <a:off x="6419088" y="4498848"/>
            <a:ext cx="5029200" cy="1453895"/>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Port 0 is quasi-bidirectional and open drain. Reading back a latch output is not possible, so the last value written is kept in a variable.</a:t>
            </a:r>
            <a:br/>
            <a:br/>
            <a:r>
              <a:rPr sz="1050" b="0" i="0">
                <a:solidFill>
                  <a:srgbClr val="A9B8D6"/>
                </a:solidFill>
                <a:latin typeface="Calibri"/>
              </a:rPr>
              <a:t>The display refresh interrupt writes segment patterns to the same bus every 5 ms. Without saving, restoring and gating, an interrupt landing between the byte and the strobe would load the wrong value into the LED latch and produce visible glitches.</a:t>
            </a:r>
            <a:br/>
            <a:br/>
            <a:r>
              <a:rPr sz="1050" b="0" i="0">
                <a:solidFill>
                  <a:srgbClr val="A9B8D6"/>
                </a:solidFill>
                <a:latin typeface="Calibri"/>
              </a:rPr>
              <a:t>The same pattern is used by seg_latch, lcd_write and adc_read.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OUTPUT STAGE</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Eight LED bank behind a 74HC573 latch</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Active high outputs, one current limiting resistor per LED</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10</a:t>
            </a:r>
          </a:p>
        </p:txBody>
      </p:sp>
      <p:sp>
        <p:nvSpPr>
          <p:cNvPr id="11" name="Rounded Rectangle 10"/>
          <p:cNvSpPr/>
          <p:nvPr/>
        </p:nvSpPr>
        <p:spPr>
          <a:xfrm>
            <a:off x="868680" y="2011680"/>
            <a:ext cx="2331720" cy="786384"/>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2157984"/>
            <a:ext cx="2185415" cy="274320"/>
          </a:xfrm>
          <a:prstGeom prst="rect">
            <a:avLst/>
          </a:prstGeom>
          <a:noFill/>
        </p:spPr>
        <p:txBody>
          <a:bodyPr wrap="square" lIns="0" rIns="0" tIns="0" bIns="0" anchor="t">
            <a:spAutoFit/>
          </a:bodyPr>
          <a:lstStyle/>
          <a:p>
            <a:pPr algn="ctr">
              <a:lnSpc>
                <a:spcPct val="100000"/>
              </a:lnSpc>
              <a:spcAft>
                <a:spcPts val="0"/>
              </a:spcAft>
            </a:pPr>
            <a:r>
              <a:rPr sz="1150" b="1" i="0">
                <a:solidFill>
                  <a:srgbClr val="F2F6FF"/>
                </a:solidFill>
                <a:latin typeface="Calibri"/>
              </a:rPr>
              <a:t>P0 bus</a:t>
            </a:r>
          </a:p>
        </p:txBody>
      </p:sp>
      <p:sp>
        <p:nvSpPr>
          <p:cNvPr id="13" name="TextBox 12"/>
          <p:cNvSpPr txBox="1"/>
          <p:nvPr/>
        </p:nvSpPr>
        <p:spPr>
          <a:xfrm>
            <a:off x="941832" y="2432304"/>
            <a:ext cx="2185415"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BD0-BD7</a:t>
            </a:r>
          </a:p>
        </p:txBody>
      </p:sp>
      <p:cxnSp>
        <p:nvCxnSpPr>
          <p:cNvPr id="14" name="Connector 13"/>
          <p:cNvCxnSpPr/>
          <p:nvPr/>
        </p:nvCxnSpPr>
        <p:spPr>
          <a:xfrm>
            <a:off x="3200400" y="2404872"/>
            <a:ext cx="777239" cy="0"/>
          </a:xfrm>
          <a:prstGeom prst="line">
            <a:avLst/>
          </a:prstGeom>
          <a:ln w="1905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77639" y="1810512"/>
            <a:ext cx="2468880" cy="1188720"/>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50791" y="2157984"/>
            <a:ext cx="2322576"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2F6FF"/>
                </a:solidFill>
                <a:latin typeface="Calibri"/>
              </a:rPr>
              <a:t>U2 74HC573</a:t>
            </a:r>
          </a:p>
        </p:txBody>
      </p:sp>
      <p:sp>
        <p:nvSpPr>
          <p:cNvPr id="17" name="TextBox 16"/>
          <p:cNvSpPr txBox="1"/>
          <p:nvPr/>
        </p:nvSpPr>
        <p:spPr>
          <a:xfrm>
            <a:off x="4050791" y="2432303"/>
            <a:ext cx="232257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LE &lt;- P2.0, OE tied low</a:t>
            </a:r>
          </a:p>
        </p:txBody>
      </p:sp>
      <p:cxnSp>
        <p:nvCxnSpPr>
          <p:cNvPr id="18" name="Connector 17"/>
          <p:cNvCxnSpPr/>
          <p:nvPr/>
        </p:nvCxnSpPr>
        <p:spPr>
          <a:xfrm>
            <a:off x="6446520" y="2404872"/>
            <a:ext cx="777240" cy="0"/>
          </a:xfrm>
          <a:prstGeom prst="line">
            <a:avLst/>
          </a:prstGeom>
          <a:ln w="1905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223760" y="1810512"/>
            <a:ext cx="2011680" cy="1188720"/>
          </a:xfrm>
          <a:prstGeom prst="roundRect">
            <a:avLst>
              <a:gd name="adj" fmla="val 6000"/>
            </a:avLst>
          </a:prstGeom>
          <a:solidFill>
            <a:srgbClr val="1E2E4E"/>
          </a:solidFill>
          <a:ln w="12700">
            <a:solidFill>
              <a:srgbClr val="6F81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96912" y="2157984"/>
            <a:ext cx="1865376"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2F6FF"/>
                </a:solidFill>
                <a:latin typeface="Calibri"/>
              </a:rPr>
              <a:t>RN3</a:t>
            </a:r>
          </a:p>
        </p:txBody>
      </p:sp>
      <p:sp>
        <p:nvSpPr>
          <p:cNvPr id="21" name="TextBox 20"/>
          <p:cNvSpPr txBox="1"/>
          <p:nvPr/>
        </p:nvSpPr>
        <p:spPr>
          <a:xfrm>
            <a:off x="7296912" y="2432303"/>
            <a:ext cx="186537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470 Ohm x 8</a:t>
            </a:r>
          </a:p>
        </p:txBody>
      </p:sp>
      <p:cxnSp>
        <p:nvCxnSpPr>
          <p:cNvPr id="22" name="Connector 21"/>
          <p:cNvCxnSpPr/>
          <p:nvPr/>
        </p:nvCxnSpPr>
        <p:spPr>
          <a:xfrm>
            <a:off x="9235440" y="2404872"/>
            <a:ext cx="777240" cy="0"/>
          </a:xfrm>
          <a:prstGeom prst="line">
            <a:avLst/>
          </a:prstGeom>
          <a:ln w="1905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012680" y="1810512"/>
            <a:ext cx="1600200" cy="1188720"/>
          </a:xfrm>
          <a:prstGeom prst="roundRect">
            <a:avLst>
              <a:gd name="adj" fmla="val 6000"/>
            </a:avLst>
          </a:prstGeom>
          <a:solidFill>
            <a:srgbClr val="1E2E4E"/>
          </a:solidFill>
          <a:ln w="12700">
            <a:solidFill>
              <a:srgbClr val="6F81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85832" y="2157984"/>
            <a:ext cx="1453896"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2F6FF"/>
                </a:solidFill>
                <a:latin typeface="Calibri"/>
              </a:rPr>
              <a:t>8 LEDs</a:t>
            </a:r>
          </a:p>
        </p:txBody>
      </p:sp>
      <p:sp>
        <p:nvSpPr>
          <p:cNvPr id="25" name="TextBox 24"/>
          <p:cNvSpPr txBox="1"/>
          <p:nvPr/>
        </p:nvSpPr>
        <p:spPr>
          <a:xfrm>
            <a:off x="10085832" y="2432303"/>
            <a:ext cx="145389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to GND</a:t>
            </a:r>
          </a:p>
        </p:txBody>
      </p:sp>
      <p:graphicFrame>
        <p:nvGraphicFramePr>
          <p:cNvPr id="26" name="Table 25"/>
          <p:cNvGraphicFramePr>
            <a:graphicFrameLocks noGrp="1"/>
          </p:cNvGraphicFramePr>
          <p:nvPr/>
        </p:nvGraphicFramePr>
        <p:xfrm>
          <a:off x="868680" y="3310128"/>
          <a:ext cx="6903720" cy="1920240"/>
        </p:xfrm>
        <a:graphic>
          <a:graphicData uri="http://schemas.openxmlformats.org/drawingml/2006/table">
            <a:tbl>
              <a:tblPr firstRow="1">
                <a:tableStyleId>{5C22544A-7EE6-4342-B048-85BDC9FD1C3A}</a:tableStyleId>
              </a:tblPr>
              <a:tblGrid>
                <a:gridCol w="1737360"/>
                <a:gridCol w="1463040"/>
                <a:gridCol w="3703320"/>
              </a:tblGrid>
              <a:tr h="274320">
                <a:tc>
                  <a:txBody>
                    <a:bodyPr wrap="square"/>
                    <a:lstStyle/>
                    <a:p>
                      <a:pPr algn="l"/>
                      <a:r>
                        <a:rPr sz="1000" b="1">
                          <a:solidFill>
                            <a:srgbClr val="CFE0FF"/>
                          </a:solidFill>
                          <a:latin typeface="Calibri"/>
                        </a:rPr>
                        <a:t>Parameter</a:t>
                      </a:r>
                    </a:p>
                  </a:txBody>
                  <a:tcPr marL="73152" marR="73152" marT="27432" marB="27432" anchor="ctr">
                    <a:solidFill>
                      <a:srgbClr val="2A3C63"/>
                    </a:solidFill>
                  </a:tcPr>
                </a:tc>
                <a:tc>
                  <a:txBody>
                    <a:bodyPr wrap="square"/>
                    <a:lstStyle/>
                    <a:p>
                      <a:pPr algn="l"/>
                      <a:r>
                        <a:rPr sz="1000" b="1">
                          <a:solidFill>
                            <a:srgbClr val="CFE0FF"/>
                          </a:solidFill>
                          <a:latin typeface="Calibri"/>
                        </a:rPr>
                        <a:t>Value</a:t>
                      </a:r>
                    </a:p>
                  </a:txBody>
                  <a:tcPr marL="73152" marR="73152" marT="27432" marB="27432" anchor="ctr">
                    <a:solidFill>
                      <a:srgbClr val="2A3C63"/>
                    </a:solidFill>
                  </a:tcPr>
                </a:tc>
                <a:tc>
                  <a:txBody>
                    <a:bodyPr wrap="square"/>
                    <a:lstStyle/>
                    <a:p>
                      <a:pPr algn="l"/>
                      <a:r>
                        <a:rPr sz="1000" b="1">
                          <a:solidFill>
                            <a:srgbClr val="CFE0FF"/>
                          </a:solidFill>
                          <a:latin typeface="Calibri"/>
                        </a:rPr>
                        <a:t>Reason</a:t>
                      </a:r>
                    </a:p>
                  </a:txBody>
                  <a:tcPr marL="73152" marR="73152" marT="27432" marB="27432" anchor="ctr">
                    <a:solidFill>
                      <a:srgbClr val="2A3C63"/>
                    </a:solidFill>
                  </a:tcPr>
                </a:tc>
              </a:tr>
              <a:tr h="274320">
                <a:tc>
                  <a:txBody>
                    <a:bodyPr wrap="square"/>
                    <a:lstStyle/>
                    <a:p>
                      <a:pPr algn="l"/>
                      <a:r>
                        <a:rPr sz="1000" b="0">
                          <a:solidFill>
                            <a:srgbClr val="F2F6FF"/>
                          </a:solidFill>
                          <a:latin typeface="Calibri"/>
                        </a:rPr>
                        <a:t>Latch type</a:t>
                      </a:r>
                    </a:p>
                  </a:txBody>
                  <a:tcPr marL="73152" marR="73152" marT="27432" marB="27432" anchor="ctr">
                    <a:solidFill>
                      <a:srgbClr val="17243E"/>
                    </a:solidFill>
                  </a:tcPr>
                </a:tc>
                <a:tc>
                  <a:txBody>
                    <a:bodyPr wrap="square"/>
                    <a:lstStyle/>
                    <a:p>
                      <a:pPr algn="l"/>
                      <a:r>
                        <a:rPr sz="1000" b="0">
                          <a:solidFill>
                            <a:srgbClr val="F2F6FF"/>
                          </a:solidFill>
                          <a:latin typeface="Calibri"/>
                        </a:rPr>
                        <a:t>74HC573</a:t>
                      </a:r>
                    </a:p>
                  </a:txBody>
                  <a:tcPr marL="73152" marR="73152" marT="27432" marB="27432" anchor="ctr">
                    <a:solidFill>
                      <a:srgbClr val="17243E"/>
                    </a:solidFill>
                  </a:tcPr>
                </a:tc>
                <a:tc>
                  <a:txBody>
                    <a:bodyPr wrap="square"/>
                    <a:lstStyle/>
                    <a:p>
                      <a:pPr algn="l"/>
                      <a:r>
                        <a:rPr sz="1000" b="0">
                          <a:solidFill>
                            <a:srgbClr val="F2F6FF"/>
                          </a:solidFill>
                          <a:latin typeface="Calibri"/>
                        </a:rPr>
                        <a:t>transparent latch, CMOS inputs suit the port 0 pull-ups</a:t>
                      </a:r>
                    </a:p>
                  </a:txBody>
                  <a:tcPr marL="73152" marR="73152" marT="27432" marB="27432" anchor="ctr">
                    <a:solidFill>
                      <a:srgbClr val="17243E"/>
                    </a:solidFill>
                  </a:tcPr>
                </a:tc>
              </a:tr>
              <a:tr h="274320">
                <a:tc>
                  <a:txBody>
                    <a:bodyPr wrap="square"/>
                    <a:lstStyle/>
                    <a:p>
                      <a:pPr algn="l"/>
                      <a:r>
                        <a:rPr sz="1000" b="0">
                          <a:solidFill>
                            <a:srgbClr val="F2F6FF"/>
                          </a:solidFill>
                          <a:latin typeface="Calibri"/>
                        </a:rPr>
                        <a:t>Latch enable</a:t>
                      </a:r>
                    </a:p>
                  </a:txBody>
                  <a:tcPr marL="73152" marR="73152" marT="27432" marB="27432" anchor="ctr">
                    <a:solidFill>
                      <a:srgbClr val="1E2E4E"/>
                    </a:solidFill>
                  </a:tcPr>
                </a:tc>
                <a:tc>
                  <a:txBody>
                    <a:bodyPr wrap="square"/>
                    <a:lstStyle/>
                    <a:p>
                      <a:pPr algn="l"/>
                      <a:r>
                        <a:rPr sz="1000" b="0">
                          <a:solidFill>
                            <a:srgbClr val="F2F6FF"/>
                          </a:solidFill>
                          <a:latin typeface="Calibri"/>
                        </a:rPr>
                        <a:t>P2.0</a:t>
                      </a:r>
                    </a:p>
                  </a:txBody>
                  <a:tcPr marL="73152" marR="73152" marT="27432" marB="27432" anchor="ctr">
                    <a:solidFill>
                      <a:srgbClr val="1E2E4E"/>
                    </a:solidFill>
                  </a:tcPr>
                </a:tc>
                <a:tc>
                  <a:txBody>
                    <a:bodyPr wrap="square"/>
                    <a:lstStyle/>
                    <a:p>
                      <a:pPr algn="l"/>
                      <a:r>
                        <a:rPr sz="1000" b="0">
                          <a:solidFill>
                            <a:srgbClr val="F2F6FF"/>
                          </a:solidFill>
                          <a:latin typeface="Calibri"/>
                        </a:rPr>
                        <a:t>rising edge captures the byte</a:t>
                      </a:r>
                    </a:p>
                  </a:txBody>
                  <a:tcPr marL="73152" marR="73152" marT="27432" marB="27432" anchor="ctr">
                    <a:solidFill>
                      <a:srgbClr val="1E2E4E"/>
                    </a:solidFill>
                  </a:tcPr>
                </a:tc>
              </a:tr>
              <a:tr h="274320">
                <a:tc>
                  <a:txBody>
                    <a:bodyPr wrap="square"/>
                    <a:lstStyle/>
                    <a:p>
                      <a:pPr algn="l"/>
                      <a:r>
                        <a:rPr sz="1000" b="0">
                          <a:solidFill>
                            <a:srgbClr val="F2F6FF"/>
                          </a:solidFill>
                          <a:latin typeface="Calibri"/>
                        </a:rPr>
                        <a:t>Output enable</a:t>
                      </a:r>
                    </a:p>
                  </a:txBody>
                  <a:tcPr marL="73152" marR="73152" marT="27432" marB="27432" anchor="ctr">
                    <a:solidFill>
                      <a:srgbClr val="17243E"/>
                    </a:solidFill>
                  </a:tcPr>
                </a:tc>
                <a:tc>
                  <a:txBody>
                    <a:bodyPr wrap="square"/>
                    <a:lstStyle/>
                    <a:p>
                      <a:pPr algn="l"/>
                      <a:r>
                        <a:rPr sz="1000" b="0">
                          <a:solidFill>
                            <a:srgbClr val="F2F6FF"/>
                          </a:solidFill>
                          <a:latin typeface="Calibri"/>
                        </a:rPr>
                        <a:t>tied to GND</a:t>
                      </a:r>
                    </a:p>
                  </a:txBody>
                  <a:tcPr marL="73152" marR="73152" marT="27432" marB="27432" anchor="ctr">
                    <a:solidFill>
                      <a:srgbClr val="17243E"/>
                    </a:solidFill>
                  </a:tcPr>
                </a:tc>
                <a:tc>
                  <a:txBody>
                    <a:bodyPr wrap="square"/>
                    <a:lstStyle/>
                    <a:p>
                      <a:pPr algn="l"/>
                      <a:r>
                        <a:rPr sz="1000" b="0">
                          <a:solidFill>
                            <a:srgbClr val="F2F6FF"/>
                          </a:solidFill>
                          <a:latin typeface="Calibri"/>
                        </a:rPr>
                        <a:t>outputs permanently valid</a:t>
                      </a:r>
                    </a:p>
                  </a:txBody>
                  <a:tcPr marL="73152" marR="73152" marT="27432" marB="27432" anchor="ctr">
                    <a:solidFill>
                      <a:srgbClr val="17243E"/>
                    </a:solidFill>
                  </a:tcPr>
                </a:tc>
              </a:tr>
              <a:tr h="274320">
                <a:tc>
                  <a:txBody>
                    <a:bodyPr wrap="square"/>
                    <a:lstStyle/>
                    <a:p>
                      <a:pPr algn="l"/>
                      <a:r>
                        <a:rPr sz="1000" b="0">
                          <a:solidFill>
                            <a:srgbClr val="F2F6FF"/>
                          </a:solidFill>
                          <a:latin typeface="Calibri"/>
                        </a:rPr>
                        <a:t>Series resistor</a:t>
                      </a:r>
                    </a:p>
                  </a:txBody>
                  <a:tcPr marL="73152" marR="73152" marT="27432" marB="27432" anchor="ctr">
                    <a:solidFill>
                      <a:srgbClr val="1E2E4E"/>
                    </a:solidFill>
                  </a:tcPr>
                </a:tc>
                <a:tc>
                  <a:txBody>
                    <a:bodyPr wrap="square"/>
                    <a:lstStyle/>
                    <a:p>
                      <a:pPr algn="l"/>
                      <a:r>
                        <a:rPr sz="1000" b="0">
                          <a:solidFill>
                            <a:srgbClr val="F2F6FF"/>
                          </a:solidFill>
                          <a:latin typeface="Calibri"/>
                        </a:rPr>
                        <a:t>470 Ohm</a:t>
                      </a:r>
                    </a:p>
                  </a:txBody>
                  <a:tcPr marL="73152" marR="73152" marT="27432" marB="27432" anchor="ctr">
                    <a:solidFill>
                      <a:srgbClr val="1E2E4E"/>
                    </a:solidFill>
                  </a:tcPr>
                </a:tc>
                <a:tc>
                  <a:txBody>
                    <a:bodyPr wrap="square"/>
                    <a:lstStyle/>
                    <a:p>
                      <a:pPr algn="l"/>
                      <a:r>
                        <a:rPr sz="1000" b="0">
                          <a:solidFill>
                            <a:srgbClr val="F2F6FF"/>
                          </a:solidFill>
                          <a:latin typeface="Calibri"/>
                        </a:rPr>
                        <a:t>8 x 6.6 mA = 53 mA, inside the 70 mA package limit</a:t>
                      </a:r>
                    </a:p>
                  </a:txBody>
                  <a:tcPr marL="73152" marR="73152" marT="27432" marB="27432" anchor="ctr">
                    <a:solidFill>
                      <a:srgbClr val="1E2E4E"/>
                    </a:solidFill>
                  </a:tcPr>
                </a:tc>
              </a:tr>
              <a:tr h="274320">
                <a:tc>
                  <a:txBody>
                    <a:bodyPr wrap="square"/>
                    <a:lstStyle/>
                    <a:p>
                      <a:pPr algn="l"/>
                      <a:r>
                        <a:rPr sz="1000" b="0">
                          <a:solidFill>
                            <a:srgbClr val="F2F6FF"/>
                          </a:solidFill>
                          <a:latin typeface="Calibri"/>
                        </a:rPr>
                        <a:t>Resistor not used</a:t>
                      </a:r>
                    </a:p>
                  </a:txBody>
                  <a:tcPr marL="73152" marR="73152" marT="27432" marB="27432" anchor="ctr">
                    <a:solidFill>
                      <a:srgbClr val="17243E"/>
                    </a:solidFill>
                  </a:tcPr>
                </a:tc>
                <a:tc>
                  <a:txBody>
                    <a:bodyPr wrap="square"/>
                    <a:lstStyle/>
                    <a:p>
                      <a:pPr algn="l"/>
                      <a:r>
                        <a:rPr sz="1000" b="0">
                          <a:solidFill>
                            <a:srgbClr val="F2F6FF"/>
                          </a:solidFill>
                          <a:latin typeface="Calibri"/>
                        </a:rPr>
                        <a:t>330 Ohm</a:t>
                      </a:r>
                    </a:p>
                  </a:txBody>
                  <a:tcPr marL="73152" marR="73152" marT="27432" marB="27432" anchor="ctr">
                    <a:solidFill>
                      <a:srgbClr val="17243E"/>
                    </a:solidFill>
                  </a:tcPr>
                </a:tc>
                <a:tc>
                  <a:txBody>
                    <a:bodyPr wrap="square"/>
                    <a:lstStyle/>
                    <a:p>
                      <a:pPr algn="l"/>
                      <a:r>
                        <a:rPr sz="1000" b="0">
                          <a:solidFill>
                            <a:srgbClr val="F2F6FF"/>
                          </a:solidFill>
                          <a:latin typeface="Calibri"/>
                        </a:rPr>
                        <a:t>would give 75 mA and exceed the package rating</a:t>
                      </a:r>
                    </a:p>
                  </a:txBody>
                  <a:tcPr marL="73152" marR="73152" marT="27432" marB="27432" anchor="ctr">
                    <a:solidFill>
                      <a:srgbClr val="17243E"/>
                    </a:solidFill>
                  </a:tcPr>
                </a:tc>
              </a:tr>
              <a:tr h="274320">
                <a:tc>
                  <a:txBody>
                    <a:bodyPr wrap="square"/>
                    <a:lstStyle/>
                    <a:p>
                      <a:pPr algn="l"/>
                      <a:r>
                        <a:rPr sz="1000" b="0">
                          <a:solidFill>
                            <a:srgbClr val="F2F6FF"/>
                          </a:solidFill>
                          <a:latin typeface="Calibri"/>
                        </a:rPr>
                        <a:t>LED polarity</a:t>
                      </a:r>
                    </a:p>
                  </a:txBody>
                  <a:tcPr marL="73152" marR="73152" marT="27432" marB="27432" anchor="ctr">
                    <a:solidFill>
                      <a:srgbClr val="1E2E4E"/>
                    </a:solidFill>
                  </a:tcPr>
                </a:tc>
                <a:tc>
                  <a:txBody>
                    <a:bodyPr wrap="square"/>
                    <a:lstStyle/>
                    <a:p>
                      <a:pPr algn="l"/>
                      <a:r>
                        <a:rPr sz="1000" b="0">
                          <a:solidFill>
                            <a:srgbClr val="F2F6FF"/>
                          </a:solidFill>
                          <a:latin typeface="Calibri"/>
                        </a:rPr>
                        <a:t>active high</a:t>
                      </a:r>
                    </a:p>
                  </a:txBody>
                  <a:tcPr marL="73152" marR="73152" marT="27432" marB="27432" anchor="ctr">
                    <a:solidFill>
                      <a:srgbClr val="1E2E4E"/>
                    </a:solidFill>
                  </a:tcPr>
                </a:tc>
                <a:tc>
                  <a:txBody>
                    <a:bodyPr wrap="square"/>
                    <a:lstStyle/>
                    <a:p>
                      <a:pPr algn="l"/>
                      <a:r>
                        <a:rPr sz="1000" b="0">
                          <a:solidFill>
                            <a:srgbClr val="F2F6FF"/>
                          </a:solidFill>
                          <a:latin typeface="Calibri"/>
                        </a:rPr>
                        <a:t>latch output high lights the LED</a:t>
                      </a:r>
                    </a:p>
                  </a:txBody>
                  <a:tcPr marL="73152" marR="73152" marT="27432" marB="27432" anchor="ctr">
                    <a:solidFill>
                      <a:srgbClr val="1E2E4E"/>
                    </a:solidFill>
                  </a:tcPr>
                </a:tc>
              </a:tr>
            </a:tbl>
          </a:graphicData>
        </a:graphic>
      </p:graphicFrame>
      <p:sp>
        <p:nvSpPr>
          <p:cNvPr id="27" name="Rounded Rectangle 26"/>
          <p:cNvSpPr/>
          <p:nvPr/>
        </p:nvSpPr>
        <p:spPr>
          <a:xfrm>
            <a:off x="7744967" y="3310128"/>
            <a:ext cx="3877056" cy="274320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44967" y="3310128"/>
            <a:ext cx="50292" cy="274320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82711" y="3474720"/>
            <a:ext cx="3465576"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Current arithmetic</a:t>
            </a:r>
          </a:p>
        </p:txBody>
      </p:sp>
      <p:sp>
        <p:nvSpPr>
          <p:cNvPr id="30" name="TextBox 29"/>
          <p:cNvSpPr txBox="1"/>
          <p:nvPr/>
        </p:nvSpPr>
        <p:spPr>
          <a:xfrm>
            <a:off x="7982711" y="3858768"/>
            <a:ext cx="3465576" cy="2057400"/>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I per LED = (5.0 - 1.9) / 470 = 6.6 mA</a:t>
            </a:r>
            <a:br/>
            <a:r>
              <a:rPr sz="1050" b="0" i="0">
                <a:solidFill>
                  <a:srgbClr val="A9B8D6"/>
                </a:solidFill>
                <a:latin typeface="Calibri"/>
              </a:rPr>
              <a:t>I per package = 8 x 6.6 = 53 mA</a:t>
            </a:r>
            <a:br/>
            <a:r>
              <a:rPr sz="1050" b="0" i="0">
                <a:solidFill>
                  <a:srgbClr val="A9B8D6"/>
                </a:solidFill>
                <a:latin typeface="Calibri"/>
              </a:rPr>
              <a:t>74HC573 package limit = 70 mA</a:t>
            </a:r>
            <a:br/>
            <a:br/>
            <a:r>
              <a:rPr sz="1050" b="0" i="0">
                <a:solidFill>
                  <a:srgbClr val="A9B8D6"/>
                </a:solidFill>
                <a:latin typeface="Calibri"/>
              </a:rPr>
              <a:t>Headroom = 17 mA, which is why 470 Ohm is specified instead of the more usual 330 Ohm. Brightness at 6.6 mA is ample for a modern high efficiency indicator.</a:t>
            </a:r>
          </a:p>
        </p:txBody>
      </p:sp>
      <p:sp>
        <p:nvSpPr>
          <p:cNvPr id="31" name="Rounded Rectangle 30"/>
          <p:cNvSpPr/>
          <p:nvPr/>
        </p:nvSpPr>
        <p:spPr>
          <a:xfrm>
            <a:off x="868680" y="5413248"/>
            <a:ext cx="6903720" cy="877824"/>
          </a:xfrm>
          <a:prstGeom prst="roundRect">
            <a:avLst>
              <a:gd name="adj" fmla="val 6000"/>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9848" y="5541264"/>
            <a:ext cx="6537959" cy="658368"/>
          </a:xfrm>
          <a:prstGeom prst="rect">
            <a:avLst/>
          </a:prstGeom>
          <a:noFill/>
        </p:spPr>
        <p:txBody>
          <a:bodyPr wrap="square" lIns="0" rIns="0" tIns="0" bIns="0" anchor="t">
            <a:spAutoFit/>
          </a:bodyPr>
          <a:lstStyle/>
          <a:p>
            <a:pPr algn="l">
              <a:lnSpc>
                <a:spcPct val="114000"/>
              </a:lnSpc>
              <a:spcAft>
                <a:spcPts val="0"/>
              </a:spcAft>
            </a:pPr>
            <a:r>
              <a:rPr sz="1050" b="0" i="0">
                <a:solidFill>
                  <a:srgbClr val="CFE0FF"/>
                </a:solidFill>
                <a:latin typeface="Consolas"/>
              </a:rPr>
              <a:t>led_write(0x0F);   /* lower four LEDs on   */</a:t>
            </a:r>
          </a:p>
          <a:p>
            <a:pPr algn="l">
              <a:lnSpc>
                <a:spcPct val="114000"/>
              </a:lnSpc>
              <a:spcAft>
                <a:spcPts val="0"/>
              </a:spcAft>
            </a:pPr>
            <a:r>
              <a:rPr sz="1050" b="0" i="0">
                <a:solidFill>
                  <a:srgbClr val="CFE0FF"/>
                </a:solidFill>
                <a:latin typeface="Consolas"/>
              </a:rPr>
              <a:t>led_write(0xF0);   /* upper four LEDs on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DISPLAY STAGE</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Two digit seven segment display</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Latched segments, transistor switched digits, 100 Hz refresh</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11</a:t>
            </a:r>
          </a:p>
        </p:txBody>
      </p:sp>
      <p:sp>
        <p:nvSpPr>
          <p:cNvPr id="11" name="Rounded Rectangle 10"/>
          <p:cNvSpPr/>
          <p:nvPr/>
        </p:nvSpPr>
        <p:spPr>
          <a:xfrm>
            <a:off x="868680" y="1783080"/>
            <a:ext cx="2148840" cy="731520"/>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901952"/>
            <a:ext cx="2002536" cy="274320"/>
          </a:xfrm>
          <a:prstGeom prst="rect">
            <a:avLst/>
          </a:prstGeom>
          <a:noFill/>
        </p:spPr>
        <p:txBody>
          <a:bodyPr wrap="square" lIns="0" rIns="0" tIns="0" bIns="0" anchor="t">
            <a:spAutoFit/>
          </a:bodyPr>
          <a:lstStyle/>
          <a:p>
            <a:pPr algn="ctr">
              <a:lnSpc>
                <a:spcPct val="100000"/>
              </a:lnSpc>
              <a:spcAft>
                <a:spcPts val="0"/>
              </a:spcAft>
            </a:pPr>
            <a:r>
              <a:rPr sz="1100" b="1" i="0">
                <a:solidFill>
                  <a:srgbClr val="F2F6FF"/>
                </a:solidFill>
                <a:latin typeface="Calibri"/>
              </a:rPr>
              <a:t>P0 bus</a:t>
            </a:r>
          </a:p>
        </p:txBody>
      </p:sp>
      <p:sp>
        <p:nvSpPr>
          <p:cNvPr id="13" name="TextBox 12"/>
          <p:cNvSpPr txBox="1"/>
          <p:nvPr/>
        </p:nvSpPr>
        <p:spPr>
          <a:xfrm>
            <a:off x="941832" y="2176272"/>
            <a:ext cx="20025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BD0-BD7</a:t>
            </a:r>
          </a:p>
        </p:txBody>
      </p:sp>
      <p:cxnSp>
        <p:nvCxnSpPr>
          <p:cNvPr id="14" name="Connector 13"/>
          <p:cNvCxnSpPr/>
          <p:nvPr/>
        </p:nvCxnSpPr>
        <p:spPr>
          <a:xfrm>
            <a:off x="3017520" y="2148840"/>
            <a:ext cx="685800" cy="0"/>
          </a:xfrm>
          <a:prstGeom prst="line">
            <a:avLst/>
          </a:prstGeom>
          <a:ln w="1905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703320" y="1600200"/>
            <a:ext cx="2286000" cy="1097280"/>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6472" y="1901952"/>
            <a:ext cx="2139696" cy="274320"/>
          </a:xfrm>
          <a:prstGeom prst="rect">
            <a:avLst/>
          </a:prstGeom>
          <a:noFill/>
        </p:spPr>
        <p:txBody>
          <a:bodyPr wrap="square" lIns="0" rIns="0" tIns="0" bIns="0" anchor="t">
            <a:spAutoFit/>
          </a:bodyPr>
          <a:lstStyle/>
          <a:p>
            <a:pPr algn="ctr">
              <a:lnSpc>
                <a:spcPct val="100000"/>
              </a:lnSpc>
              <a:spcAft>
                <a:spcPts val="0"/>
              </a:spcAft>
            </a:pPr>
            <a:r>
              <a:rPr sz="1150" b="1" i="0">
                <a:solidFill>
                  <a:srgbClr val="F2F6FF"/>
                </a:solidFill>
                <a:latin typeface="Calibri"/>
              </a:rPr>
              <a:t>U3 74HC573</a:t>
            </a:r>
          </a:p>
        </p:txBody>
      </p:sp>
      <p:sp>
        <p:nvSpPr>
          <p:cNvPr id="17" name="TextBox 16"/>
          <p:cNvSpPr txBox="1"/>
          <p:nvPr/>
        </p:nvSpPr>
        <p:spPr>
          <a:xfrm>
            <a:off x="3776472" y="2176272"/>
            <a:ext cx="213969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LE &lt;- P2.1</a:t>
            </a:r>
          </a:p>
        </p:txBody>
      </p:sp>
      <p:cxnSp>
        <p:nvCxnSpPr>
          <p:cNvPr id="18" name="Connector 17"/>
          <p:cNvCxnSpPr/>
          <p:nvPr/>
        </p:nvCxnSpPr>
        <p:spPr>
          <a:xfrm>
            <a:off x="5989320" y="2148840"/>
            <a:ext cx="685800" cy="0"/>
          </a:xfrm>
          <a:prstGeom prst="line">
            <a:avLst/>
          </a:prstGeom>
          <a:ln w="1905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675120" y="1600200"/>
            <a:ext cx="1920240" cy="1097280"/>
          </a:xfrm>
          <a:prstGeom prst="roundRect">
            <a:avLst>
              <a:gd name="adj" fmla="val 6000"/>
            </a:avLst>
          </a:prstGeom>
          <a:solidFill>
            <a:srgbClr val="1E2E4E"/>
          </a:solidFill>
          <a:ln w="12700">
            <a:solidFill>
              <a:srgbClr val="6F81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48272" y="1901952"/>
            <a:ext cx="1773936" cy="274320"/>
          </a:xfrm>
          <a:prstGeom prst="rect">
            <a:avLst/>
          </a:prstGeom>
          <a:noFill/>
        </p:spPr>
        <p:txBody>
          <a:bodyPr wrap="square" lIns="0" rIns="0" tIns="0" bIns="0" anchor="t">
            <a:spAutoFit/>
          </a:bodyPr>
          <a:lstStyle/>
          <a:p>
            <a:pPr algn="ctr">
              <a:lnSpc>
                <a:spcPct val="100000"/>
              </a:lnSpc>
              <a:spcAft>
                <a:spcPts val="0"/>
              </a:spcAft>
            </a:pPr>
            <a:r>
              <a:rPr sz="1150" b="1" i="0">
                <a:solidFill>
                  <a:srgbClr val="F2F6FF"/>
                </a:solidFill>
                <a:latin typeface="Calibri"/>
              </a:rPr>
              <a:t>RN4 470 Ohm</a:t>
            </a:r>
          </a:p>
        </p:txBody>
      </p:sp>
      <p:sp>
        <p:nvSpPr>
          <p:cNvPr id="21" name="TextBox 20"/>
          <p:cNvSpPr txBox="1"/>
          <p:nvPr/>
        </p:nvSpPr>
        <p:spPr>
          <a:xfrm>
            <a:off x="6748272" y="2176272"/>
            <a:ext cx="17739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a b c d e f g dp</a:t>
            </a:r>
          </a:p>
        </p:txBody>
      </p:sp>
      <p:cxnSp>
        <p:nvCxnSpPr>
          <p:cNvPr id="22" name="Connector 21"/>
          <p:cNvCxnSpPr/>
          <p:nvPr/>
        </p:nvCxnSpPr>
        <p:spPr>
          <a:xfrm>
            <a:off x="8595360" y="2148840"/>
            <a:ext cx="640080" cy="0"/>
          </a:xfrm>
          <a:prstGeom prst="line">
            <a:avLst/>
          </a:prstGeom>
          <a:ln w="1905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235440" y="1600200"/>
            <a:ext cx="2103120" cy="1097280"/>
          </a:xfrm>
          <a:prstGeom prst="roundRect">
            <a:avLst>
              <a:gd name="adj" fmla="val 6000"/>
            </a:avLst>
          </a:prstGeom>
          <a:solidFill>
            <a:srgbClr val="1E2E4E"/>
          </a:solidFill>
          <a:ln w="12700">
            <a:solidFill>
              <a:srgbClr val="6F81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08592" y="1901952"/>
            <a:ext cx="1956815" cy="274320"/>
          </a:xfrm>
          <a:prstGeom prst="rect">
            <a:avLst/>
          </a:prstGeom>
          <a:noFill/>
        </p:spPr>
        <p:txBody>
          <a:bodyPr wrap="square" lIns="0" rIns="0" tIns="0" bIns="0" anchor="t">
            <a:spAutoFit/>
          </a:bodyPr>
          <a:lstStyle/>
          <a:p>
            <a:pPr algn="ctr">
              <a:lnSpc>
                <a:spcPct val="100000"/>
              </a:lnSpc>
              <a:spcAft>
                <a:spcPts val="0"/>
              </a:spcAft>
            </a:pPr>
            <a:r>
              <a:rPr sz="1150" b="1" i="0">
                <a:solidFill>
                  <a:srgbClr val="F2F6FF"/>
                </a:solidFill>
                <a:latin typeface="Calibri"/>
              </a:rPr>
              <a:t>DSP1</a:t>
            </a:r>
          </a:p>
        </p:txBody>
      </p:sp>
      <p:sp>
        <p:nvSpPr>
          <p:cNvPr id="25" name="TextBox 24"/>
          <p:cNvSpPr txBox="1"/>
          <p:nvPr/>
        </p:nvSpPr>
        <p:spPr>
          <a:xfrm>
            <a:off x="9308592" y="2176272"/>
            <a:ext cx="1956815"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2 digit common cathode</a:t>
            </a:r>
          </a:p>
        </p:txBody>
      </p:sp>
      <p:sp>
        <p:nvSpPr>
          <p:cNvPr id="26" name="TextBox 25"/>
          <p:cNvSpPr txBox="1"/>
          <p:nvPr/>
        </p:nvSpPr>
        <p:spPr>
          <a:xfrm>
            <a:off x="868680" y="2926080"/>
            <a:ext cx="5486400"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Digit cathodes</a:t>
            </a:r>
          </a:p>
        </p:txBody>
      </p:sp>
      <p:sp>
        <p:nvSpPr>
          <p:cNvPr id="27" name="Rounded Rectangle 26"/>
          <p:cNvSpPr/>
          <p:nvPr/>
        </p:nvSpPr>
        <p:spPr>
          <a:xfrm>
            <a:off x="868680" y="3246120"/>
            <a:ext cx="1691640" cy="658368"/>
          </a:xfrm>
          <a:prstGeom prst="roundRect">
            <a:avLst>
              <a:gd name="adj" fmla="val 6000"/>
            </a:avLst>
          </a:prstGeom>
          <a:solidFill>
            <a:srgbClr val="1E2E4E"/>
          </a:solidFill>
          <a:ln w="12700">
            <a:solidFill>
              <a:srgbClr val="CF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2" y="3328415"/>
            <a:ext cx="1545336" cy="274320"/>
          </a:xfrm>
          <a:prstGeom prst="rect">
            <a:avLst/>
          </a:prstGeom>
          <a:noFill/>
        </p:spPr>
        <p:txBody>
          <a:bodyPr wrap="square" lIns="0" rIns="0" tIns="0" bIns="0" anchor="t">
            <a:spAutoFit/>
          </a:bodyPr>
          <a:lstStyle/>
          <a:p>
            <a:pPr algn="ctr">
              <a:lnSpc>
                <a:spcPct val="100000"/>
              </a:lnSpc>
              <a:spcAft>
                <a:spcPts val="0"/>
              </a:spcAft>
            </a:pPr>
            <a:r>
              <a:rPr sz="1050" b="1" i="0">
                <a:solidFill>
                  <a:srgbClr val="F2F6FF"/>
                </a:solidFill>
                <a:latin typeface="Calibri"/>
              </a:rPr>
              <a:t>Q1 BC547</a:t>
            </a:r>
          </a:p>
        </p:txBody>
      </p:sp>
      <p:sp>
        <p:nvSpPr>
          <p:cNvPr id="29" name="TextBox 28"/>
          <p:cNvSpPr txBox="1"/>
          <p:nvPr/>
        </p:nvSpPr>
        <p:spPr>
          <a:xfrm>
            <a:off x="941832" y="3602735"/>
            <a:ext cx="15453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digit 1</a:t>
            </a:r>
          </a:p>
        </p:txBody>
      </p:sp>
      <p:sp>
        <p:nvSpPr>
          <p:cNvPr id="30" name="Rounded Rectangle 29"/>
          <p:cNvSpPr/>
          <p:nvPr/>
        </p:nvSpPr>
        <p:spPr>
          <a:xfrm>
            <a:off x="2788920" y="3246120"/>
            <a:ext cx="1691640" cy="658368"/>
          </a:xfrm>
          <a:prstGeom prst="roundRect">
            <a:avLst>
              <a:gd name="adj" fmla="val 6000"/>
            </a:avLst>
          </a:prstGeom>
          <a:solidFill>
            <a:srgbClr val="1E2E4E"/>
          </a:solidFill>
          <a:ln w="12700">
            <a:solidFill>
              <a:srgbClr val="CFE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62072" y="3328415"/>
            <a:ext cx="1545336" cy="274320"/>
          </a:xfrm>
          <a:prstGeom prst="rect">
            <a:avLst/>
          </a:prstGeom>
          <a:noFill/>
        </p:spPr>
        <p:txBody>
          <a:bodyPr wrap="square" lIns="0" rIns="0" tIns="0" bIns="0" anchor="t">
            <a:spAutoFit/>
          </a:bodyPr>
          <a:lstStyle/>
          <a:p>
            <a:pPr algn="ctr">
              <a:lnSpc>
                <a:spcPct val="100000"/>
              </a:lnSpc>
              <a:spcAft>
                <a:spcPts val="0"/>
              </a:spcAft>
            </a:pPr>
            <a:r>
              <a:rPr sz="1050" b="1" i="0">
                <a:solidFill>
                  <a:srgbClr val="F2F6FF"/>
                </a:solidFill>
                <a:latin typeface="Calibri"/>
              </a:rPr>
              <a:t>Q2 BC547</a:t>
            </a:r>
          </a:p>
        </p:txBody>
      </p:sp>
      <p:sp>
        <p:nvSpPr>
          <p:cNvPr id="32" name="TextBox 31"/>
          <p:cNvSpPr txBox="1"/>
          <p:nvPr/>
        </p:nvSpPr>
        <p:spPr>
          <a:xfrm>
            <a:off x="2862072" y="3602735"/>
            <a:ext cx="15453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digit 2</a:t>
            </a:r>
          </a:p>
        </p:txBody>
      </p:sp>
      <p:sp>
        <p:nvSpPr>
          <p:cNvPr id="33" name="TextBox 32"/>
          <p:cNvSpPr txBox="1"/>
          <p:nvPr/>
        </p:nvSpPr>
        <p:spPr>
          <a:xfrm>
            <a:off x="868680" y="4023360"/>
            <a:ext cx="5486400" cy="457200"/>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Bases via 4.7 kOhm from P3.6 and P3.7. Emitters to GND. A logic 1 on the base pulls the digit cathode to ground and lights that digit.</a:t>
            </a:r>
          </a:p>
        </p:txBody>
      </p:sp>
      <p:graphicFrame>
        <p:nvGraphicFramePr>
          <p:cNvPr id="34" name="Table 33"/>
          <p:cNvGraphicFramePr>
            <a:graphicFrameLocks noGrp="1"/>
          </p:cNvGraphicFramePr>
          <p:nvPr/>
        </p:nvGraphicFramePr>
        <p:xfrm>
          <a:off x="6675120" y="2926080"/>
          <a:ext cx="4663440" cy="1874519"/>
        </p:xfrm>
        <a:graphic>
          <a:graphicData uri="http://schemas.openxmlformats.org/drawingml/2006/table">
            <a:tbl>
              <a:tblPr firstRow="1">
                <a:tableStyleId>{5C22544A-7EE6-4342-B048-85BDC9FD1C3A}</a:tableStyleId>
              </a:tblPr>
              <a:tblGrid>
                <a:gridCol w="731520"/>
                <a:gridCol w="822960"/>
                <a:gridCol w="731520"/>
                <a:gridCol w="822960"/>
                <a:gridCol w="1554480"/>
              </a:tblGrid>
              <a:tr h="312419">
                <a:tc>
                  <a:txBody>
                    <a:bodyPr wrap="square"/>
                    <a:lstStyle/>
                    <a:p>
                      <a:pPr algn="ctr"/>
                      <a:r>
                        <a:rPr sz="1000" b="1">
                          <a:solidFill>
                            <a:srgbClr val="CFE0FF"/>
                          </a:solidFill>
                          <a:latin typeface="Calibri"/>
                        </a:rPr>
                        <a:t>Digit</a:t>
                      </a:r>
                    </a:p>
                  </a:txBody>
                  <a:tcPr marL="73152" marR="73152" marT="27432" marB="27432" anchor="ctr">
                    <a:solidFill>
                      <a:srgbClr val="2A3C63"/>
                    </a:solidFill>
                  </a:tcPr>
                </a:tc>
                <a:tc>
                  <a:txBody>
                    <a:bodyPr wrap="square"/>
                    <a:lstStyle/>
                    <a:p>
                      <a:pPr algn="ctr"/>
                      <a:r>
                        <a:rPr sz="1000" b="1">
                          <a:solidFill>
                            <a:srgbClr val="CFE0FF"/>
                          </a:solidFill>
                          <a:latin typeface="Calibri"/>
                        </a:rPr>
                        <a:t>Pattern</a:t>
                      </a:r>
                    </a:p>
                  </a:txBody>
                  <a:tcPr marL="73152" marR="73152" marT="27432" marB="27432" anchor="ctr">
                    <a:solidFill>
                      <a:srgbClr val="2A3C63"/>
                    </a:solidFill>
                  </a:tcPr>
                </a:tc>
                <a:tc>
                  <a:txBody>
                    <a:bodyPr wrap="square"/>
                    <a:lstStyle/>
                    <a:p>
                      <a:pPr algn="ctr"/>
                      <a:r>
                        <a:rPr sz="1000" b="1">
                          <a:solidFill>
                            <a:srgbClr val="CFE0FF"/>
                          </a:solidFill>
                          <a:latin typeface="Calibri"/>
                        </a:rPr>
                        <a:t>Digit</a:t>
                      </a:r>
                    </a:p>
                  </a:txBody>
                  <a:tcPr marL="73152" marR="73152" marT="27432" marB="27432" anchor="ctr">
                    <a:solidFill>
                      <a:srgbClr val="2A3C63"/>
                    </a:solidFill>
                  </a:tcPr>
                </a:tc>
                <a:tc>
                  <a:txBody>
                    <a:bodyPr wrap="square"/>
                    <a:lstStyle/>
                    <a:p>
                      <a:pPr algn="ctr"/>
                      <a:r>
                        <a:rPr sz="1000" b="1">
                          <a:solidFill>
                            <a:srgbClr val="CFE0FF"/>
                          </a:solidFill>
                          <a:latin typeface="Calibri"/>
                        </a:rPr>
                        <a:t>Pattern</a:t>
                      </a:r>
                    </a:p>
                  </a:txBody>
                  <a:tcPr marL="73152" marR="73152" marT="27432" marB="27432" anchor="ctr">
                    <a:solidFill>
                      <a:srgbClr val="2A3C63"/>
                    </a:solidFill>
                  </a:tcPr>
                </a:tc>
                <a:tc>
                  <a:txBody>
                    <a:bodyPr wrap="square"/>
                    <a:lstStyle/>
                    <a:p>
                      <a:pPr algn="ctr"/>
                      <a:r>
                        <a:rPr sz="1000" b="1">
                          <a:solidFill>
                            <a:srgbClr val="CFE0FF"/>
                          </a:solidFill>
                          <a:latin typeface="Calibri"/>
                        </a:rPr>
                        <a:t>Note</a:t>
                      </a:r>
                    </a:p>
                  </a:txBody>
                  <a:tcPr marL="73152" marR="73152" marT="27432" marB="27432" anchor="ctr">
                    <a:solidFill>
                      <a:srgbClr val="2A3C63"/>
                    </a:solidFill>
                  </a:tcPr>
                </a:tc>
              </a:tr>
              <a:tr h="312419">
                <a:tc>
                  <a:txBody>
                    <a:bodyPr wrap="square"/>
                    <a:lstStyle/>
                    <a:p>
                      <a:pPr algn="ctr"/>
                      <a:r>
                        <a:rPr sz="1000" b="0">
                          <a:solidFill>
                            <a:srgbClr val="F2F6FF"/>
                          </a:solidFill>
                          <a:latin typeface="Calibri"/>
                        </a:rPr>
                        <a:t>0</a:t>
                      </a:r>
                    </a:p>
                  </a:txBody>
                  <a:tcPr marL="73152" marR="73152" marT="27432" marB="27432" anchor="ctr">
                    <a:solidFill>
                      <a:srgbClr val="17243E"/>
                    </a:solidFill>
                  </a:tcPr>
                </a:tc>
                <a:tc>
                  <a:txBody>
                    <a:bodyPr wrap="square"/>
                    <a:lstStyle/>
                    <a:p>
                      <a:pPr algn="ctr"/>
                      <a:r>
                        <a:rPr sz="1000" b="0">
                          <a:solidFill>
                            <a:srgbClr val="F2F6FF"/>
                          </a:solidFill>
                          <a:latin typeface="Calibri"/>
                        </a:rPr>
                        <a:t>3FH</a:t>
                      </a:r>
                    </a:p>
                  </a:txBody>
                  <a:tcPr marL="73152" marR="73152" marT="27432" marB="27432" anchor="ctr">
                    <a:solidFill>
                      <a:srgbClr val="17243E"/>
                    </a:solidFill>
                  </a:tcPr>
                </a:tc>
                <a:tc>
                  <a:txBody>
                    <a:bodyPr wrap="square"/>
                    <a:lstStyle/>
                    <a:p>
                      <a:pPr algn="ctr"/>
                      <a:r>
                        <a:rPr sz="1000" b="0">
                          <a:solidFill>
                            <a:srgbClr val="F2F6FF"/>
                          </a:solidFill>
                          <a:latin typeface="Calibri"/>
                        </a:rPr>
                        <a:t>5</a:t>
                      </a:r>
                    </a:p>
                  </a:txBody>
                  <a:tcPr marL="73152" marR="73152" marT="27432" marB="27432" anchor="ctr">
                    <a:solidFill>
                      <a:srgbClr val="17243E"/>
                    </a:solidFill>
                  </a:tcPr>
                </a:tc>
                <a:tc>
                  <a:txBody>
                    <a:bodyPr wrap="square"/>
                    <a:lstStyle/>
                    <a:p>
                      <a:pPr algn="ctr"/>
                      <a:r>
                        <a:rPr sz="1000" b="0">
                          <a:solidFill>
                            <a:srgbClr val="F2F6FF"/>
                          </a:solidFill>
                          <a:latin typeface="Calibri"/>
                        </a:rPr>
                        <a:t>6DH</a:t>
                      </a:r>
                    </a:p>
                  </a:txBody>
                  <a:tcPr marL="73152" marR="73152" marT="27432" marB="27432" anchor="ctr">
                    <a:solidFill>
                      <a:srgbClr val="17243E"/>
                    </a:solidFill>
                  </a:tcPr>
                </a:tc>
                <a:tc>
                  <a:txBody>
                    <a:bodyPr wrap="square"/>
                    <a:lstStyle/>
                    <a:p>
                      <a:pPr algn="ctr"/>
                      <a:r>
                        <a:rPr sz="1000" b="0">
                          <a:solidFill>
                            <a:srgbClr val="F2F6FF"/>
                          </a:solidFill>
                          <a:latin typeface="Calibri"/>
                        </a:rPr>
                        <a:t>Q0 = a</a:t>
                      </a:r>
                    </a:p>
                  </a:txBody>
                  <a:tcPr marL="73152" marR="73152" marT="27432" marB="27432" anchor="ctr">
                    <a:solidFill>
                      <a:srgbClr val="17243E"/>
                    </a:solidFill>
                  </a:tcPr>
                </a:tc>
              </a:tr>
              <a:tr h="312419">
                <a:tc>
                  <a:txBody>
                    <a:bodyPr wrap="square"/>
                    <a:lstStyle/>
                    <a:p>
                      <a:pPr algn="ctr"/>
                      <a:r>
                        <a:rPr sz="1000" b="0">
                          <a:solidFill>
                            <a:srgbClr val="F2F6FF"/>
                          </a:solidFill>
                          <a:latin typeface="Calibri"/>
                        </a:rPr>
                        <a:t>1</a:t>
                      </a:r>
                    </a:p>
                  </a:txBody>
                  <a:tcPr marL="73152" marR="73152" marT="27432" marB="27432" anchor="ctr">
                    <a:solidFill>
                      <a:srgbClr val="1E2E4E"/>
                    </a:solidFill>
                  </a:tcPr>
                </a:tc>
                <a:tc>
                  <a:txBody>
                    <a:bodyPr wrap="square"/>
                    <a:lstStyle/>
                    <a:p>
                      <a:pPr algn="ctr"/>
                      <a:r>
                        <a:rPr sz="1000" b="0">
                          <a:solidFill>
                            <a:srgbClr val="F2F6FF"/>
                          </a:solidFill>
                          <a:latin typeface="Calibri"/>
                        </a:rPr>
                        <a:t>06H</a:t>
                      </a:r>
                    </a:p>
                  </a:txBody>
                  <a:tcPr marL="73152" marR="73152" marT="27432" marB="27432" anchor="ctr">
                    <a:solidFill>
                      <a:srgbClr val="1E2E4E"/>
                    </a:solidFill>
                  </a:tcPr>
                </a:tc>
                <a:tc>
                  <a:txBody>
                    <a:bodyPr wrap="square"/>
                    <a:lstStyle/>
                    <a:p>
                      <a:pPr algn="ctr"/>
                      <a:r>
                        <a:rPr sz="1000" b="0">
                          <a:solidFill>
                            <a:srgbClr val="F2F6FF"/>
                          </a:solidFill>
                          <a:latin typeface="Calibri"/>
                        </a:rPr>
                        <a:t>6</a:t>
                      </a:r>
                    </a:p>
                  </a:txBody>
                  <a:tcPr marL="73152" marR="73152" marT="27432" marB="27432" anchor="ctr">
                    <a:solidFill>
                      <a:srgbClr val="1E2E4E"/>
                    </a:solidFill>
                  </a:tcPr>
                </a:tc>
                <a:tc>
                  <a:txBody>
                    <a:bodyPr wrap="square"/>
                    <a:lstStyle/>
                    <a:p>
                      <a:pPr algn="ctr"/>
                      <a:r>
                        <a:rPr sz="1000" b="0">
                          <a:solidFill>
                            <a:srgbClr val="F2F6FF"/>
                          </a:solidFill>
                          <a:latin typeface="Calibri"/>
                        </a:rPr>
                        <a:t>7DH</a:t>
                      </a:r>
                    </a:p>
                  </a:txBody>
                  <a:tcPr marL="73152" marR="73152" marT="27432" marB="27432" anchor="ctr">
                    <a:solidFill>
                      <a:srgbClr val="1E2E4E"/>
                    </a:solidFill>
                  </a:tcPr>
                </a:tc>
                <a:tc>
                  <a:txBody>
                    <a:bodyPr wrap="square"/>
                    <a:lstStyle/>
                    <a:p>
                      <a:pPr algn="ctr"/>
                      <a:r>
                        <a:rPr sz="1000" b="0">
                          <a:solidFill>
                            <a:srgbClr val="F2F6FF"/>
                          </a:solidFill>
                          <a:latin typeface="Calibri"/>
                        </a:rPr>
                        <a:t>Q1 = b</a:t>
                      </a:r>
                    </a:p>
                  </a:txBody>
                  <a:tcPr marL="73152" marR="73152" marT="27432" marB="27432" anchor="ctr">
                    <a:solidFill>
                      <a:srgbClr val="1E2E4E"/>
                    </a:solidFill>
                  </a:tcPr>
                </a:tc>
              </a:tr>
              <a:tr h="312419">
                <a:tc>
                  <a:txBody>
                    <a:bodyPr wrap="square"/>
                    <a:lstStyle/>
                    <a:p>
                      <a:pPr algn="ctr"/>
                      <a:r>
                        <a:rPr sz="1000" b="0">
                          <a:solidFill>
                            <a:srgbClr val="F2F6FF"/>
                          </a:solidFill>
                          <a:latin typeface="Calibri"/>
                        </a:rPr>
                        <a:t>2</a:t>
                      </a:r>
                    </a:p>
                  </a:txBody>
                  <a:tcPr marL="73152" marR="73152" marT="27432" marB="27432" anchor="ctr">
                    <a:solidFill>
                      <a:srgbClr val="17243E"/>
                    </a:solidFill>
                  </a:tcPr>
                </a:tc>
                <a:tc>
                  <a:txBody>
                    <a:bodyPr wrap="square"/>
                    <a:lstStyle/>
                    <a:p>
                      <a:pPr algn="ctr"/>
                      <a:r>
                        <a:rPr sz="1000" b="0">
                          <a:solidFill>
                            <a:srgbClr val="F2F6FF"/>
                          </a:solidFill>
                          <a:latin typeface="Calibri"/>
                        </a:rPr>
                        <a:t>5BH</a:t>
                      </a:r>
                    </a:p>
                  </a:txBody>
                  <a:tcPr marL="73152" marR="73152" marT="27432" marB="27432" anchor="ctr">
                    <a:solidFill>
                      <a:srgbClr val="17243E"/>
                    </a:solidFill>
                  </a:tcPr>
                </a:tc>
                <a:tc>
                  <a:txBody>
                    <a:bodyPr wrap="square"/>
                    <a:lstStyle/>
                    <a:p>
                      <a:pPr algn="ctr"/>
                      <a:r>
                        <a:rPr sz="1000" b="0">
                          <a:solidFill>
                            <a:srgbClr val="F2F6FF"/>
                          </a:solidFill>
                          <a:latin typeface="Calibri"/>
                        </a:rPr>
                        <a:t>7</a:t>
                      </a:r>
                    </a:p>
                  </a:txBody>
                  <a:tcPr marL="73152" marR="73152" marT="27432" marB="27432" anchor="ctr">
                    <a:solidFill>
                      <a:srgbClr val="17243E"/>
                    </a:solidFill>
                  </a:tcPr>
                </a:tc>
                <a:tc>
                  <a:txBody>
                    <a:bodyPr wrap="square"/>
                    <a:lstStyle/>
                    <a:p>
                      <a:pPr algn="ctr"/>
                      <a:r>
                        <a:rPr sz="1000" b="0">
                          <a:solidFill>
                            <a:srgbClr val="F2F6FF"/>
                          </a:solidFill>
                          <a:latin typeface="Calibri"/>
                        </a:rPr>
                        <a:t>07H</a:t>
                      </a:r>
                    </a:p>
                  </a:txBody>
                  <a:tcPr marL="73152" marR="73152" marT="27432" marB="27432" anchor="ctr">
                    <a:solidFill>
                      <a:srgbClr val="17243E"/>
                    </a:solidFill>
                  </a:tcPr>
                </a:tc>
                <a:tc>
                  <a:txBody>
                    <a:bodyPr wrap="square"/>
                    <a:lstStyle/>
                    <a:p>
                      <a:pPr algn="ctr"/>
                      <a:r>
                        <a:rPr sz="1000" b="0">
                          <a:solidFill>
                            <a:srgbClr val="F2F6FF"/>
                          </a:solidFill>
                          <a:latin typeface="Calibri"/>
                        </a:rPr>
                        <a:t>Q2 = c</a:t>
                      </a:r>
                    </a:p>
                  </a:txBody>
                  <a:tcPr marL="73152" marR="73152" marT="27432" marB="27432" anchor="ctr">
                    <a:solidFill>
                      <a:srgbClr val="17243E"/>
                    </a:solidFill>
                  </a:tcPr>
                </a:tc>
              </a:tr>
              <a:tr h="312419">
                <a:tc>
                  <a:txBody>
                    <a:bodyPr wrap="square"/>
                    <a:lstStyle/>
                    <a:p>
                      <a:pPr algn="ctr"/>
                      <a:r>
                        <a:rPr sz="1000" b="0">
                          <a:solidFill>
                            <a:srgbClr val="F2F6FF"/>
                          </a:solidFill>
                          <a:latin typeface="Calibri"/>
                        </a:rPr>
                        <a:t>3</a:t>
                      </a:r>
                    </a:p>
                  </a:txBody>
                  <a:tcPr marL="73152" marR="73152" marT="27432" marB="27432" anchor="ctr">
                    <a:solidFill>
                      <a:srgbClr val="1E2E4E"/>
                    </a:solidFill>
                  </a:tcPr>
                </a:tc>
                <a:tc>
                  <a:txBody>
                    <a:bodyPr wrap="square"/>
                    <a:lstStyle/>
                    <a:p>
                      <a:pPr algn="ctr"/>
                      <a:r>
                        <a:rPr sz="1000" b="0">
                          <a:solidFill>
                            <a:srgbClr val="F2F6FF"/>
                          </a:solidFill>
                          <a:latin typeface="Calibri"/>
                        </a:rPr>
                        <a:t>4FH</a:t>
                      </a:r>
                    </a:p>
                  </a:txBody>
                  <a:tcPr marL="73152" marR="73152" marT="27432" marB="27432" anchor="ctr">
                    <a:solidFill>
                      <a:srgbClr val="1E2E4E"/>
                    </a:solidFill>
                  </a:tcPr>
                </a:tc>
                <a:tc>
                  <a:txBody>
                    <a:bodyPr wrap="square"/>
                    <a:lstStyle/>
                    <a:p>
                      <a:pPr algn="ctr"/>
                      <a:r>
                        <a:rPr sz="1000" b="0">
                          <a:solidFill>
                            <a:srgbClr val="F2F6FF"/>
                          </a:solidFill>
                          <a:latin typeface="Calibri"/>
                        </a:rPr>
                        <a:t>8</a:t>
                      </a:r>
                    </a:p>
                  </a:txBody>
                  <a:tcPr marL="73152" marR="73152" marT="27432" marB="27432" anchor="ctr">
                    <a:solidFill>
                      <a:srgbClr val="1E2E4E"/>
                    </a:solidFill>
                  </a:tcPr>
                </a:tc>
                <a:tc>
                  <a:txBody>
                    <a:bodyPr wrap="square"/>
                    <a:lstStyle/>
                    <a:p>
                      <a:pPr algn="ctr"/>
                      <a:r>
                        <a:rPr sz="1000" b="0">
                          <a:solidFill>
                            <a:srgbClr val="F2F6FF"/>
                          </a:solidFill>
                          <a:latin typeface="Calibri"/>
                        </a:rPr>
                        <a:t>7FH</a:t>
                      </a:r>
                    </a:p>
                  </a:txBody>
                  <a:tcPr marL="73152" marR="73152" marT="27432" marB="27432" anchor="ctr">
                    <a:solidFill>
                      <a:srgbClr val="1E2E4E"/>
                    </a:solidFill>
                  </a:tcPr>
                </a:tc>
                <a:tc>
                  <a:txBody>
                    <a:bodyPr wrap="square"/>
                    <a:lstStyle/>
                    <a:p>
                      <a:pPr algn="ctr"/>
                      <a:r>
                        <a:rPr sz="1000" b="0">
                          <a:solidFill>
                            <a:srgbClr val="F2F6FF"/>
                          </a:solidFill>
                          <a:latin typeface="Calibri"/>
                        </a:rPr>
                        <a:t>Q3 = d</a:t>
                      </a:r>
                    </a:p>
                  </a:txBody>
                  <a:tcPr marL="73152" marR="73152" marT="27432" marB="27432" anchor="ctr">
                    <a:solidFill>
                      <a:srgbClr val="1E2E4E"/>
                    </a:solidFill>
                  </a:tcPr>
                </a:tc>
              </a:tr>
              <a:tr h="312424">
                <a:tc>
                  <a:txBody>
                    <a:bodyPr wrap="square"/>
                    <a:lstStyle/>
                    <a:p>
                      <a:pPr algn="ctr"/>
                      <a:r>
                        <a:rPr sz="1000" b="0">
                          <a:solidFill>
                            <a:srgbClr val="F2F6FF"/>
                          </a:solidFill>
                          <a:latin typeface="Calibri"/>
                        </a:rPr>
                        <a:t>4</a:t>
                      </a:r>
                    </a:p>
                  </a:txBody>
                  <a:tcPr marL="73152" marR="73152" marT="27432" marB="27432" anchor="ctr">
                    <a:solidFill>
                      <a:srgbClr val="17243E"/>
                    </a:solidFill>
                  </a:tcPr>
                </a:tc>
                <a:tc>
                  <a:txBody>
                    <a:bodyPr wrap="square"/>
                    <a:lstStyle/>
                    <a:p>
                      <a:pPr algn="ctr"/>
                      <a:r>
                        <a:rPr sz="1000" b="0">
                          <a:solidFill>
                            <a:srgbClr val="F2F6FF"/>
                          </a:solidFill>
                          <a:latin typeface="Calibri"/>
                        </a:rPr>
                        <a:t>66H</a:t>
                      </a:r>
                    </a:p>
                  </a:txBody>
                  <a:tcPr marL="73152" marR="73152" marT="27432" marB="27432" anchor="ctr">
                    <a:solidFill>
                      <a:srgbClr val="17243E"/>
                    </a:solidFill>
                  </a:tcPr>
                </a:tc>
                <a:tc>
                  <a:txBody>
                    <a:bodyPr wrap="square"/>
                    <a:lstStyle/>
                    <a:p>
                      <a:pPr algn="ctr"/>
                      <a:r>
                        <a:rPr sz="1000" b="0">
                          <a:solidFill>
                            <a:srgbClr val="F2F6FF"/>
                          </a:solidFill>
                          <a:latin typeface="Calibri"/>
                        </a:rPr>
                        <a:t>9</a:t>
                      </a:r>
                    </a:p>
                  </a:txBody>
                  <a:tcPr marL="73152" marR="73152" marT="27432" marB="27432" anchor="ctr">
                    <a:solidFill>
                      <a:srgbClr val="17243E"/>
                    </a:solidFill>
                  </a:tcPr>
                </a:tc>
                <a:tc>
                  <a:txBody>
                    <a:bodyPr wrap="square"/>
                    <a:lstStyle/>
                    <a:p>
                      <a:pPr algn="ctr"/>
                      <a:r>
                        <a:rPr sz="1000" b="0">
                          <a:solidFill>
                            <a:srgbClr val="F2F6FF"/>
                          </a:solidFill>
                          <a:latin typeface="Calibri"/>
                        </a:rPr>
                        <a:t>6FH</a:t>
                      </a:r>
                    </a:p>
                  </a:txBody>
                  <a:tcPr marL="73152" marR="73152" marT="27432" marB="27432" anchor="ctr">
                    <a:solidFill>
                      <a:srgbClr val="17243E"/>
                    </a:solidFill>
                  </a:tcPr>
                </a:tc>
                <a:tc>
                  <a:txBody>
                    <a:bodyPr wrap="square"/>
                    <a:lstStyle/>
                    <a:p>
                      <a:pPr algn="ctr"/>
                      <a:r>
                        <a:rPr sz="1000" b="0">
                          <a:solidFill>
                            <a:srgbClr val="F2F6FF"/>
                          </a:solidFill>
                          <a:latin typeface="Calibri"/>
                        </a:rPr>
                        <a:t>Q4 = e</a:t>
                      </a:r>
                    </a:p>
                  </a:txBody>
                  <a:tcPr marL="73152" marR="73152" marT="27432" marB="27432" anchor="ctr">
                    <a:solidFill>
                      <a:srgbClr val="17243E"/>
                    </a:solidFill>
                  </a:tcPr>
                </a:tc>
              </a:tr>
            </a:tbl>
          </a:graphicData>
        </a:graphic>
      </p:graphicFrame>
      <p:sp>
        <p:nvSpPr>
          <p:cNvPr id="35" name="Rounded Rectangle 34"/>
          <p:cNvSpPr/>
          <p:nvPr/>
        </p:nvSpPr>
        <p:spPr>
          <a:xfrm>
            <a:off x="868680" y="4846320"/>
            <a:ext cx="10469880" cy="1371600"/>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78992" y="4992624"/>
            <a:ext cx="10058400" cy="1097280"/>
          </a:xfrm>
          <a:prstGeom prst="rect">
            <a:avLst/>
          </a:prstGeom>
          <a:noFill/>
        </p:spPr>
        <p:txBody>
          <a:bodyPr wrap="square" lIns="0" rIns="0" tIns="0" bIns="0" anchor="t">
            <a:spAutoFit/>
          </a:bodyPr>
          <a:lstStyle/>
          <a:p>
            <a:pPr algn="l">
              <a:lnSpc>
                <a:spcPct val="118000"/>
              </a:lnSpc>
              <a:spcAft>
                <a:spcPts val="300"/>
              </a:spcAft>
            </a:pPr>
            <a:r>
              <a:rPr sz="1300" b="1" i="0">
                <a:solidFill>
                  <a:srgbClr val="F2F6FF"/>
                </a:solidFill>
                <a:latin typeface="Calibri"/>
              </a:rPr>
              <a:t>Multiplexing</a:t>
            </a:r>
          </a:p>
          <a:p>
            <a:pPr algn="l">
              <a:lnSpc>
                <a:spcPct val="118000"/>
              </a:lnSpc>
              <a:spcAft>
                <a:spcPts val="300"/>
              </a:spcAft>
            </a:pPr>
            <a:r>
              <a:rPr sz="1100" b="0" i="0">
                <a:solidFill>
                  <a:srgbClr val="A9B8D6"/>
                </a:solidFill>
                <a:latin typeface="Calibri"/>
              </a:rPr>
              <a:t>Timer 0 interrupts every 5 ms. The service routine turns both digits off, latches the digit 1 pattern, raises P3.6, and on the next interrupt does the same for digit 2 with P3.7.</a:t>
            </a:r>
          </a:p>
          <a:p>
            <a:pPr algn="l">
              <a:lnSpc>
                <a:spcPct val="118000"/>
              </a:lnSpc>
              <a:spcAft>
                <a:spcPts val="300"/>
              </a:spcAft>
            </a:pPr>
            <a:r>
              <a:rPr sz="1100" b="1" i="0">
                <a:solidFill>
                  <a:srgbClr val="2FE0C0"/>
                </a:solidFill>
                <a:latin typeface="Calibri"/>
              </a:rPr>
              <a:t>Refresh rate per digit = 1 / (2 x 5 ms) = 100 Hz, above the flicker fusion limit.</a:t>
            </a:r>
          </a:p>
          <a:p>
            <a:pPr algn="l">
              <a:lnSpc>
                <a:spcPct val="118000"/>
              </a:lnSpc>
              <a:spcAft>
                <a:spcPts val="300"/>
              </a:spcAft>
            </a:pPr>
            <a:r>
              <a:rPr sz="1100" b="0" i="0">
                <a:solidFill>
                  <a:srgbClr val="CFE0FF"/>
                </a:solidFill>
                <a:latin typeface="Calibri"/>
              </a:rPr>
              <a:t>Reload value: 65536 - 4608 = 60928 = EE00H, so TH0 = EEH and TL0 = 00H.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INPUT STAGE</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DIP switches, pull-ups and interrupt buttons</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Every input is active low, so a closed switch reads as zero</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12</a:t>
            </a:r>
          </a:p>
        </p:txBody>
      </p:sp>
      <p:sp>
        <p:nvSpPr>
          <p:cNvPr id="11" name="Rounded Rectangle 10"/>
          <p:cNvSpPr/>
          <p:nvPr/>
        </p:nvSpPr>
        <p:spPr>
          <a:xfrm>
            <a:off x="566928" y="1645920"/>
            <a:ext cx="5440680" cy="23317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1645920"/>
            <a:ext cx="50292" cy="233172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1810512"/>
            <a:ext cx="5029200"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Eight way DIP switch on port 1</a:t>
            </a:r>
          </a:p>
        </p:txBody>
      </p:sp>
      <p:sp>
        <p:nvSpPr>
          <p:cNvPr id="14" name="TextBox 13"/>
          <p:cNvSpPr txBox="1"/>
          <p:nvPr/>
        </p:nvSpPr>
        <p:spPr>
          <a:xfrm>
            <a:off x="804672" y="2194560"/>
            <a:ext cx="5029200" cy="1645919"/>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Each contact pulls its pin to ground through the switch. RN2, a 10 kOhm x 9 SIP network, pulls every pin back to +5 V when the switch is open.</a:t>
            </a:r>
            <a:br/>
            <a:br/>
            <a:r>
              <a:rPr sz="1050" b="0" i="0">
                <a:solidFill>
                  <a:srgbClr val="A9B8D6"/>
                </a:solidFill>
                <a:latin typeface="Calibri"/>
              </a:rPr>
              <a:t>Closed reads 0, open reads 1. Port 1 has internal pull-ups, so the board would work without RN2, but the external network makes the input immune to noise on long breadboard wires.</a:t>
            </a:r>
            <a:br/>
            <a:br/>
            <a:r>
              <a:rPr sz="1050" b="0" i="0">
                <a:solidFill>
                  <a:srgbClr val="A9B8D6"/>
                </a:solidFill>
                <a:latin typeface="Calibri"/>
              </a:rPr>
              <a:t>P1.5, P1.6 and P1.7 have 1 kOhm series resistors so a closed switch cannot fight the ISP programmer during flashing.</a:t>
            </a:r>
          </a:p>
        </p:txBody>
      </p:sp>
      <p:sp>
        <p:nvSpPr>
          <p:cNvPr id="15" name="Rounded Rectangle 14"/>
          <p:cNvSpPr/>
          <p:nvPr/>
        </p:nvSpPr>
        <p:spPr>
          <a:xfrm>
            <a:off x="6181344" y="1645920"/>
            <a:ext cx="5440680" cy="23317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645920"/>
            <a:ext cx="50292" cy="233172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810512"/>
            <a:ext cx="5029200"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Interrupt push buttons</a:t>
            </a:r>
          </a:p>
        </p:txBody>
      </p:sp>
      <p:sp>
        <p:nvSpPr>
          <p:cNvPr id="18" name="TextBox 17"/>
          <p:cNvSpPr txBox="1"/>
          <p:nvPr/>
        </p:nvSpPr>
        <p:spPr>
          <a:xfrm>
            <a:off x="6419088" y="2194560"/>
            <a:ext cx="5029200" cy="1645919"/>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PB1 on P3.2 (INT0) and PB2 on P3.3 (INT1), each pulled up by 4.7 kOhm and switching to ground.</a:t>
            </a:r>
            <a:br/>
            <a:br/>
            <a:r>
              <a:rPr sz="1050" b="0" i="0">
                <a:solidFill>
                  <a:srgbClr val="A9B8D6"/>
                </a:solidFill>
                <a:latin typeface="Calibri"/>
              </a:rPr>
              <a:t>TCON is set with IT0 = 1 and IT1 = 1 so the 8051 detects the falling edge, giving one interrupt per press.</a:t>
            </a:r>
            <a:br/>
            <a:br/>
            <a:r>
              <a:rPr sz="1050" b="0" i="0">
                <a:solidFill>
                  <a:srgbClr val="A9B8D6"/>
                </a:solidFill>
                <a:latin typeface="Calibri"/>
              </a:rPr>
              <a:t>The service routines only set a flag. All the work is done in the main loop, which keeps the interrupt short and makes the behaviour easy to reason about.</a:t>
            </a:r>
          </a:p>
        </p:txBody>
      </p:sp>
      <p:sp>
        <p:nvSpPr>
          <p:cNvPr id="19" name="TextBox 18"/>
          <p:cNvSpPr txBox="1"/>
          <p:nvPr/>
        </p:nvSpPr>
        <p:spPr>
          <a:xfrm>
            <a:off x="566928" y="4169663"/>
            <a:ext cx="11058113" cy="274320"/>
          </a:xfrm>
          <a:prstGeom prst="rect">
            <a:avLst/>
          </a:prstGeom>
          <a:noFill/>
        </p:spPr>
        <p:txBody>
          <a:bodyPr wrap="square" lIns="0" rIns="0" tIns="0" bIns="0" anchor="t">
            <a:spAutoFit/>
          </a:bodyPr>
          <a:lstStyle/>
          <a:p>
            <a:pPr algn="l">
              <a:lnSpc>
                <a:spcPct val="100000"/>
              </a:lnSpc>
              <a:spcAft>
                <a:spcPts val="0"/>
              </a:spcAft>
            </a:pPr>
            <a:r>
              <a:rPr sz="1500" b="1" i="0">
                <a:solidFill>
                  <a:srgbClr val="F2F6FF"/>
                </a:solidFill>
                <a:latin typeface="Calibri"/>
              </a:rPr>
              <a:t>Debouncing</a:t>
            </a:r>
          </a:p>
        </p:txBody>
      </p:sp>
      <p:sp>
        <p:nvSpPr>
          <p:cNvPr id="20" name="Rounded Rectangle 19"/>
          <p:cNvSpPr/>
          <p:nvPr/>
        </p:nvSpPr>
        <p:spPr>
          <a:xfrm>
            <a:off x="566928" y="4517136"/>
            <a:ext cx="5440680" cy="1572768"/>
          </a:xfrm>
          <a:prstGeom prst="roundRect">
            <a:avLst>
              <a:gd name="adj" fmla="val 6000"/>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645152"/>
            <a:ext cx="5074920" cy="1353312"/>
          </a:xfrm>
          <a:prstGeom prst="rect">
            <a:avLst/>
          </a:prstGeom>
          <a:noFill/>
        </p:spPr>
        <p:txBody>
          <a:bodyPr wrap="square" lIns="0" rIns="0" tIns="0" bIns="0" anchor="t">
            <a:spAutoFit/>
          </a:bodyPr>
          <a:lstStyle/>
          <a:p>
            <a:pPr algn="l">
              <a:lnSpc>
                <a:spcPct val="114000"/>
              </a:lnSpc>
              <a:spcAft>
                <a:spcPts val="0"/>
              </a:spcAft>
            </a:pPr>
            <a:r>
              <a:rPr sz="1000" b="0" i="0">
                <a:solidFill>
                  <a:srgbClr val="CFE0FF"/>
                </a:solidFill>
                <a:latin typeface="Consolas"/>
              </a:rPr>
              <a:t>unsigned char switch_read(void)</a:t>
            </a:r>
          </a:p>
          <a:p>
            <a:pPr algn="l">
              <a:lnSpc>
                <a:spcPct val="114000"/>
              </a:lnSpc>
              <a:spcAft>
                <a:spcPts val="0"/>
              </a:spcAft>
            </a:pPr>
            <a:r>
              <a:rPr sz="1000" b="0" i="0">
                <a:solidFill>
                  <a:srgbClr val="CFE0FF"/>
                </a:solidFill>
                <a:latin typeface="Consolas"/>
              </a:rPr>
              <a:t>{</a:t>
            </a:r>
          </a:p>
          <a:p>
            <a:pPr algn="l">
              <a:lnSpc>
                <a:spcPct val="114000"/>
              </a:lnSpc>
              <a:spcAft>
                <a:spcPts val="0"/>
              </a:spcAft>
            </a:pPr>
            <a:r>
              <a:rPr sz="1000" b="0" i="0">
                <a:solidFill>
                  <a:srgbClr val="CFE0FF"/>
                </a:solidFill>
                <a:latin typeface="Consolas"/>
              </a:rPr>
              <a:t>    unsigned char a, b;</a:t>
            </a:r>
          </a:p>
          <a:p>
            <a:pPr algn="l">
              <a:lnSpc>
                <a:spcPct val="114000"/>
              </a:lnSpc>
              <a:spcAft>
                <a:spcPts val="0"/>
              </a:spcAft>
            </a:pPr>
            <a:r>
              <a:rPr sz="1000" b="0" i="0">
                <a:solidFill>
                  <a:srgbClr val="CFE0FF"/>
                </a:solidFill>
                <a:latin typeface="Consolas"/>
              </a:rPr>
              <a:t>    a = SWITCH;</a:t>
            </a:r>
          </a:p>
          <a:p>
            <a:pPr algn="l">
              <a:lnSpc>
                <a:spcPct val="114000"/>
              </a:lnSpc>
              <a:spcAft>
                <a:spcPts val="0"/>
              </a:spcAft>
            </a:pPr>
            <a:r>
              <a:rPr sz="1000" b="0" i="0">
                <a:solidFill>
                  <a:srgbClr val="CFE0FF"/>
                </a:solidFill>
                <a:latin typeface="Consolas"/>
              </a:rPr>
              <a:t>    do { delay_ms(5); b = SWITCH; } while (b != a);</a:t>
            </a:r>
          </a:p>
          <a:p>
            <a:pPr algn="l">
              <a:lnSpc>
                <a:spcPct val="114000"/>
              </a:lnSpc>
              <a:spcAft>
                <a:spcPts val="0"/>
              </a:spcAft>
            </a:pPr>
            <a:r>
              <a:rPr sz="1000" b="0" i="0">
                <a:solidFill>
                  <a:srgbClr val="CFE0FF"/>
                </a:solidFill>
                <a:latin typeface="Consolas"/>
              </a:rPr>
              <a:t>    return b;</a:t>
            </a:r>
          </a:p>
          <a:p>
            <a:pPr algn="l">
              <a:lnSpc>
                <a:spcPct val="114000"/>
              </a:lnSpc>
              <a:spcAft>
                <a:spcPts val="0"/>
              </a:spcAft>
            </a:pPr>
            <a:r>
              <a:rPr sz="1000" b="0" i="0">
                <a:solidFill>
                  <a:srgbClr val="CFE0FF"/>
                </a:solidFill>
                <a:latin typeface="Consolas"/>
              </a:rPr>
              <a:t>}</a:t>
            </a:r>
          </a:p>
        </p:txBody>
      </p:sp>
      <p:sp>
        <p:nvSpPr>
          <p:cNvPr id="22" name="Rounded Rectangle 21"/>
          <p:cNvSpPr/>
          <p:nvPr/>
        </p:nvSpPr>
        <p:spPr>
          <a:xfrm>
            <a:off x="6181344" y="4517136"/>
            <a:ext cx="5440680" cy="1572768"/>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1344" y="4517136"/>
            <a:ext cx="50292" cy="157276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4681728"/>
            <a:ext cx="5029200"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Why 5 ms</a:t>
            </a:r>
          </a:p>
        </p:txBody>
      </p:sp>
      <p:sp>
        <p:nvSpPr>
          <p:cNvPr id="25" name="TextBox 24"/>
          <p:cNvSpPr txBox="1"/>
          <p:nvPr/>
        </p:nvSpPr>
        <p:spPr>
          <a:xfrm>
            <a:off x="6419088" y="5065776"/>
            <a:ext cx="5029200" cy="886968"/>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A mechanical contact bounces for 1 to 10 ms. Sampling every 5 ms until two consecutive reads agree removes the bounce without slowing the response, because the whole loop finishes in one or two samples.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ANALOG INPUT</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LM35 temperature sensor with an ADC0804</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Vref/2 trimmed to 1.000 V so the sensor range is used, not wasted</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13</a:t>
            </a:r>
          </a:p>
        </p:txBody>
      </p:sp>
      <p:sp>
        <p:nvSpPr>
          <p:cNvPr id="11" name="Rounded Rectangle 10"/>
          <p:cNvSpPr/>
          <p:nvPr/>
        </p:nvSpPr>
        <p:spPr>
          <a:xfrm>
            <a:off x="868680" y="1874519"/>
            <a:ext cx="2103120" cy="841248"/>
          </a:xfrm>
          <a:prstGeom prst="roundRect">
            <a:avLst>
              <a:gd name="adj" fmla="val 6000"/>
            </a:avLst>
          </a:prstGeom>
          <a:solidFill>
            <a:srgbClr val="1E2E4E"/>
          </a:solidFill>
          <a:ln w="12700">
            <a:solidFill>
              <a:srgbClr val="6F81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2048255"/>
            <a:ext cx="1956815" cy="274320"/>
          </a:xfrm>
          <a:prstGeom prst="rect">
            <a:avLst/>
          </a:prstGeom>
          <a:noFill/>
        </p:spPr>
        <p:txBody>
          <a:bodyPr wrap="square" lIns="0" rIns="0" tIns="0" bIns="0" anchor="t">
            <a:spAutoFit/>
          </a:bodyPr>
          <a:lstStyle/>
          <a:p>
            <a:pPr algn="ctr">
              <a:lnSpc>
                <a:spcPct val="100000"/>
              </a:lnSpc>
              <a:spcAft>
                <a:spcPts val="0"/>
              </a:spcAft>
            </a:pPr>
            <a:r>
              <a:rPr sz="1150" b="1" i="0">
                <a:solidFill>
                  <a:srgbClr val="F2F6FF"/>
                </a:solidFill>
                <a:latin typeface="Calibri"/>
              </a:rPr>
              <a:t>LM35</a:t>
            </a:r>
          </a:p>
        </p:txBody>
      </p:sp>
      <p:sp>
        <p:nvSpPr>
          <p:cNvPr id="13" name="TextBox 12"/>
          <p:cNvSpPr txBox="1"/>
          <p:nvPr/>
        </p:nvSpPr>
        <p:spPr>
          <a:xfrm>
            <a:off x="941832" y="2322575"/>
            <a:ext cx="1956815"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10 mV per degree C</a:t>
            </a:r>
          </a:p>
        </p:txBody>
      </p:sp>
      <p:cxnSp>
        <p:nvCxnSpPr>
          <p:cNvPr id="14" name="Connector 13"/>
          <p:cNvCxnSpPr/>
          <p:nvPr/>
        </p:nvCxnSpPr>
        <p:spPr>
          <a:xfrm>
            <a:off x="2971800" y="2295144"/>
            <a:ext cx="731520" cy="0"/>
          </a:xfrm>
          <a:prstGeom prst="line">
            <a:avLst/>
          </a:prstGeom>
          <a:ln w="1905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703320" y="1645920"/>
            <a:ext cx="2331720" cy="129844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6472" y="2048255"/>
            <a:ext cx="2185415"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2F6FF"/>
                </a:solidFill>
                <a:latin typeface="Calibri"/>
              </a:rPr>
              <a:t>ADC0804</a:t>
            </a:r>
          </a:p>
        </p:txBody>
      </p:sp>
      <p:sp>
        <p:nvSpPr>
          <p:cNvPr id="17" name="TextBox 16"/>
          <p:cNvSpPr txBox="1"/>
          <p:nvPr/>
        </p:nvSpPr>
        <p:spPr>
          <a:xfrm>
            <a:off x="3776472" y="2322575"/>
            <a:ext cx="2185415"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Vin+ pin 6, Vin- to GND</a:t>
            </a:r>
          </a:p>
        </p:txBody>
      </p:sp>
      <p:cxnSp>
        <p:nvCxnSpPr>
          <p:cNvPr id="18" name="Connector 17"/>
          <p:cNvCxnSpPr/>
          <p:nvPr/>
        </p:nvCxnSpPr>
        <p:spPr>
          <a:xfrm>
            <a:off x="6035040" y="2295144"/>
            <a:ext cx="777240" cy="0"/>
          </a:xfrm>
          <a:prstGeom prst="line">
            <a:avLst/>
          </a:prstGeom>
          <a:ln w="1905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812280" y="1645920"/>
            <a:ext cx="2103120" cy="129844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85432" y="2048255"/>
            <a:ext cx="1956815"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2F6FF"/>
                </a:solidFill>
                <a:latin typeface="Calibri"/>
              </a:rPr>
              <a:t>P0 bus</a:t>
            </a:r>
          </a:p>
        </p:txBody>
      </p:sp>
      <p:sp>
        <p:nvSpPr>
          <p:cNvPr id="21" name="TextBox 20"/>
          <p:cNvSpPr txBox="1"/>
          <p:nvPr/>
        </p:nvSpPr>
        <p:spPr>
          <a:xfrm>
            <a:off x="6885432" y="2322575"/>
            <a:ext cx="1956815"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DB0-DB7</a:t>
            </a:r>
          </a:p>
        </p:txBody>
      </p:sp>
      <p:cxnSp>
        <p:nvCxnSpPr>
          <p:cNvPr id="22" name="Connector 21"/>
          <p:cNvCxnSpPr/>
          <p:nvPr/>
        </p:nvCxnSpPr>
        <p:spPr>
          <a:xfrm>
            <a:off x="8915400" y="2295144"/>
            <a:ext cx="777240" cy="0"/>
          </a:xfrm>
          <a:prstGeom prst="line">
            <a:avLst/>
          </a:prstGeom>
          <a:ln w="1905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692640" y="1645920"/>
            <a:ext cx="1645920" cy="129844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65792" y="2048255"/>
            <a:ext cx="1499616"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2F6FF"/>
                </a:solidFill>
                <a:latin typeface="Calibri"/>
              </a:rPr>
              <a:t>8051</a:t>
            </a:r>
          </a:p>
        </p:txBody>
      </p:sp>
      <p:sp>
        <p:nvSpPr>
          <p:cNvPr id="25" name="TextBox 24"/>
          <p:cNvSpPr txBox="1"/>
          <p:nvPr/>
        </p:nvSpPr>
        <p:spPr>
          <a:xfrm>
            <a:off x="9765792" y="2322575"/>
            <a:ext cx="149961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adc_read()</a:t>
            </a:r>
          </a:p>
        </p:txBody>
      </p:sp>
      <p:sp>
        <p:nvSpPr>
          <p:cNvPr id="26" name="TextBox 25"/>
          <p:cNvSpPr txBox="1"/>
          <p:nvPr/>
        </p:nvSpPr>
        <p:spPr>
          <a:xfrm>
            <a:off x="868680" y="3163824"/>
            <a:ext cx="2103120" cy="201168"/>
          </a:xfrm>
          <a:prstGeom prst="rect">
            <a:avLst/>
          </a:prstGeom>
          <a:noFill/>
        </p:spPr>
        <p:txBody>
          <a:bodyPr wrap="square" lIns="0" rIns="0" tIns="0" bIns="0" anchor="t">
            <a:spAutoFit/>
          </a:bodyPr>
          <a:lstStyle/>
          <a:p>
            <a:pPr algn="ctr">
              <a:lnSpc>
                <a:spcPct val="100000"/>
              </a:lnSpc>
              <a:spcAft>
                <a:spcPts val="0"/>
              </a:spcAft>
            </a:pPr>
            <a:r>
              <a:rPr sz="1000" b="1" i="0">
                <a:solidFill>
                  <a:srgbClr val="A9B8D6"/>
                </a:solidFill>
                <a:latin typeface="Calibri"/>
              </a:rPr>
              <a:t>control</a:t>
            </a:r>
          </a:p>
        </p:txBody>
      </p:sp>
      <p:sp>
        <p:nvSpPr>
          <p:cNvPr id="27" name="TextBox 26"/>
          <p:cNvSpPr txBox="1"/>
          <p:nvPr/>
        </p:nvSpPr>
        <p:spPr>
          <a:xfrm>
            <a:off x="868680" y="3419856"/>
            <a:ext cx="2103120" cy="822960"/>
          </a:xfrm>
          <a:prstGeom prst="rect">
            <a:avLst/>
          </a:prstGeom>
          <a:noFill/>
        </p:spPr>
        <p:txBody>
          <a:bodyPr wrap="square" lIns="0" rIns="0" tIns="0" bIns="0" anchor="t">
            <a:spAutoFit/>
          </a:bodyPr>
          <a:lstStyle/>
          <a:p>
            <a:pPr algn="l">
              <a:lnSpc>
                <a:spcPct val="120000"/>
              </a:lnSpc>
              <a:spcAft>
                <a:spcPts val="0"/>
              </a:spcAft>
            </a:pPr>
            <a:r>
              <a:rPr sz="1000" b="0" i="0">
                <a:solidFill>
                  <a:srgbClr val="CFE0FF"/>
                </a:solidFill>
                <a:latin typeface="Consolas"/>
              </a:rPr>
              <a:t>WR   P2.5</a:t>
            </a:r>
          </a:p>
          <a:p>
            <a:pPr algn="l">
              <a:lnSpc>
                <a:spcPct val="120000"/>
              </a:lnSpc>
              <a:spcAft>
                <a:spcPts val="0"/>
              </a:spcAft>
            </a:pPr>
            <a:r>
              <a:rPr sz="1000" b="0" i="0">
                <a:solidFill>
                  <a:srgbClr val="CFE0FF"/>
                </a:solidFill>
                <a:latin typeface="Consolas"/>
              </a:rPr>
              <a:t>RD   P2.6</a:t>
            </a:r>
          </a:p>
          <a:p>
            <a:pPr algn="l">
              <a:lnSpc>
                <a:spcPct val="120000"/>
              </a:lnSpc>
              <a:spcAft>
                <a:spcPts val="0"/>
              </a:spcAft>
            </a:pPr>
            <a:r>
              <a:rPr sz="1000" b="0" i="0">
                <a:solidFill>
                  <a:srgbClr val="CFE0FF"/>
                </a:solidFill>
                <a:latin typeface="Consolas"/>
              </a:rPr>
              <a:t>INTR P2.7</a:t>
            </a:r>
          </a:p>
        </p:txBody>
      </p:sp>
      <p:graphicFrame>
        <p:nvGraphicFramePr>
          <p:cNvPr id="28" name="Table 27"/>
          <p:cNvGraphicFramePr>
            <a:graphicFrameLocks noGrp="1"/>
          </p:cNvGraphicFramePr>
          <p:nvPr/>
        </p:nvGraphicFramePr>
        <p:xfrm>
          <a:off x="3246120" y="3182112"/>
          <a:ext cx="8092440" cy="2487168"/>
        </p:xfrm>
        <a:graphic>
          <a:graphicData uri="http://schemas.openxmlformats.org/drawingml/2006/table">
            <a:tbl>
              <a:tblPr firstRow="1">
                <a:tableStyleId>{5C22544A-7EE6-4342-B048-85BDC9FD1C3A}</a:tableStyleId>
              </a:tblPr>
              <a:tblGrid>
                <a:gridCol w="2103120"/>
                <a:gridCol w="2011680"/>
                <a:gridCol w="3977640"/>
              </a:tblGrid>
              <a:tr h="248716">
                <a:tc>
                  <a:txBody>
                    <a:bodyPr wrap="square"/>
                    <a:lstStyle/>
                    <a:p>
                      <a:pPr algn="l"/>
                      <a:r>
                        <a:rPr sz="1000" b="1">
                          <a:solidFill>
                            <a:srgbClr val="CFE0FF"/>
                          </a:solidFill>
                          <a:latin typeface="Calibri"/>
                        </a:rPr>
                        <a:t>Quantity</a:t>
                      </a:r>
                    </a:p>
                  </a:txBody>
                  <a:tcPr marL="73152" marR="73152" marT="27432" marB="27432" anchor="ctr">
                    <a:solidFill>
                      <a:srgbClr val="2A3C63"/>
                    </a:solidFill>
                  </a:tcPr>
                </a:tc>
                <a:tc>
                  <a:txBody>
                    <a:bodyPr wrap="square"/>
                    <a:lstStyle/>
                    <a:p>
                      <a:pPr algn="l"/>
                      <a:r>
                        <a:rPr sz="1000" b="1">
                          <a:solidFill>
                            <a:srgbClr val="CFE0FF"/>
                          </a:solidFill>
                          <a:latin typeface="Calibri"/>
                        </a:rPr>
                        <a:t>Value</a:t>
                      </a:r>
                    </a:p>
                  </a:txBody>
                  <a:tcPr marL="73152" marR="73152" marT="27432" marB="27432" anchor="ctr">
                    <a:solidFill>
                      <a:srgbClr val="2A3C63"/>
                    </a:solidFill>
                  </a:tcPr>
                </a:tc>
                <a:tc>
                  <a:txBody>
                    <a:bodyPr wrap="square"/>
                    <a:lstStyle/>
                    <a:p>
                      <a:pPr algn="l"/>
                      <a:r>
                        <a:rPr sz="1000" b="1">
                          <a:solidFill>
                            <a:srgbClr val="CFE0FF"/>
                          </a:solidFill>
                          <a:latin typeface="Calibri"/>
                        </a:rPr>
                        <a:t>Note</a:t>
                      </a:r>
                    </a:p>
                  </a:txBody>
                  <a:tcPr marL="73152" marR="73152" marT="27432" marB="27432" anchor="ctr">
                    <a:solidFill>
                      <a:srgbClr val="2A3C63"/>
                    </a:solidFill>
                  </a:tcPr>
                </a:tc>
              </a:tr>
              <a:tr h="248716">
                <a:tc>
                  <a:txBody>
                    <a:bodyPr wrap="square"/>
                    <a:lstStyle/>
                    <a:p>
                      <a:pPr algn="l"/>
                      <a:r>
                        <a:rPr sz="1000" b="0">
                          <a:solidFill>
                            <a:srgbClr val="F2F6FF"/>
                          </a:solidFill>
                          <a:latin typeface="Calibri"/>
                        </a:rPr>
                        <a:t>Vref/2 (pin 9)</a:t>
                      </a:r>
                    </a:p>
                  </a:txBody>
                  <a:tcPr marL="73152" marR="73152" marT="27432" marB="27432" anchor="ctr">
                    <a:solidFill>
                      <a:srgbClr val="17243E"/>
                    </a:solidFill>
                  </a:tcPr>
                </a:tc>
                <a:tc>
                  <a:txBody>
                    <a:bodyPr wrap="square"/>
                    <a:lstStyle/>
                    <a:p>
                      <a:pPr algn="l"/>
                      <a:r>
                        <a:rPr sz="1000" b="0">
                          <a:solidFill>
                            <a:srgbClr val="F2F6FF"/>
                          </a:solidFill>
                          <a:latin typeface="Calibri"/>
                        </a:rPr>
                        <a:t>1.000 V</a:t>
                      </a:r>
                    </a:p>
                  </a:txBody>
                  <a:tcPr marL="73152" marR="73152" marT="27432" marB="27432" anchor="ctr">
                    <a:solidFill>
                      <a:srgbClr val="17243E"/>
                    </a:solidFill>
                  </a:tcPr>
                </a:tc>
                <a:tc>
                  <a:txBody>
                    <a:bodyPr wrap="square"/>
                    <a:lstStyle/>
                    <a:p>
                      <a:pPr algn="l"/>
                      <a:r>
                        <a:rPr sz="1000" b="0">
                          <a:solidFill>
                            <a:srgbClr val="F2F6FF"/>
                          </a:solidFill>
                          <a:latin typeface="Calibri"/>
                        </a:rPr>
                        <a:t>set with the R8 trimpot, not left open</a:t>
                      </a:r>
                    </a:p>
                  </a:txBody>
                  <a:tcPr marL="73152" marR="73152" marT="27432" marB="27432" anchor="ctr">
                    <a:solidFill>
                      <a:srgbClr val="17243E"/>
                    </a:solidFill>
                  </a:tcPr>
                </a:tc>
              </a:tr>
              <a:tr h="248716">
                <a:tc>
                  <a:txBody>
                    <a:bodyPr wrap="square"/>
                    <a:lstStyle/>
                    <a:p>
                      <a:pPr algn="l"/>
                      <a:r>
                        <a:rPr sz="1000" b="0">
                          <a:solidFill>
                            <a:srgbClr val="F2F6FF"/>
                          </a:solidFill>
                          <a:latin typeface="Calibri"/>
                        </a:rPr>
                        <a:t>Full scale input</a:t>
                      </a:r>
                    </a:p>
                  </a:txBody>
                  <a:tcPr marL="73152" marR="73152" marT="27432" marB="27432" anchor="ctr">
                    <a:solidFill>
                      <a:srgbClr val="1E2E4E"/>
                    </a:solidFill>
                  </a:tcPr>
                </a:tc>
                <a:tc>
                  <a:txBody>
                    <a:bodyPr wrap="square"/>
                    <a:lstStyle/>
                    <a:p>
                      <a:pPr algn="l"/>
                      <a:r>
                        <a:rPr sz="1000" b="0">
                          <a:solidFill>
                            <a:srgbClr val="F2F6FF"/>
                          </a:solidFill>
                          <a:latin typeface="Calibri"/>
                        </a:rPr>
                        <a:t>2.000 V</a:t>
                      </a:r>
                    </a:p>
                  </a:txBody>
                  <a:tcPr marL="73152" marR="73152" marT="27432" marB="27432" anchor="ctr">
                    <a:solidFill>
                      <a:srgbClr val="1E2E4E"/>
                    </a:solidFill>
                  </a:tcPr>
                </a:tc>
                <a:tc>
                  <a:txBody>
                    <a:bodyPr wrap="square"/>
                    <a:lstStyle/>
                    <a:p>
                      <a:pPr algn="l"/>
                      <a:r>
                        <a:rPr sz="1000" b="0">
                          <a:solidFill>
                            <a:srgbClr val="F2F6FF"/>
                          </a:solidFill>
                          <a:latin typeface="Calibri"/>
                        </a:rPr>
                        <a:t>twice the reference voltage</a:t>
                      </a:r>
                    </a:p>
                  </a:txBody>
                  <a:tcPr marL="73152" marR="73152" marT="27432" marB="27432" anchor="ctr">
                    <a:solidFill>
                      <a:srgbClr val="1E2E4E"/>
                    </a:solidFill>
                  </a:tcPr>
                </a:tc>
              </a:tr>
              <a:tr h="248716">
                <a:tc>
                  <a:txBody>
                    <a:bodyPr wrap="square"/>
                    <a:lstStyle/>
                    <a:p>
                      <a:pPr algn="l"/>
                      <a:r>
                        <a:rPr sz="1000" b="0">
                          <a:solidFill>
                            <a:srgbClr val="F2F6FF"/>
                          </a:solidFill>
                          <a:latin typeface="Calibri"/>
                        </a:rPr>
                        <a:t>Step size</a:t>
                      </a:r>
                    </a:p>
                  </a:txBody>
                  <a:tcPr marL="73152" marR="73152" marT="27432" marB="27432" anchor="ctr">
                    <a:solidFill>
                      <a:srgbClr val="17243E"/>
                    </a:solidFill>
                  </a:tcPr>
                </a:tc>
                <a:tc>
                  <a:txBody>
                    <a:bodyPr wrap="square"/>
                    <a:lstStyle/>
                    <a:p>
                      <a:pPr algn="l"/>
                      <a:r>
                        <a:rPr sz="1000" b="0">
                          <a:solidFill>
                            <a:srgbClr val="F2F6FF"/>
                          </a:solidFill>
                          <a:latin typeface="Calibri"/>
                        </a:rPr>
                        <a:t>7.8125 mV</a:t>
                      </a:r>
                    </a:p>
                  </a:txBody>
                  <a:tcPr marL="73152" marR="73152" marT="27432" marB="27432" anchor="ctr">
                    <a:solidFill>
                      <a:srgbClr val="17243E"/>
                    </a:solidFill>
                  </a:tcPr>
                </a:tc>
                <a:tc>
                  <a:txBody>
                    <a:bodyPr wrap="square"/>
                    <a:lstStyle/>
                    <a:p>
                      <a:pPr algn="l"/>
                      <a:r>
                        <a:rPr sz="1000" b="0">
                          <a:solidFill>
                            <a:srgbClr val="F2F6FF"/>
                          </a:solidFill>
                          <a:latin typeface="Calibri"/>
                        </a:rPr>
                        <a:t>2.000 V / 256</a:t>
                      </a:r>
                    </a:p>
                  </a:txBody>
                  <a:tcPr marL="73152" marR="73152" marT="27432" marB="27432" anchor="ctr">
                    <a:solidFill>
                      <a:srgbClr val="17243E"/>
                    </a:solidFill>
                  </a:tcPr>
                </a:tc>
              </a:tr>
              <a:tr h="248716">
                <a:tc>
                  <a:txBody>
                    <a:bodyPr wrap="square"/>
                    <a:lstStyle/>
                    <a:p>
                      <a:pPr algn="l"/>
                      <a:r>
                        <a:rPr sz="1000" b="0">
                          <a:solidFill>
                            <a:srgbClr val="F2F6FF"/>
                          </a:solidFill>
                          <a:latin typeface="Calibri"/>
                        </a:rPr>
                        <a:t>Temperature per step</a:t>
                      </a:r>
                    </a:p>
                  </a:txBody>
                  <a:tcPr marL="73152" marR="73152" marT="27432" marB="27432" anchor="ctr">
                    <a:solidFill>
                      <a:srgbClr val="1E2E4E"/>
                    </a:solidFill>
                  </a:tcPr>
                </a:tc>
                <a:tc>
                  <a:txBody>
                    <a:bodyPr wrap="square"/>
                    <a:lstStyle/>
                    <a:p>
                      <a:pPr algn="l"/>
                      <a:r>
                        <a:rPr sz="1000" b="0">
                          <a:solidFill>
                            <a:srgbClr val="F2F6FF"/>
                          </a:solidFill>
                          <a:latin typeface="Calibri"/>
                        </a:rPr>
                        <a:t>0.781 degree C</a:t>
                      </a:r>
                    </a:p>
                  </a:txBody>
                  <a:tcPr marL="73152" marR="73152" marT="27432" marB="27432" anchor="ctr">
                    <a:solidFill>
                      <a:srgbClr val="1E2E4E"/>
                    </a:solidFill>
                  </a:tcPr>
                </a:tc>
                <a:tc>
                  <a:txBody>
                    <a:bodyPr wrap="square"/>
                    <a:lstStyle/>
                    <a:p>
                      <a:pPr algn="l"/>
                      <a:r>
                        <a:rPr sz="1000" b="0">
                          <a:solidFill>
                            <a:srgbClr val="F2F6FF"/>
                          </a:solidFill>
                          <a:latin typeface="Calibri"/>
                        </a:rPr>
                        <a:t>7.8125 mV / (10 mV per degree C)</a:t>
                      </a:r>
                    </a:p>
                  </a:txBody>
                  <a:tcPr marL="73152" marR="73152" marT="27432" marB="27432" anchor="ctr">
                    <a:solidFill>
                      <a:srgbClr val="1E2E4E"/>
                    </a:solidFill>
                  </a:tcPr>
                </a:tc>
              </a:tr>
              <a:tr h="248716">
                <a:tc>
                  <a:txBody>
                    <a:bodyPr wrap="square"/>
                    <a:lstStyle/>
                    <a:p>
                      <a:pPr algn="l"/>
                      <a:r>
                        <a:rPr sz="1000" b="0">
                          <a:solidFill>
                            <a:srgbClr val="F2F6FF"/>
                          </a:solidFill>
                          <a:latin typeface="Calibri"/>
                        </a:rPr>
                        <a:t>Transfer function</a:t>
                      </a:r>
                    </a:p>
                  </a:txBody>
                  <a:tcPr marL="73152" marR="73152" marT="27432" marB="27432" anchor="ctr">
                    <a:solidFill>
                      <a:srgbClr val="17243E"/>
                    </a:solidFill>
                  </a:tcPr>
                </a:tc>
                <a:tc>
                  <a:txBody>
                    <a:bodyPr wrap="square"/>
                    <a:lstStyle/>
                    <a:p>
                      <a:pPr algn="l"/>
                      <a:r>
                        <a:rPr sz="1000" b="0">
                          <a:solidFill>
                            <a:srgbClr val="F2F6FF"/>
                          </a:solidFill>
                          <a:latin typeface="Calibri"/>
                        </a:rPr>
                        <a:t>T = raw x 25 / 32</a:t>
                      </a:r>
                    </a:p>
                  </a:txBody>
                  <a:tcPr marL="73152" marR="73152" marT="27432" marB="27432" anchor="ctr">
                    <a:solidFill>
                      <a:srgbClr val="17243E"/>
                    </a:solidFill>
                  </a:tcPr>
                </a:tc>
                <a:tc>
                  <a:txBody>
                    <a:bodyPr wrap="square"/>
                    <a:lstStyle/>
                    <a:p>
                      <a:pPr algn="l"/>
                      <a:r>
                        <a:rPr sz="1000" b="0">
                          <a:solidFill>
                            <a:srgbClr val="F2F6FF"/>
                          </a:solidFill>
                          <a:latin typeface="Calibri"/>
                        </a:rPr>
                        <a:t>integer arithmetic, no float library</a:t>
                      </a:r>
                    </a:p>
                  </a:txBody>
                  <a:tcPr marL="73152" marR="73152" marT="27432" marB="27432" anchor="ctr">
                    <a:solidFill>
                      <a:srgbClr val="17243E"/>
                    </a:solidFill>
                  </a:tcPr>
                </a:tc>
              </a:tr>
              <a:tr h="248716">
                <a:tc>
                  <a:txBody>
                    <a:bodyPr wrap="square"/>
                    <a:lstStyle/>
                    <a:p>
                      <a:pPr algn="l"/>
                      <a:r>
                        <a:rPr sz="1000" b="0">
                          <a:solidFill>
                            <a:srgbClr val="F2F6FF"/>
                          </a:solidFill>
                          <a:latin typeface="Calibri"/>
                        </a:rPr>
                        <a:t>Range</a:t>
                      </a:r>
                    </a:p>
                  </a:txBody>
                  <a:tcPr marL="73152" marR="73152" marT="27432" marB="27432" anchor="ctr">
                    <a:solidFill>
                      <a:srgbClr val="1E2E4E"/>
                    </a:solidFill>
                  </a:tcPr>
                </a:tc>
                <a:tc>
                  <a:txBody>
                    <a:bodyPr wrap="square"/>
                    <a:lstStyle/>
                    <a:p>
                      <a:pPr algn="l"/>
                      <a:r>
                        <a:rPr sz="1000" b="0">
                          <a:solidFill>
                            <a:srgbClr val="F2F6FF"/>
                          </a:solidFill>
                          <a:latin typeface="Calibri"/>
                        </a:rPr>
                        <a:t>0 to 199.2 degree C</a:t>
                      </a:r>
                    </a:p>
                  </a:txBody>
                  <a:tcPr marL="73152" marR="73152" marT="27432" marB="27432" anchor="ctr">
                    <a:solidFill>
                      <a:srgbClr val="1E2E4E"/>
                    </a:solidFill>
                  </a:tcPr>
                </a:tc>
                <a:tc>
                  <a:txBody>
                    <a:bodyPr wrap="square"/>
                    <a:lstStyle/>
                    <a:p>
                      <a:pPr algn="l"/>
                      <a:r>
                        <a:rPr sz="1000" b="0">
                          <a:solidFill>
                            <a:srgbClr val="F2F6FF"/>
                          </a:solidFill>
                          <a:latin typeface="Calibri"/>
                        </a:rPr>
                        <a:t>well past anything the LM35 sees in a lab</a:t>
                      </a:r>
                    </a:p>
                  </a:txBody>
                  <a:tcPr marL="73152" marR="73152" marT="27432" marB="27432" anchor="ctr">
                    <a:solidFill>
                      <a:srgbClr val="1E2E4E"/>
                    </a:solidFill>
                  </a:tcPr>
                </a:tc>
              </a:tr>
              <a:tr h="248716">
                <a:tc>
                  <a:txBody>
                    <a:bodyPr wrap="square"/>
                    <a:lstStyle/>
                    <a:p>
                      <a:pPr algn="l"/>
                      <a:r>
                        <a:rPr sz="1000" b="0">
                          <a:solidFill>
                            <a:srgbClr val="F2F6FF"/>
                          </a:solidFill>
                          <a:latin typeface="Calibri"/>
                        </a:rPr>
                        <a:t>Clock</a:t>
                      </a:r>
                    </a:p>
                  </a:txBody>
                  <a:tcPr marL="73152" marR="73152" marT="27432" marB="27432" anchor="ctr">
                    <a:solidFill>
                      <a:srgbClr val="17243E"/>
                    </a:solidFill>
                  </a:tcPr>
                </a:tc>
                <a:tc>
                  <a:txBody>
                    <a:bodyPr wrap="square"/>
                    <a:lstStyle/>
                    <a:p>
                      <a:pPr algn="l"/>
                      <a:r>
                        <a:rPr sz="1000" b="0">
                          <a:solidFill>
                            <a:srgbClr val="F2F6FF"/>
                          </a:solidFill>
                          <a:latin typeface="Calibri"/>
                        </a:rPr>
                        <a:t>606 kHz</a:t>
                      </a:r>
                    </a:p>
                  </a:txBody>
                  <a:tcPr marL="73152" marR="73152" marT="27432" marB="27432" anchor="ctr">
                    <a:solidFill>
                      <a:srgbClr val="17243E"/>
                    </a:solidFill>
                  </a:tcPr>
                </a:tc>
                <a:tc>
                  <a:txBody>
                    <a:bodyPr wrap="square"/>
                    <a:lstStyle/>
                    <a:p>
                      <a:pPr algn="l"/>
                      <a:r>
                        <a:rPr sz="1000" b="0">
                          <a:solidFill>
                            <a:srgbClr val="F2F6FF"/>
                          </a:solidFill>
                          <a:latin typeface="Calibri"/>
                        </a:rPr>
                        <a:t>1 / (1.1 x 10 kOhm x 150 pF)</a:t>
                      </a:r>
                    </a:p>
                  </a:txBody>
                  <a:tcPr marL="73152" marR="73152" marT="27432" marB="27432" anchor="ctr">
                    <a:solidFill>
                      <a:srgbClr val="17243E"/>
                    </a:solidFill>
                  </a:tcPr>
                </a:tc>
              </a:tr>
              <a:tr h="248716">
                <a:tc>
                  <a:txBody>
                    <a:bodyPr wrap="square"/>
                    <a:lstStyle/>
                    <a:p>
                      <a:pPr algn="l"/>
                      <a:r>
                        <a:rPr sz="1000" b="0">
                          <a:solidFill>
                            <a:srgbClr val="F2F6FF"/>
                          </a:solidFill>
                          <a:latin typeface="Calibri"/>
                        </a:rPr>
                        <a:t>Conversion time</a:t>
                      </a:r>
                    </a:p>
                  </a:txBody>
                  <a:tcPr marL="73152" marR="73152" marT="27432" marB="27432" anchor="ctr">
                    <a:solidFill>
                      <a:srgbClr val="1E2E4E"/>
                    </a:solidFill>
                  </a:tcPr>
                </a:tc>
                <a:tc>
                  <a:txBody>
                    <a:bodyPr wrap="square"/>
                    <a:lstStyle/>
                    <a:p>
                      <a:pPr algn="l"/>
                      <a:r>
                        <a:rPr sz="1000" b="0">
                          <a:solidFill>
                            <a:srgbClr val="F2F6FF"/>
                          </a:solidFill>
                          <a:latin typeface="Calibri"/>
                        </a:rPr>
                        <a:t>about 114 us</a:t>
                      </a:r>
                    </a:p>
                  </a:txBody>
                  <a:tcPr marL="73152" marR="73152" marT="27432" marB="27432" anchor="ctr">
                    <a:solidFill>
                      <a:srgbClr val="1E2E4E"/>
                    </a:solidFill>
                  </a:tcPr>
                </a:tc>
                <a:tc>
                  <a:txBody>
                    <a:bodyPr wrap="square"/>
                    <a:lstStyle/>
                    <a:p>
                      <a:pPr algn="l"/>
                      <a:r>
                        <a:rPr sz="1000" b="0">
                          <a:solidFill>
                            <a:srgbClr val="F2F6FF"/>
                          </a:solidFill>
                          <a:latin typeface="Calibri"/>
                        </a:rPr>
                        <a:t>66 to 73 clock periods</a:t>
                      </a:r>
                    </a:p>
                  </a:txBody>
                  <a:tcPr marL="73152" marR="73152" marT="27432" marB="27432" anchor="ctr">
                    <a:solidFill>
                      <a:srgbClr val="1E2E4E"/>
                    </a:solidFill>
                  </a:tcPr>
                </a:tc>
              </a:tr>
              <a:tr h="248724">
                <a:tc>
                  <a:txBody>
                    <a:bodyPr wrap="square"/>
                    <a:lstStyle/>
                    <a:p>
                      <a:pPr algn="l"/>
                      <a:r>
                        <a:rPr sz="1000" b="0">
                          <a:solidFill>
                            <a:srgbClr val="F2F6FF"/>
                          </a:solidFill>
                          <a:latin typeface="Calibri"/>
                        </a:rPr>
                        <a:t>LM35 output at 30 C</a:t>
                      </a:r>
                    </a:p>
                  </a:txBody>
                  <a:tcPr marL="73152" marR="73152" marT="27432" marB="27432" anchor="ctr">
                    <a:solidFill>
                      <a:srgbClr val="17243E"/>
                    </a:solidFill>
                  </a:tcPr>
                </a:tc>
                <a:tc>
                  <a:txBody>
                    <a:bodyPr wrap="square"/>
                    <a:lstStyle/>
                    <a:p>
                      <a:pPr algn="l"/>
                      <a:r>
                        <a:rPr sz="1000" b="0">
                          <a:solidFill>
                            <a:srgbClr val="F2F6FF"/>
                          </a:solidFill>
                          <a:latin typeface="Calibri"/>
                        </a:rPr>
                        <a:t>300 mV</a:t>
                      </a:r>
                    </a:p>
                  </a:txBody>
                  <a:tcPr marL="73152" marR="73152" marT="27432" marB="27432" anchor="ctr">
                    <a:solidFill>
                      <a:srgbClr val="17243E"/>
                    </a:solidFill>
                  </a:tcPr>
                </a:tc>
                <a:tc>
                  <a:txBody>
                    <a:bodyPr wrap="square"/>
                    <a:lstStyle/>
                    <a:p>
                      <a:pPr algn="l"/>
                      <a:r>
                        <a:rPr sz="1000" b="0">
                          <a:solidFill>
                            <a:srgbClr val="F2F6FF"/>
                          </a:solidFill>
                          <a:latin typeface="Calibri"/>
                        </a:rPr>
                        <a:t>raw code 38, displayed 29</a:t>
                      </a:r>
                    </a:p>
                  </a:txBody>
                  <a:tcPr marL="73152" marR="73152" marT="27432" marB="27432" anchor="ctr">
                    <a:solidFill>
                      <a:srgbClr val="17243E"/>
                    </a:solidFill>
                  </a:tcPr>
                </a:tc>
              </a:tr>
            </a:tbl>
          </a:graphicData>
        </a:graphic>
      </p:graphicFrame>
      <p:sp>
        <p:nvSpPr>
          <p:cNvPr id="29" name="Rounded Rectangle 28"/>
          <p:cNvSpPr/>
          <p:nvPr/>
        </p:nvSpPr>
        <p:spPr>
          <a:xfrm>
            <a:off x="868680" y="4956048"/>
            <a:ext cx="4892040" cy="1280160"/>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5102352"/>
            <a:ext cx="4526280" cy="1005840"/>
          </a:xfrm>
          <a:prstGeom prst="rect">
            <a:avLst/>
          </a:prstGeom>
          <a:noFill/>
        </p:spPr>
        <p:txBody>
          <a:bodyPr wrap="square" lIns="0" rIns="0" tIns="0" bIns="0" anchor="t">
            <a:spAutoFit/>
          </a:bodyPr>
          <a:lstStyle/>
          <a:p>
            <a:pPr algn="l">
              <a:lnSpc>
                <a:spcPct val="115000"/>
              </a:lnSpc>
              <a:spcAft>
                <a:spcPts val="300"/>
              </a:spcAft>
            </a:pPr>
            <a:r>
              <a:rPr sz="1250" b="1" i="0">
                <a:solidFill>
                  <a:srgbClr val="F2F6FF"/>
                </a:solidFill>
                <a:latin typeface="Calibri"/>
              </a:rPr>
              <a:t>Read sequence</a:t>
            </a:r>
          </a:p>
          <a:p>
            <a:pPr algn="l">
              <a:lnSpc>
                <a:spcPct val="115000"/>
              </a:lnSpc>
              <a:spcAft>
                <a:spcPts val="300"/>
              </a:spcAft>
            </a:pPr>
            <a:r>
              <a:rPr sz="1050" b="0" i="0">
                <a:solidFill>
                  <a:srgbClr val="A9B8D6"/>
                </a:solidFill>
                <a:latin typeface="Calibri"/>
              </a:rPr>
              <a:t>Pulse WR low to start. Wait for INTR to go high, then low. Drive RD low, read the byte, release RD.</a:t>
            </a:r>
          </a:p>
        </p:txBody>
      </p:sp>
      <p:sp>
        <p:nvSpPr>
          <p:cNvPr id="31" name="Rounded Rectangle 30"/>
          <p:cNvSpPr/>
          <p:nvPr/>
        </p:nvSpPr>
        <p:spPr>
          <a:xfrm>
            <a:off x="6080760" y="4956048"/>
            <a:ext cx="5257800" cy="1280160"/>
          </a:xfrm>
          <a:prstGeom prst="roundRect">
            <a:avLst>
              <a:gd name="adj" fmla="val 6000"/>
            </a:avLst>
          </a:prstGeom>
          <a:solidFill>
            <a:srgbClr val="1E2E4E"/>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5102352"/>
            <a:ext cx="4892040" cy="1005840"/>
          </a:xfrm>
          <a:prstGeom prst="rect">
            <a:avLst/>
          </a:prstGeom>
          <a:noFill/>
        </p:spPr>
        <p:txBody>
          <a:bodyPr wrap="square" lIns="0" rIns="0" tIns="0" bIns="0" anchor="t">
            <a:spAutoFit/>
          </a:bodyPr>
          <a:lstStyle/>
          <a:p>
            <a:pPr algn="l">
              <a:lnSpc>
                <a:spcPct val="115000"/>
              </a:lnSpc>
              <a:spcAft>
                <a:spcPts val="300"/>
              </a:spcAft>
            </a:pPr>
            <a:r>
              <a:rPr sz="1250" b="1" i="0">
                <a:solidFill>
                  <a:srgbClr val="FFB454"/>
                </a:solidFill>
                <a:latin typeface="Calibri"/>
              </a:rPr>
              <a:t>Why not leave Vref/2 open</a:t>
            </a:r>
          </a:p>
          <a:p>
            <a:pPr algn="l">
              <a:lnSpc>
                <a:spcPct val="115000"/>
              </a:lnSpc>
              <a:spcAft>
                <a:spcPts val="300"/>
              </a:spcAft>
            </a:pPr>
            <a:r>
              <a:rPr sz="1050" b="0" i="0">
                <a:solidFill>
                  <a:srgbClr val="A9B8D6"/>
                </a:solidFill>
                <a:latin typeface="Calibri"/>
              </a:rPr>
              <a:t>An open pin selects the internal 2.5 V reference, giving 0 to 5 V full scale. The LM35 only reaches 1.5 V at 150 C, so more than two thirds of the range would be wasted and the resolution would be 1.95 degrees C instead of 0.78.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TEXT OUTPUT</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16x2 character LCD on the shared bus</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HD44780 compatible module in 8-bit mode, three control lines</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14</a:t>
            </a:r>
          </a:p>
        </p:txBody>
      </p:sp>
      <p:graphicFrame>
        <p:nvGraphicFramePr>
          <p:cNvPr id="11" name="Table 10"/>
          <p:cNvGraphicFramePr>
            <a:graphicFrameLocks noGrp="1"/>
          </p:cNvGraphicFramePr>
          <p:nvPr/>
        </p:nvGraphicFramePr>
        <p:xfrm>
          <a:off x="566928" y="1645920"/>
          <a:ext cx="6720840" cy="2834640"/>
        </p:xfrm>
        <a:graphic>
          <a:graphicData uri="http://schemas.openxmlformats.org/drawingml/2006/table">
            <a:tbl>
              <a:tblPr firstRow="1">
                <a:tableStyleId>{5C22544A-7EE6-4342-B048-85BDC9FD1C3A}</a:tableStyleId>
              </a:tblPr>
              <a:tblGrid>
                <a:gridCol w="822960"/>
                <a:gridCol w="731520"/>
                <a:gridCol w="1737360"/>
                <a:gridCol w="3429000"/>
              </a:tblGrid>
              <a:tr h="283464">
                <a:tc>
                  <a:txBody>
                    <a:bodyPr wrap="square"/>
                    <a:lstStyle/>
                    <a:p>
                      <a:pPr algn="ctr"/>
                      <a:r>
                        <a:rPr sz="1000" b="1">
                          <a:solidFill>
                            <a:srgbClr val="CFE0FF"/>
                          </a:solidFill>
                          <a:latin typeface="Calibri"/>
                        </a:rPr>
                        <a:t>LCD pin</a:t>
                      </a:r>
                    </a:p>
                  </a:txBody>
                  <a:tcPr marL="73152" marR="73152" marT="27432" marB="27432" anchor="ctr">
                    <a:solidFill>
                      <a:srgbClr val="2A3C63"/>
                    </a:solidFill>
                  </a:tcPr>
                </a:tc>
                <a:tc>
                  <a:txBody>
                    <a:bodyPr wrap="square"/>
                    <a:lstStyle/>
                    <a:p>
                      <a:pPr algn="l"/>
                      <a:r>
                        <a:rPr sz="1000" b="1">
                          <a:solidFill>
                            <a:srgbClr val="CFE0FF"/>
                          </a:solidFill>
                          <a:latin typeface="Calibri"/>
                        </a:rPr>
                        <a:t>Name</a:t>
                      </a:r>
                    </a:p>
                  </a:txBody>
                  <a:tcPr marL="73152" marR="73152" marT="27432" marB="27432" anchor="ctr">
                    <a:solidFill>
                      <a:srgbClr val="2A3C63"/>
                    </a:solidFill>
                  </a:tcPr>
                </a:tc>
                <a:tc>
                  <a:txBody>
                    <a:bodyPr wrap="square"/>
                    <a:lstStyle/>
                    <a:p>
                      <a:pPr algn="l"/>
                      <a:r>
                        <a:rPr sz="1000" b="1">
                          <a:solidFill>
                            <a:srgbClr val="CFE0FF"/>
                          </a:solidFill>
                          <a:latin typeface="Calibri"/>
                        </a:rPr>
                        <a:t>Connected to</a:t>
                      </a:r>
                    </a:p>
                  </a:txBody>
                  <a:tcPr marL="73152" marR="73152" marT="27432" marB="27432" anchor="ctr">
                    <a:solidFill>
                      <a:srgbClr val="2A3C63"/>
                    </a:solidFill>
                  </a:tcPr>
                </a:tc>
                <a:tc>
                  <a:txBody>
                    <a:bodyPr wrap="square"/>
                    <a:lstStyle/>
                    <a:p>
                      <a:pPr algn="l"/>
                      <a:r>
                        <a:rPr sz="1000" b="1">
                          <a:solidFill>
                            <a:srgbClr val="CFE0FF"/>
                          </a:solidFill>
                          <a:latin typeface="Calibri"/>
                        </a:rPr>
                        <a:t>Function</a:t>
                      </a:r>
                    </a:p>
                  </a:txBody>
                  <a:tcPr marL="73152" marR="73152" marT="27432" marB="27432" anchor="ctr">
                    <a:solidFill>
                      <a:srgbClr val="2A3C63"/>
                    </a:solidFill>
                  </a:tcPr>
                </a:tc>
              </a:tr>
              <a:tr h="283464">
                <a:tc>
                  <a:txBody>
                    <a:bodyPr wrap="square"/>
                    <a:lstStyle/>
                    <a:p>
                      <a:pPr algn="ctr"/>
                      <a:r>
                        <a:rPr sz="1000" b="0">
                          <a:solidFill>
                            <a:srgbClr val="F2F6FF"/>
                          </a:solidFill>
                          <a:latin typeface="Calibri"/>
                        </a:rPr>
                        <a:t>1</a:t>
                      </a:r>
                    </a:p>
                  </a:txBody>
                  <a:tcPr marL="73152" marR="73152" marT="27432" marB="27432" anchor="ctr">
                    <a:solidFill>
                      <a:srgbClr val="17243E"/>
                    </a:solidFill>
                  </a:tcPr>
                </a:tc>
                <a:tc>
                  <a:txBody>
                    <a:bodyPr wrap="square"/>
                    <a:lstStyle/>
                    <a:p>
                      <a:pPr algn="l"/>
                      <a:r>
                        <a:rPr sz="1000" b="0">
                          <a:solidFill>
                            <a:srgbClr val="F2F6FF"/>
                          </a:solidFill>
                          <a:latin typeface="Calibri"/>
                        </a:rPr>
                        <a:t>VSS</a:t>
                      </a:r>
                    </a:p>
                  </a:txBody>
                  <a:tcPr marL="73152" marR="73152" marT="27432" marB="27432" anchor="ctr">
                    <a:solidFill>
                      <a:srgbClr val="17243E"/>
                    </a:solidFill>
                  </a:tcPr>
                </a:tc>
                <a:tc>
                  <a:txBody>
                    <a:bodyPr wrap="square"/>
                    <a:lstStyle/>
                    <a:p>
                      <a:pPr algn="l"/>
                      <a:r>
                        <a:rPr sz="1000" b="0">
                          <a:solidFill>
                            <a:srgbClr val="F2F6FF"/>
                          </a:solidFill>
                          <a:latin typeface="Calibri"/>
                        </a:rPr>
                        <a:t>GND</a:t>
                      </a:r>
                    </a:p>
                  </a:txBody>
                  <a:tcPr marL="73152" marR="73152" marT="27432" marB="27432" anchor="ctr">
                    <a:solidFill>
                      <a:srgbClr val="17243E"/>
                    </a:solidFill>
                  </a:tcPr>
                </a:tc>
                <a:tc>
                  <a:txBody>
                    <a:bodyPr wrap="square"/>
                    <a:lstStyle/>
                    <a:p>
                      <a:pPr algn="l"/>
                      <a:r>
                        <a:rPr sz="1000" b="0">
                          <a:solidFill>
                            <a:srgbClr val="F2F6FF"/>
                          </a:solidFill>
                          <a:latin typeface="Calibri"/>
                        </a:rPr>
                        <a:t>ground</a:t>
                      </a:r>
                    </a:p>
                  </a:txBody>
                  <a:tcPr marL="73152" marR="73152" marT="27432" marB="27432" anchor="ctr">
                    <a:solidFill>
                      <a:srgbClr val="17243E"/>
                    </a:solidFill>
                  </a:tcPr>
                </a:tc>
              </a:tr>
              <a:tr h="283464">
                <a:tc>
                  <a:txBody>
                    <a:bodyPr wrap="square"/>
                    <a:lstStyle/>
                    <a:p>
                      <a:pPr algn="ctr"/>
                      <a:r>
                        <a:rPr sz="1000" b="0">
                          <a:solidFill>
                            <a:srgbClr val="F2F6FF"/>
                          </a:solidFill>
                          <a:latin typeface="Calibri"/>
                        </a:rPr>
                        <a:t>2</a:t>
                      </a:r>
                    </a:p>
                  </a:txBody>
                  <a:tcPr marL="73152" marR="73152" marT="27432" marB="27432" anchor="ctr">
                    <a:solidFill>
                      <a:srgbClr val="1E2E4E"/>
                    </a:solidFill>
                  </a:tcPr>
                </a:tc>
                <a:tc>
                  <a:txBody>
                    <a:bodyPr wrap="square"/>
                    <a:lstStyle/>
                    <a:p>
                      <a:pPr algn="l"/>
                      <a:r>
                        <a:rPr sz="1000" b="0">
                          <a:solidFill>
                            <a:srgbClr val="F2F6FF"/>
                          </a:solidFill>
                          <a:latin typeface="Calibri"/>
                        </a:rPr>
                        <a:t>VDD</a:t>
                      </a:r>
                    </a:p>
                  </a:txBody>
                  <a:tcPr marL="73152" marR="73152" marT="27432" marB="27432" anchor="ctr">
                    <a:solidFill>
                      <a:srgbClr val="1E2E4E"/>
                    </a:solidFill>
                  </a:tcPr>
                </a:tc>
                <a:tc>
                  <a:txBody>
                    <a:bodyPr wrap="square"/>
                    <a:lstStyle/>
                    <a:p>
                      <a:pPr algn="l"/>
                      <a:r>
                        <a:rPr sz="1000" b="0">
                          <a:solidFill>
                            <a:srgbClr val="F2F6FF"/>
                          </a:solidFill>
                          <a:latin typeface="Calibri"/>
                        </a:rPr>
                        <a:t>+5 V</a:t>
                      </a:r>
                    </a:p>
                  </a:txBody>
                  <a:tcPr marL="73152" marR="73152" marT="27432" marB="27432" anchor="ctr">
                    <a:solidFill>
                      <a:srgbClr val="1E2E4E"/>
                    </a:solidFill>
                  </a:tcPr>
                </a:tc>
                <a:tc>
                  <a:txBody>
                    <a:bodyPr wrap="square"/>
                    <a:lstStyle/>
                    <a:p>
                      <a:pPr algn="l"/>
                      <a:r>
                        <a:rPr sz="1000" b="0">
                          <a:solidFill>
                            <a:srgbClr val="F2F6FF"/>
                          </a:solidFill>
                          <a:latin typeface="Calibri"/>
                        </a:rPr>
                        <a:t>logic supply, 0.1 uF to ground</a:t>
                      </a:r>
                    </a:p>
                  </a:txBody>
                  <a:tcPr marL="73152" marR="73152" marT="27432" marB="27432" anchor="ctr">
                    <a:solidFill>
                      <a:srgbClr val="1E2E4E"/>
                    </a:solidFill>
                  </a:tcPr>
                </a:tc>
              </a:tr>
              <a:tr h="283464">
                <a:tc>
                  <a:txBody>
                    <a:bodyPr wrap="square"/>
                    <a:lstStyle/>
                    <a:p>
                      <a:pPr algn="ctr"/>
                      <a:r>
                        <a:rPr sz="1000" b="0">
                          <a:solidFill>
                            <a:srgbClr val="F2F6FF"/>
                          </a:solidFill>
                          <a:latin typeface="Calibri"/>
                        </a:rPr>
                        <a:t>3</a:t>
                      </a:r>
                    </a:p>
                  </a:txBody>
                  <a:tcPr marL="73152" marR="73152" marT="27432" marB="27432" anchor="ctr">
                    <a:solidFill>
                      <a:srgbClr val="17243E"/>
                    </a:solidFill>
                  </a:tcPr>
                </a:tc>
                <a:tc>
                  <a:txBody>
                    <a:bodyPr wrap="square"/>
                    <a:lstStyle/>
                    <a:p>
                      <a:pPr algn="l"/>
                      <a:r>
                        <a:rPr sz="1000" b="0">
                          <a:solidFill>
                            <a:srgbClr val="F2F6FF"/>
                          </a:solidFill>
                          <a:latin typeface="Calibri"/>
                        </a:rPr>
                        <a:t>VO</a:t>
                      </a:r>
                    </a:p>
                  </a:txBody>
                  <a:tcPr marL="73152" marR="73152" marT="27432" marB="27432" anchor="ctr">
                    <a:solidFill>
                      <a:srgbClr val="17243E"/>
                    </a:solidFill>
                  </a:tcPr>
                </a:tc>
                <a:tc>
                  <a:txBody>
                    <a:bodyPr wrap="square"/>
                    <a:lstStyle/>
                    <a:p>
                      <a:pPr algn="l"/>
                      <a:r>
                        <a:rPr sz="1000" b="0">
                          <a:solidFill>
                            <a:srgbClr val="F2F6FF"/>
                          </a:solidFill>
                          <a:latin typeface="Calibri"/>
                        </a:rPr>
                        <a:t>R9 wiper</a:t>
                      </a:r>
                    </a:p>
                  </a:txBody>
                  <a:tcPr marL="73152" marR="73152" marT="27432" marB="27432" anchor="ctr">
                    <a:solidFill>
                      <a:srgbClr val="17243E"/>
                    </a:solidFill>
                  </a:tcPr>
                </a:tc>
                <a:tc>
                  <a:txBody>
                    <a:bodyPr wrap="square"/>
                    <a:lstStyle/>
                    <a:p>
                      <a:pPr algn="l"/>
                      <a:r>
                        <a:rPr sz="1000" b="0">
                          <a:solidFill>
                            <a:srgbClr val="F2F6FF"/>
                          </a:solidFill>
                          <a:latin typeface="Calibri"/>
                        </a:rPr>
                        <a:t>contrast, about 0.5 to 1.0 V</a:t>
                      </a:r>
                    </a:p>
                  </a:txBody>
                  <a:tcPr marL="73152" marR="73152" marT="27432" marB="27432" anchor="ctr">
                    <a:solidFill>
                      <a:srgbClr val="17243E"/>
                    </a:solidFill>
                  </a:tcPr>
                </a:tc>
              </a:tr>
              <a:tr h="283464">
                <a:tc>
                  <a:txBody>
                    <a:bodyPr wrap="square"/>
                    <a:lstStyle/>
                    <a:p>
                      <a:pPr algn="ctr"/>
                      <a:r>
                        <a:rPr sz="1000" b="0">
                          <a:solidFill>
                            <a:srgbClr val="F2F6FF"/>
                          </a:solidFill>
                          <a:latin typeface="Calibri"/>
                        </a:rPr>
                        <a:t>4</a:t>
                      </a:r>
                    </a:p>
                  </a:txBody>
                  <a:tcPr marL="73152" marR="73152" marT="27432" marB="27432" anchor="ctr">
                    <a:solidFill>
                      <a:srgbClr val="1E2E4E"/>
                    </a:solidFill>
                  </a:tcPr>
                </a:tc>
                <a:tc>
                  <a:txBody>
                    <a:bodyPr wrap="square"/>
                    <a:lstStyle/>
                    <a:p>
                      <a:pPr algn="l"/>
                      <a:r>
                        <a:rPr sz="1000" b="0">
                          <a:solidFill>
                            <a:srgbClr val="F2F6FF"/>
                          </a:solidFill>
                          <a:latin typeface="Calibri"/>
                        </a:rPr>
                        <a:t>RS</a:t>
                      </a:r>
                    </a:p>
                  </a:txBody>
                  <a:tcPr marL="73152" marR="73152" marT="27432" marB="27432" anchor="ctr">
                    <a:solidFill>
                      <a:srgbClr val="1E2E4E"/>
                    </a:solidFill>
                  </a:tcPr>
                </a:tc>
                <a:tc>
                  <a:txBody>
                    <a:bodyPr wrap="square"/>
                    <a:lstStyle/>
                    <a:p>
                      <a:pPr algn="l"/>
                      <a:r>
                        <a:rPr sz="1000" b="0">
                          <a:solidFill>
                            <a:srgbClr val="F2F6FF"/>
                          </a:solidFill>
                          <a:latin typeface="Calibri"/>
                        </a:rPr>
                        <a:t>P2.3</a:t>
                      </a:r>
                    </a:p>
                  </a:txBody>
                  <a:tcPr marL="73152" marR="73152" marT="27432" marB="27432" anchor="ctr">
                    <a:solidFill>
                      <a:srgbClr val="1E2E4E"/>
                    </a:solidFill>
                  </a:tcPr>
                </a:tc>
                <a:tc>
                  <a:txBody>
                    <a:bodyPr wrap="square"/>
                    <a:lstStyle/>
                    <a:p>
                      <a:pPr algn="l"/>
                      <a:r>
                        <a:rPr sz="1000" b="0">
                          <a:solidFill>
                            <a:srgbClr val="F2F6FF"/>
                          </a:solidFill>
                          <a:latin typeface="Calibri"/>
                        </a:rPr>
                        <a:t>0 = command, 1 = character data</a:t>
                      </a:r>
                    </a:p>
                  </a:txBody>
                  <a:tcPr marL="73152" marR="73152" marT="27432" marB="27432" anchor="ctr">
                    <a:solidFill>
                      <a:srgbClr val="1E2E4E"/>
                    </a:solidFill>
                  </a:tcPr>
                </a:tc>
              </a:tr>
              <a:tr h="283464">
                <a:tc>
                  <a:txBody>
                    <a:bodyPr wrap="square"/>
                    <a:lstStyle/>
                    <a:p>
                      <a:pPr algn="ctr"/>
                      <a:r>
                        <a:rPr sz="1000" b="0">
                          <a:solidFill>
                            <a:srgbClr val="F2F6FF"/>
                          </a:solidFill>
                          <a:latin typeface="Calibri"/>
                        </a:rPr>
                        <a:t>5</a:t>
                      </a:r>
                    </a:p>
                  </a:txBody>
                  <a:tcPr marL="73152" marR="73152" marT="27432" marB="27432" anchor="ctr">
                    <a:solidFill>
                      <a:srgbClr val="17243E"/>
                    </a:solidFill>
                  </a:tcPr>
                </a:tc>
                <a:tc>
                  <a:txBody>
                    <a:bodyPr wrap="square"/>
                    <a:lstStyle/>
                    <a:p>
                      <a:pPr algn="l"/>
                      <a:r>
                        <a:rPr sz="1000" b="0">
                          <a:solidFill>
                            <a:srgbClr val="F2F6FF"/>
                          </a:solidFill>
                          <a:latin typeface="Calibri"/>
                        </a:rPr>
                        <a:t>RW</a:t>
                      </a:r>
                    </a:p>
                  </a:txBody>
                  <a:tcPr marL="73152" marR="73152" marT="27432" marB="27432" anchor="ctr">
                    <a:solidFill>
                      <a:srgbClr val="17243E"/>
                    </a:solidFill>
                  </a:tcPr>
                </a:tc>
                <a:tc>
                  <a:txBody>
                    <a:bodyPr wrap="square"/>
                    <a:lstStyle/>
                    <a:p>
                      <a:pPr algn="l"/>
                      <a:r>
                        <a:rPr sz="1000" b="0">
                          <a:solidFill>
                            <a:srgbClr val="F2F6FF"/>
                          </a:solidFill>
                          <a:latin typeface="Calibri"/>
                        </a:rPr>
                        <a:t>P2.4</a:t>
                      </a:r>
                    </a:p>
                  </a:txBody>
                  <a:tcPr marL="73152" marR="73152" marT="27432" marB="27432" anchor="ctr">
                    <a:solidFill>
                      <a:srgbClr val="17243E"/>
                    </a:solidFill>
                  </a:tcPr>
                </a:tc>
                <a:tc>
                  <a:txBody>
                    <a:bodyPr wrap="square"/>
                    <a:lstStyle/>
                    <a:p>
                      <a:pPr algn="l"/>
                      <a:r>
                        <a:rPr sz="1000" b="0">
                          <a:solidFill>
                            <a:srgbClr val="F2F6FF"/>
                          </a:solidFill>
                          <a:latin typeface="Calibri"/>
                        </a:rPr>
                        <a:t>0 = write, 1 = read</a:t>
                      </a:r>
                    </a:p>
                  </a:txBody>
                  <a:tcPr marL="73152" marR="73152" marT="27432" marB="27432" anchor="ctr">
                    <a:solidFill>
                      <a:srgbClr val="17243E"/>
                    </a:solidFill>
                  </a:tcPr>
                </a:tc>
              </a:tr>
              <a:tr h="283464">
                <a:tc>
                  <a:txBody>
                    <a:bodyPr wrap="square"/>
                    <a:lstStyle/>
                    <a:p>
                      <a:pPr algn="ctr"/>
                      <a:r>
                        <a:rPr sz="1000" b="0">
                          <a:solidFill>
                            <a:srgbClr val="F2F6FF"/>
                          </a:solidFill>
                          <a:latin typeface="Calibri"/>
                        </a:rPr>
                        <a:t>6</a:t>
                      </a:r>
                    </a:p>
                  </a:txBody>
                  <a:tcPr marL="73152" marR="73152" marT="27432" marB="27432" anchor="ctr">
                    <a:solidFill>
                      <a:srgbClr val="1E2E4E"/>
                    </a:solidFill>
                  </a:tcPr>
                </a:tc>
                <a:tc>
                  <a:txBody>
                    <a:bodyPr wrap="square"/>
                    <a:lstStyle/>
                    <a:p>
                      <a:pPr algn="l"/>
                      <a:r>
                        <a:rPr sz="1000" b="0">
                          <a:solidFill>
                            <a:srgbClr val="F2F6FF"/>
                          </a:solidFill>
                          <a:latin typeface="Calibri"/>
                        </a:rPr>
                        <a:t>E</a:t>
                      </a:r>
                    </a:p>
                  </a:txBody>
                  <a:tcPr marL="73152" marR="73152" marT="27432" marB="27432" anchor="ctr">
                    <a:solidFill>
                      <a:srgbClr val="1E2E4E"/>
                    </a:solidFill>
                  </a:tcPr>
                </a:tc>
                <a:tc>
                  <a:txBody>
                    <a:bodyPr wrap="square"/>
                    <a:lstStyle/>
                    <a:p>
                      <a:pPr algn="l"/>
                      <a:r>
                        <a:rPr sz="1000" b="0">
                          <a:solidFill>
                            <a:srgbClr val="F2F6FF"/>
                          </a:solidFill>
                          <a:latin typeface="Calibri"/>
                        </a:rPr>
                        <a:t>P2.2</a:t>
                      </a:r>
                    </a:p>
                  </a:txBody>
                  <a:tcPr marL="73152" marR="73152" marT="27432" marB="27432" anchor="ctr">
                    <a:solidFill>
                      <a:srgbClr val="1E2E4E"/>
                    </a:solidFill>
                  </a:tcPr>
                </a:tc>
                <a:tc>
                  <a:txBody>
                    <a:bodyPr wrap="square"/>
                    <a:lstStyle/>
                    <a:p>
                      <a:pPr algn="l"/>
                      <a:r>
                        <a:rPr sz="1000" b="0">
                          <a:solidFill>
                            <a:srgbClr val="F2F6FF"/>
                          </a:solidFill>
                          <a:latin typeface="Calibri"/>
                        </a:rPr>
                        <a:t>enable, data taken on the falling edge</a:t>
                      </a:r>
                    </a:p>
                  </a:txBody>
                  <a:tcPr marL="73152" marR="73152" marT="27432" marB="27432" anchor="ctr">
                    <a:solidFill>
                      <a:srgbClr val="1E2E4E"/>
                    </a:solidFill>
                  </a:tcPr>
                </a:tc>
              </a:tr>
              <a:tr h="283464">
                <a:tc>
                  <a:txBody>
                    <a:bodyPr wrap="square"/>
                    <a:lstStyle/>
                    <a:p>
                      <a:pPr algn="ctr"/>
                      <a:r>
                        <a:rPr sz="1000" b="0">
                          <a:solidFill>
                            <a:srgbClr val="F2F6FF"/>
                          </a:solidFill>
                          <a:latin typeface="Calibri"/>
                        </a:rPr>
                        <a:t>7-14</a:t>
                      </a:r>
                    </a:p>
                  </a:txBody>
                  <a:tcPr marL="73152" marR="73152" marT="27432" marB="27432" anchor="ctr">
                    <a:solidFill>
                      <a:srgbClr val="17243E"/>
                    </a:solidFill>
                  </a:tcPr>
                </a:tc>
                <a:tc>
                  <a:txBody>
                    <a:bodyPr wrap="square"/>
                    <a:lstStyle/>
                    <a:p>
                      <a:pPr algn="l"/>
                      <a:r>
                        <a:rPr sz="1000" b="0">
                          <a:solidFill>
                            <a:srgbClr val="F2F6FF"/>
                          </a:solidFill>
                          <a:latin typeface="Calibri"/>
                        </a:rPr>
                        <a:t>D0-D7</a:t>
                      </a:r>
                    </a:p>
                  </a:txBody>
                  <a:tcPr marL="73152" marR="73152" marT="27432" marB="27432" anchor="ctr">
                    <a:solidFill>
                      <a:srgbClr val="17243E"/>
                    </a:solidFill>
                  </a:tcPr>
                </a:tc>
                <a:tc>
                  <a:txBody>
                    <a:bodyPr wrap="square"/>
                    <a:lstStyle/>
                    <a:p>
                      <a:pPr algn="l"/>
                      <a:r>
                        <a:rPr sz="1000" b="0">
                          <a:solidFill>
                            <a:srgbClr val="F2F6FF"/>
                          </a:solidFill>
                          <a:latin typeface="Calibri"/>
                        </a:rPr>
                        <a:t>BD0-BD7</a:t>
                      </a:r>
                    </a:p>
                  </a:txBody>
                  <a:tcPr marL="73152" marR="73152" marT="27432" marB="27432" anchor="ctr">
                    <a:solidFill>
                      <a:srgbClr val="17243E"/>
                    </a:solidFill>
                  </a:tcPr>
                </a:tc>
                <a:tc>
                  <a:txBody>
                    <a:bodyPr wrap="square"/>
                    <a:lstStyle/>
                    <a:p>
                      <a:pPr algn="l"/>
                      <a:r>
                        <a:rPr sz="1000" b="0">
                          <a:solidFill>
                            <a:srgbClr val="F2F6FF"/>
                          </a:solidFill>
                          <a:latin typeface="Calibri"/>
                        </a:rPr>
                        <a:t>8-bit data on the shared bus</a:t>
                      </a:r>
                    </a:p>
                  </a:txBody>
                  <a:tcPr marL="73152" marR="73152" marT="27432" marB="27432" anchor="ctr">
                    <a:solidFill>
                      <a:srgbClr val="17243E"/>
                    </a:solidFill>
                  </a:tcPr>
                </a:tc>
              </a:tr>
              <a:tr h="283464">
                <a:tc>
                  <a:txBody>
                    <a:bodyPr wrap="square"/>
                    <a:lstStyle/>
                    <a:p>
                      <a:pPr algn="ctr"/>
                      <a:r>
                        <a:rPr sz="1000" b="0">
                          <a:solidFill>
                            <a:srgbClr val="F2F6FF"/>
                          </a:solidFill>
                          <a:latin typeface="Calibri"/>
                        </a:rPr>
                        <a:t>15</a:t>
                      </a:r>
                    </a:p>
                  </a:txBody>
                  <a:tcPr marL="73152" marR="73152" marT="27432" marB="27432" anchor="ctr">
                    <a:solidFill>
                      <a:srgbClr val="1E2E4E"/>
                    </a:solidFill>
                  </a:tcPr>
                </a:tc>
                <a:tc>
                  <a:txBody>
                    <a:bodyPr wrap="square"/>
                    <a:lstStyle/>
                    <a:p>
                      <a:pPr algn="l"/>
                      <a:r>
                        <a:rPr sz="1000" b="0">
                          <a:solidFill>
                            <a:srgbClr val="F2F6FF"/>
                          </a:solidFill>
                          <a:latin typeface="Calibri"/>
                        </a:rPr>
                        <a:t>A</a:t>
                      </a:r>
                    </a:p>
                  </a:txBody>
                  <a:tcPr marL="73152" marR="73152" marT="27432" marB="27432" anchor="ctr">
                    <a:solidFill>
                      <a:srgbClr val="1E2E4E"/>
                    </a:solidFill>
                  </a:tcPr>
                </a:tc>
                <a:tc>
                  <a:txBody>
                    <a:bodyPr wrap="square"/>
                    <a:lstStyle/>
                    <a:p>
                      <a:pPr algn="l"/>
                      <a:r>
                        <a:rPr sz="1000" b="0">
                          <a:solidFill>
                            <a:srgbClr val="F2F6FF"/>
                          </a:solidFill>
                          <a:latin typeface="Calibri"/>
                        </a:rPr>
                        <a:t>+5 V via 220 Ohm</a:t>
                      </a:r>
                    </a:p>
                  </a:txBody>
                  <a:tcPr marL="73152" marR="73152" marT="27432" marB="27432" anchor="ctr">
                    <a:solidFill>
                      <a:srgbClr val="1E2E4E"/>
                    </a:solidFill>
                  </a:tcPr>
                </a:tc>
                <a:tc>
                  <a:txBody>
                    <a:bodyPr wrap="square"/>
                    <a:lstStyle/>
                    <a:p>
                      <a:pPr algn="l"/>
                      <a:r>
                        <a:rPr sz="1000" b="0">
                          <a:solidFill>
                            <a:srgbClr val="F2F6FF"/>
                          </a:solidFill>
                          <a:latin typeface="Calibri"/>
                        </a:rPr>
                        <a:t>backlight anode</a:t>
                      </a:r>
                    </a:p>
                  </a:txBody>
                  <a:tcPr marL="73152" marR="73152" marT="27432" marB="27432" anchor="ctr">
                    <a:solidFill>
                      <a:srgbClr val="1E2E4E"/>
                    </a:solidFill>
                  </a:tcPr>
                </a:tc>
              </a:tr>
              <a:tr h="283464">
                <a:tc>
                  <a:txBody>
                    <a:bodyPr wrap="square"/>
                    <a:lstStyle/>
                    <a:p>
                      <a:pPr algn="ctr"/>
                      <a:r>
                        <a:rPr sz="1000" b="0">
                          <a:solidFill>
                            <a:srgbClr val="F2F6FF"/>
                          </a:solidFill>
                          <a:latin typeface="Calibri"/>
                        </a:rPr>
                        <a:t>16</a:t>
                      </a:r>
                    </a:p>
                  </a:txBody>
                  <a:tcPr marL="73152" marR="73152" marT="27432" marB="27432" anchor="ctr">
                    <a:solidFill>
                      <a:srgbClr val="17243E"/>
                    </a:solidFill>
                  </a:tcPr>
                </a:tc>
                <a:tc>
                  <a:txBody>
                    <a:bodyPr wrap="square"/>
                    <a:lstStyle/>
                    <a:p>
                      <a:pPr algn="l"/>
                      <a:r>
                        <a:rPr sz="1000" b="0">
                          <a:solidFill>
                            <a:srgbClr val="F2F6FF"/>
                          </a:solidFill>
                          <a:latin typeface="Calibri"/>
                        </a:rPr>
                        <a:t>K</a:t>
                      </a:r>
                    </a:p>
                  </a:txBody>
                  <a:tcPr marL="73152" marR="73152" marT="27432" marB="27432" anchor="ctr">
                    <a:solidFill>
                      <a:srgbClr val="17243E"/>
                    </a:solidFill>
                  </a:tcPr>
                </a:tc>
                <a:tc>
                  <a:txBody>
                    <a:bodyPr wrap="square"/>
                    <a:lstStyle/>
                    <a:p>
                      <a:pPr algn="l"/>
                      <a:r>
                        <a:rPr sz="1000" b="0">
                          <a:solidFill>
                            <a:srgbClr val="F2F6FF"/>
                          </a:solidFill>
                          <a:latin typeface="Calibri"/>
                        </a:rPr>
                        <a:t>GND</a:t>
                      </a:r>
                    </a:p>
                  </a:txBody>
                  <a:tcPr marL="73152" marR="73152" marT="27432" marB="27432" anchor="ctr">
                    <a:solidFill>
                      <a:srgbClr val="17243E"/>
                    </a:solidFill>
                  </a:tcPr>
                </a:tc>
                <a:tc>
                  <a:txBody>
                    <a:bodyPr wrap="square"/>
                    <a:lstStyle/>
                    <a:p>
                      <a:pPr algn="l"/>
                      <a:r>
                        <a:rPr sz="1000" b="0">
                          <a:solidFill>
                            <a:srgbClr val="F2F6FF"/>
                          </a:solidFill>
                          <a:latin typeface="Calibri"/>
                        </a:rPr>
                        <a:t>backlight cathode</a:t>
                      </a:r>
                    </a:p>
                  </a:txBody>
                  <a:tcPr marL="73152" marR="73152" marT="27432" marB="27432" anchor="ctr">
                    <a:solidFill>
                      <a:srgbClr val="17243E"/>
                    </a:solidFill>
                  </a:tcPr>
                </a:tc>
              </a:tr>
            </a:tbl>
          </a:graphicData>
        </a:graphic>
      </p:graphicFrame>
      <p:sp>
        <p:nvSpPr>
          <p:cNvPr id="12" name="Rounded Rectangle 11"/>
          <p:cNvSpPr/>
          <p:nvPr/>
        </p:nvSpPr>
        <p:spPr>
          <a:xfrm>
            <a:off x="7470648" y="1645920"/>
            <a:ext cx="4151376" cy="2834640"/>
          </a:xfrm>
          <a:prstGeom prst="roundRect">
            <a:avLst>
              <a:gd name="adj" fmla="val 6000"/>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1773936"/>
            <a:ext cx="3785615" cy="219456"/>
          </a:xfrm>
          <a:prstGeom prst="rect">
            <a:avLst/>
          </a:prstGeom>
          <a:noFill/>
        </p:spPr>
        <p:txBody>
          <a:bodyPr wrap="square" lIns="0" rIns="0" tIns="0" bIns="0" anchor="t">
            <a:spAutoFit/>
          </a:bodyPr>
          <a:lstStyle/>
          <a:p>
            <a:pPr algn="l">
              <a:lnSpc>
                <a:spcPct val="100000"/>
              </a:lnSpc>
              <a:spcAft>
                <a:spcPts val="0"/>
              </a:spcAft>
            </a:pPr>
            <a:r>
              <a:rPr sz="950" b="1" i="0">
                <a:solidFill>
                  <a:srgbClr val="6F81A5"/>
                </a:solidFill>
                <a:latin typeface="Calibri"/>
              </a:rPr>
              <a:t>INITIALISATION</a:t>
            </a:r>
          </a:p>
        </p:txBody>
      </p:sp>
      <p:sp>
        <p:nvSpPr>
          <p:cNvPr id="14" name="TextBox 13"/>
          <p:cNvSpPr txBox="1"/>
          <p:nvPr/>
        </p:nvSpPr>
        <p:spPr>
          <a:xfrm>
            <a:off x="7671816" y="2029967"/>
            <a:ext cx="3785615" cy="2359152"/>
          </a:xfrm>
          <a:prstGeom prst="rect">
            <a:avLst/>
          </a:prstGeom>
          <a:noFill/>
        </p:spPr>
        <p:txBody>
          <a:bodyPr wrap="square" lIns="0" rIns="0" tIns="0" bIns="0" anchor="t">
            <a:spAutoFit/>
          </a:bodyPr>
          <a:lstStyle/>
          <a:p>
            <a:pPr algn="l">
              <a:lnSpc>
                <a:spcPct val="114000"/>
              </a:lnSpc>
              <a:spcAft>
                <a:spcPts val="0"/>
              </a:spcAft>
            </a:pPr>
            <a:r>
              <a:rPr sz="1000" b="0" i="0">
                <a:solidFill>
                  <a:srgbClr val="CFE0FF"/>
                </a:solidFill>
                <a:latin typeface="Consolas"/>
              </a:rPr>
              <a:t>lcd_cmd(0x38);   /* 8-bit, 2 lines, 5x7  */</a:t>
            </a:r>
          </a:p>
          <a:p>
            <a:pPr algn="l">
              <a:lnSpc>
                <a:spcPct val="114000"/>
              </a:lnSpc>
              <a:spcAft>
                <a:spcPts val="0"/>
              </a:spcAft>
            </a:pPr>
            <a:r>
              <a:rPr sz="1000" b="0" i="0">
                <a:solidFill>
                  <a:srgbClr val="CFE0FF"/>
                </a:solidFill>
                <a:latin typeface="Consolas"/>
              </a:rPr>
              <a:t>lcd_cmd(0x0C);   /* display on, cursor off*/</a:t>
            </a:r>
          </a:p>
          <a:p>
            <a:pPr algn="l">
              <a:lnSpc>
                <a:spcPct val="114000"/>
              </a:lnSpc>
              <a:spcAft>
                <a:spcPts val="0"/>
              </a:spcAft>
            </a:pPr>
            <a:r>
              <a:rPr sz="1000" b="0" i="0">
                <a:solidFill>
                  <a:srgbClr val="CFE0FF"/>
                </a:solidFill>
                <a:latin typeface="Consolas"/>
              </a:rPr>
              <a:t>lcd_cmd(0x06);   /* increment on write    */</a:t>
            </a:r>
          </a:p>
          <a:p>
            <a:pPr algn="l">
              <a:lnSpc>
                <a:spcPct val="114000"/>
              </a:lnSpc>
              <a:spcAft>
                <a:spcPts val="0"/>
              </a:spcAft>
            </a:pPr>
            <a:r>
              <a:rPr sz="1000" b="0" i="0">
                <a:solidFill>
                  <a:srgbClr val="CFE0FF"/>
                </a:solidFill>
                <a:latin typeface="Consolas"/>
              </a:rPr>
              <a:t>lcd_cmd(0x01);   /* clear display         */</a:t>
            </a:r>
          </a:p>
          <a:p>
            <a:pPr algn="l">
              <a:lnSpc>
                <a:spcPct val="114000"/>
              </a:lnSpc>
              <a:spcAft>
                <a:spcPts val="0"/>
              </a:spcAft>
            </a:pPr>
            <a:r>
              <a:rPr sz="1000" b="0" i="0">
                <a:solidFill>
                  <a:srgbClr val="CFE0FF"/>
                </a:solidFill>
                <a:latin typeface="Consolas"/>
              </a:rPr>
              <a:t>lcd_gotoxy(0, 0);</a:t>
            </a:r>
          </a:p>
          <a:p>
            <a:pPr algn="l">
              <a:lnSpc>
                <a:spcPct val="114000"/>
              </a:lnSpc>
              <a:spcAft>
                <a:spcPts val="0"/>
              </a:spcAft>
            </a:pPr>
            <a:r>
              <a:rPr sz="1000" b="0" i="0">
                <a:solidFill>
                  <a:srgbClr val="CFE0FF"/>
                </a:solidFill>
                <a:latin typeface="Consolas"/>
              </a:rPr>
              <a:t>lcd_string("8051 HARDWARE");</a:t>
            </a:r>
          </a:p>
        </p:txBody>
      </p:sp>
      <p:sp>
        <p:nvSpPr>
          <p:cNvPr id="15" name="Rounded Rectangle 14"/>
          <p:cNvSpPr/>
          <p:nvPr/>
        </p:nvSpPr>
        <p:spPr>
          <a:xfrm>
            <a:off x="566928" y="4663440"/>
            <a:ext cx="11058113" cy="157276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828032"/>
            <a:ext cx="10546049" cy="1280160"/>
          </a:xfrm>
          <a:prstGeom prst="rect">
            <a:avLst/>
          </a:prstGeom>
          <a:noFill/>
        </p:spPr>
        <p:txBody>
          <a:bodyPr wrap="square" lIns="0" rIns="0" tIns="0" bIns="0" anchor="t">
            <a:spAutoFit/>
          </a:bodyPr>
          <a:lstStyle/>
          <a:p>
            <a:pPr algn="l">
              <a:lnSpc>
                <a:spcPct val="118000"/>
              </a:lnSpc>
              <a:spcAft>
                <a:spcPts val="300"/>
              </a:spcAft>
            </a:pPr>
            <a:r>
              <a:rPr sz="1300" b="1" i="0">
                <a:solidFill>
                  <a:srgbClr val="F2F6FF"/>
                </a:solidFill>
                <a:latin typeface="Calibri"/>
              </a:rPr>
              <a:t>Timing and the shared bus</a:t>
            </a:r>
          </a:p>
          <a:p>
            <a:pPr algn="l">
              <a:lnSpc>
                <a:spcPct val="118000"/>
              </a:lnSpc>
              <a:spcAft>
                <a:spcPts val="300"/>
              </a:spcAft>
            </a:pPr>
            <a:r>
              <a:rPr sz="1100" b="0" i="0">
                <a:solidFill>
                  <a:srgbClr val="A9B8D6"/>
                </a:solidFill>
                <a:latin typeface="Calibri"/>
              </a:rPr>
              <a:t>The enable pulse stays high for about 8 machine cycles, roughly 8.7 us, far above the 450 ns minimum the HD44780 needs. Commands wait 2 ms afterwards so the clear and home instructions can complete.</a:t>
            </a:r>
          </a:p>
          <a:p>
            <a:pPr algn="l">
              <a:lnSpc>
                <a:spcPct val="118000"/>
              </a:lnSpc>
              <a:spcAft>
                <a:spcPts val="300"/>
              </a:spcAft>
            </a:pPr>
            <a:r>
              <a:rPr sz="1100" b="0" i="0">
                <a:solidFill>
                  <a:srgbClr val="A9B8D6"/>
                </a:solidFill>
                <a:latin typeface="Calibri"/>
              </a:rPr>
              <a:t>Because the data pins sit on the shared bus, lcd_write brackets the transfer the same way as every other driver: save, write, strobe, restore, with interrupts disabled.</a:t>
            </a:r>
          </a:p>
          <a:p>
            <a:pPr algn="l">
              <a:lnSpc>
                <a:spcPct val="118000"/>
              </a:lnSpc>
              <a:spcAft>
                <a:spcPts val="300"/>
              </a:spcAft>
            </a:pPr>
            <a:r>
              <a:rPr sz="1100" b="0" i="0">
                <a:solidFill>
                  <a:srgbClr val="CFE0FF"/>
                </a:solidFill>
                <a:latin typeface="Calibri"/>
              </a:rPr>
              <a:t>RW is driven from P2.4 so the busy flag can be polled. The shipped driver uses fixed delays instead, so RW may be tied to ground to free one pin.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SERIAL LINK</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MAX232 and DB9 at 9600 baud</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The reason the board uses 11.0592 MHz instead of 12 MHz</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15</a:t>
            </a:r>
          </a:p>
        </p:txBody>
      </p:sp>
      <p:graphicFrame>
        <p:nvGraphicFramePr>
          <p:cNvPr id="11" name="Table 10"/>
          <p:cNvGraphicFramePr>
            <a:graphicFrameLocks noGrp="1"/>
          </p:cNvGraphicFramePr>
          <p:nvPr/>
        </p:nvGraphicFramePr>
        <p:xfrm>
          <a:off x="566928" y="1645920"/>
          <a:ext cx="5074917" cy="2743200"/>
        </p:xfrm>
        <a:graphic>
          <a:graphicData uri="http://schemas.openxmlformats.org/drawingml/2006/table">
            <a:tbl>
              <a:tblPr firstRow="1">
                <a:tableStyleId>{5C22544A-7EE6-4342-B048-85BDC9FD1C3A}</a:tableStyleId>
              </a:tblPr>
              <a:tblGrid>
                <a:gridCol w="1234439"/>
                <a:gridCol w="1371599"/>
                <a:gridCol w="2468879"/>
              </a:tblGrid>
              <a:tr h="274320">
                <a:tc>
                  <a:txBody>
                    <a:bodyPr wrap="square"/>
                    <a:lstStyle/>
                    <a:p>
                      <a:pPr algn="l"/>
                      <a:r>
                        <a:rPr sz="1000" b="1">
                          <a:solidFill>
                            <a:srgbClr val="CFE0FF"/>
                          </a:solidFill>
                          <a:latin typeface="Calibri"/>
                        </a:rPr>
                        <a:t>MAX232 pin</a:t>
                      </a:r>
                    </a:p>
                  </a:txBody>
                  <a:tcPr marL="73152" marR="73152" marT="27432" marB="27432" anchor="ctr">
                    <a:solidFill>
                      <a:srgbClr val="2A3C63"/>
                    </a:solidFill>
                  </a:tcPr>
                </a:tc>
                <a:tc>
                  <a:txBody>
                    <a:bodyPr wrap="square"/>
                    <a:lstStyle/>
                    <a:p>
                      <a:pPr algn="l"/>
                      <a:r>
                        <a:rPr sz="1000" b="1">
                          <a:solidFill>
                            <a:srgbClr val="CFE0FF"/>
                          </a:solidFill>
                          <a:latin typeface="Calibri"/>
                        </a:rPr>
                        <a:t>Name</a:t>
                      </a:r>
                    </a:p>
                  </a:txBody>
                  <a:tcPr marL="73152" marR="73152" marT="27432" marB="27432" anchor="ctr">
                    <a:solidFill>
                      <a:srgbClr val="2A3C63"/>
                    </a:solidFill>
                  </a:tcPr>
                </a:tc>
                <a:tc>
                  <a:txBody>
                    <a:bodyPr wrap="square"/>
                    <a:lstStyle/>
                    <a:p>
                      <a:pPr algn="l"/>
                      <a:r>
                        <a:rPr sz="1000" b="1">
                          <a:solidFill>
                            <a:srgbClr val="CFE0FF"/>
                          </a:solidFill>
                          <a:latin typeface="Calibri"/>
                        </a:rPr>
                        <a:t>Connected to</a:t>
                      </a:r>
                    </a:p>
                  </a:txBody>
                  <a:tcPr marL="73152" marR="73152" marT="27432" marB="27432" anchor="ctr">
                    <a:solidFill>
                      <a:srgbClr val="2A3C63"/>
                    </a:solidFill>
                  </a:tcPr>
                </a:tc>
              </a:tr>
              <a:tr h="274320">
                <a:tc>
                  <a:txBody>
                    <a:bodyPr wrap="square"/>
                    <a:lstStyle/>
                    <a:p>
                      <a:pPr algn="l"/>
                      <a:r>
                        <a:rPr sz="1000" b="0">
                          <a:solidFill>
                            <a:srgbClr val="F2F6FF"/>
                          </a:solidFill>
                          <a:latin typeface="Calibri"/>
                        </a:rPr>
                        <a:t>1, 3</a:t>
                      </a:r>
                    </a:p>
                  </a:txBody>
                  <a:tcPr marL="73152" marR="73152" marT="27432" marB="27432" anchor="ctr">
                    <a:solidFill>
                      <a:srgbClr val="17243E"/>
                    </a:solidFill>
                  </a:tcPr>
                </a:tc>
                <a:tc>
                  <a:txBody>
                    <a:bodyPr wrap="square"/>
                    <a:lstStyle/>
                    <a:p>
                      <a:pPr algn="l"/>
                      <a:r>
                        <a:rPr sz="1000" b="0">
                          <a:solidFill>
                            <a:srgbClr val="F2F6FF"/>
                          </a:solidFill>
                          <a:latin typeface="Calibri"/>
                        </a:rPr>
                        <a:t>C1+ , C1-</a:t>
                      </a:r>
                    </a:p>
                  </a:txBody>
                  <a:tcPr marL="73152" marR="73152" marT="27432" marB="27432" anchor="ctr">
                    <a:solidFill>
                      <a:srgbClr val="17243E"/>
                    </a:solidFill>
                  </a:tcPr>
                </a:tc>
                <a:tc>
                  <a:txBody>
                    <a:bodyPr wrap="square"/>
                    <a:lstStyle/>
                    <a:p>
                      <a:pPr algn="l"/>
                      <a:r>
                        <a:rPr sz="1000" b="0">
                          <a:solidFill>
                            <a:srgbClr val="F2F6FF"/>
                          </a:solidFill>
                          <a:latin typeface="Calibri"/>
                        </a:rPr>
                        <a:t>C7a, 1 uF</a:t>
                      </a:r>
                    </a:p>
                  </a:txBody>
                  <a:tcPr marL="73152" marR="73152" marT="27432" marB="27432" anchor="ctr">
                    <a:solidFill>
                      <a:srgbClr val="17243E"/>
                    </a:solidFill>
                  </a:tcPr>
                </a:tc>
              </a:tr>
              <a:tr h="274320">
                <a:tc>
                  <a:txBody>
                    <a:bodyPr wrap="square"/>
                    <a:lstStyle/>
                    <a:p>
                      <a:pPr algn="l"/>
                      <a:r>
                        <a:rPr sz="1000" b="0">
                          <a:solidFill>
                            <a:srgbClr val="F2F6FF"/>
                          </a:solidFill>
                          <a:latin typeface="Calibri"/>
                        </a:rPr>
                        <a:t>4, 5</a:t>
                      </a:r>
                    </a:p>
                  </a:txBody>
                  <a:tcPr marL="73152" marR="73152" marT="27432" marB="27432" anchor="ctr">
                    <a:solidFill>
                      <a:srgbClr val="1E2E4E"/>
                    </a:solidFill>
                  </a:tcPr>
                </a:tc>
                <a:tc>
                  <a:txBody>
                    <a:bodyPr wrap="square"/>
                    <a:lstStyle/>
                    <a:p>
                      <a:pPr algn="l"/>
                      <a:r>
                        <a:rPr sz="1000" b="0">
                          <a:solidFill>
                            <a:srgbClr val="F2F6FF"/>
                          </a:solidFill>
                          <a:latin typeface="Calibri"/>
                        </a:rPr>
                        <a:t>C2+ , C2-</a:t>
                      </a:r>
                    </a:p>
                  </a:txBody>
                  <a:tcPr marL="73152" marR="73152" marT="27432" marB="27432" anchor="ctr">
                    <a:solidFill>
                      <a:srgbClr val="1E2E4E"/>
                    </a:solidFill>
                  </a:tcPr>
                </a:tc>
                <a:tc>
                  <a:txBody>
                    <a:bodyPr wrap="square"/>
                    <a:lstStyle/>
                    <a:p>
                      <a:pPr algn="l"/>
                      <a:r>
                        <a:rPr sz="1000" b="0">
                          <a:solidFill>
                            <a:srgbClr val="F2F6FF"/>
                          </a:solidFill>
                          <a:latin typeface="Calibri"/>
                        </a:rPr>
                        <a:t>C7b, 1 uF</a:t>
                      </a:r>
                    </a:p>
                  </a:txBody>
                  <a:tcPr marL="73152" marR="73152" marT="27432" marB="27432" anchor="ctr">
                    <a:solidFill>
                      <a:srgbClr val="1E2E4E"/>
                    </a:solidFill>
                  </a:tcPr>
                </a:tc>
              </a:tr>
              <a:tr h="274320">
                <a:tc>
                  <a:txBody>
                    <a:bodyPr wrap="square"/>
                    <a:lstStyle/>
                    <a:p>
                      <a:pPr algn="l"/>
                      <a:r>
                        <a:rPr sz="1000" b="0">
                          <a:solidFill>
                            <a:srgbClr val="F2F6FF"/>
                          </a:solidFill>
                          <a:latin typeface="Calibri"/>
                        </a:rPr>
                        <a:t>2</a:t>
                      </a:r>
                    </a:p>
                  </a:txBody>
                  <a:tcPr marL="73152" marR="73152" marT="27432" marB="27432" anchor="ctr">
                    <a:solidFill>
                      <a:srgbClr val="17243E"/>
                    </a:solidFill>
                  </a:tcPr>
                </a:tc>
                <a:tc>
                  <a:txBody>
                    <a:bodyPr wrap="square"/>
                    <a:lstStyle/>
                    <a:p>
                      <a:pPr algn="l"/>
                      <a:r>
                        <a:rPr sz="1000" b="0">
                          <a:solidFill>
                            <a:srgbClr val="F2F6FF"/>
                          </a:solidFill>
                          <a:latin typeface="Calibri"/>
                        </a:rPr>
                        <a:t>V+</a:t>
                      </a:r>
                    </a:p>
                  </a:txBody>
                  <a:tcPr marL="73152" marR="73152" marT="27432" marB="27432" anchor="ctr">
                    <a:solidFill>
                      <a:srgbClr val="17243E"/>
                    </a:solidFill>
                  </a:tcPr>
                </a:tc>
                <a:tc>
                  <a:txBody>
                    <a:bodyPr wrap="square"/>
                    <a:lstStyle/>
                    <a:p>
                      <a:pPr algn="l"/>
                      <a:r>
                        <a:rPr sz="1000" b="0">
                          <a:solidFill>
                            <a:srgbClr val="F2F6FF"/>
                          </a:solidFill>
                          <a:latin typeface="Calibri"/>
                        </a:rPr>
                        <a:t>C7c to +5 V, not to ground</a:t>
                      </a:r>
                    </a:p>
                  </a:txBody>
                  <a:tcPr marL="73152" marR="73152" marT="27432" marB="27432" anchor="ctr">
                    <a:solidFill>
                      <a:srgbClr val="17243E"/>
                    </a:solidFill>
                  </a:tcPr>
                </a:tc>
              </a:tr>
              <a:tr h="274320">
                <a:tc>
                  <a:txBody>
                    <a:bodyPr wrap="square"/>
                    <a:lstStyle/>
                    <a:p>
                      <a:pPr algn="l"/>
                      <a:r>
                        <a:rPr sz="1000" b="0">
                          <a:solidFill>
                            <a:srgbClr val="F2F6FF"/>
                          </a:solidFill>
                          <a:latin typeface="Calibri"/>
                        </a:rPr>
                        <a:t>6</a:t>
                      </a:r>
                    </a:p>
                  </a:txBody>
                  <a:tcPr marL="73152" marR="73152" marT="27432" marB="27432" anchor="ctr">
                    <a:solidFill>
                      <a:srgbClr val="1E2E4E"/>
                    </a:solidFill>
                  </a:tcPr>
                </a:tc>
                <a:tc>
                  <a:txBody>
                    <a:bodyPr wrap="square"/>
                    <a:lstStyle/>
                    <a:p>
                      <a:pPr algn="l"/>
                      <a:r>
                        <a:rPr sz="1000" b="0">
                          <a:solidFill>
                            <a:srgbClr val="F2F6FF"/>
                          </a:solidFill>
                          <a:latin typeface="Calibri"/>
                        </a:rPr>
                        <a:t>V-</a:t>
                      </a:r>
                    </a:p>
                  </a:txBody>
                  <a:tcPr marL="73152" marR="73152" marT="27432" marB="27432" anchor="ctr">
                    <a:solidFill>
                      <a:srgbClr val="1E2E4E"/>
                    </a:solidFill>
                  </a:tcPr>
                </a:tc>
                <a:tc>
                  <a:txBody>
                    <a:bodyPr wrap="square"/>
                    <a:lstStyle/>
                    <a:p>
                      <a:pPr algn="l"/>
                      <a:r>
                        <a:rPr sz="1000" b="0">
                          <a:solidFill>
                            <a:srgbClr val="F2F6FF"/>
                          </a:solidFill>
                          <a:latin typeface="Calibri"/>
                        </a:rPr>
                        <a:t>C7d, positive leg to ground</a:t>
                      </a:r>
                    </a:p>
                  </a:txBody>
                  <a:tcPr marL="73152" marR="73152" marT="27432" marB="27432" anchor="ctr">
                    <a:solidFill>
                      <a:srgbClr val="1E2E4E"/>
                    </a:solidFill>
                  </a:tcPr>
                </a:tc>
              </a:tr>
              <a:tr h="274320">
                <a:tc>
                  <a:txBody>
                    <a:bodyPr wrap="square"/>
                    <a:lstStyle/>
                    <a:p>
                      <a:pPr algn="l"/>
                      <a:r>
                        <a:rPr sz="1000" b="0">
                          <a:solidFill>
                            <a:srgbClr val="F2F6FF"/>
                          </a:solidFill>
                          <a:latin typeface="Calibri"/>
                        </a:rPr>
                        <a:t>11</a:t>
                      </a:r>
                    </a:p>
                  </a:txBody>
                  <a:tcPr marL="73152" marR="73152" marT="27432" marB="27432" anchor="ctr">
                    <a:solidFill>
                      <a:srgbClr val="17243E"/>
                    </a:solidFill>
                  </a:tcPr>
                </a:tc>
                <a:tc>
                  <a:txBody>
                    <a:bodyPr wrap="square"/>
                    <a:lstStyle/>
                    <a:p>
                      <a:pPr algn="l"/>
                      <a:r>
                        <a:rPr sz="1000" b="0">
                          <a:solidFill>
                            <a:srgbClr val="F2F6FF"/>
                          </a:solidFill>
                          <a:latin typeface="Calibri"/>
                        </a:rPr>
                        <a:t>T1IN</a:t>
                      </a:r>
                    </a:p>
                  </a:txBody>
                  <a:tcPr marL="73152" marR="73152" marT="27432" marB="27432" anchor="ctr">
                    <a:solidFill>
                      <a:srgbClr val="17243E"/>
                    </a:solidFill>
                  </a:tcPr>
                </a:tc>
                <a:tc>
                  <a:txBody>
                    <a:bodyPr wrap="square"/>
                    <a:lstStyle/>
                    <a:p>
                      <a:pPr algn="l"/>
                      <a:r>
                        <a:rPr sz="1000" b="0">
                          <a:solidFill>
                            <a:srgbClr val="F2F6FF"/>
                          </a:solidFill>
                          <a:latin typeface="Calibri"/>
                        </a:rPr>
                        <a:t>P3.1 TxD</a:t>
                      </a:r>
                    </a:p>
                  </a:txBody>
                  <a:tcPr marL="73152" marR="73152" marT="27432" marB="27432" anchor="ctr">
                    <a:solidFill>
                      <a:srgbClr val="17243E"/>
                    </a:solidFill>
                  </a:tcPr>
                </a:tc>
              </a:tr>
              <a:tr h="274320">
                <a:tc>
                  <a:txBody>
                    <a:bodyPr wrap="square"/>
                    <a:lstStyle/>
                    <a:p>
                      <a:pPr algn="l"/>
                      <a:r>
                        <a:rPr sz="1000" b="0">
                          <a:solidFill>
                            <a:srgbClr val="F2F6FF"/>
                          </a:solidFill>
                          <a:latin typeface="Calibri"/>
                        </a:rPr>
                        <a:t>12</a:t>
                      </a:r>
                    </a:p>
                  </a:txBody>
                  <a:tcPr marL="73152" marR="73152" marT="27432" marB="27432" anchor="ctr">
                    <a:solidFill>
                      <a:srgbClr val="1E2E4E"/>
                    </a:solidFill>
                  </a:tcPr>
                </a:tc>
                <a:tc>
                  <a:txBody>
                    <a:bodyPr wrap="square"/>
                    <a:lstStyle/>
                    <a:p>
                      <a:pPr algn="l"/>
                      <a:r>
                        <a:rPr sz="1000" b="0">
                          <a:solidFill>
                            <a:srgbClr val="F2F6FF"/>
                          </a:solidFill>
                          <a:latin typeface="Calibri"/>
                        </a:rPr>
                        <a:t>R1OUT</a:t>
                      </a:r>
                    </a:p>
                  </a:txBody>
                  <a:tcPr marL="73152" marR="73152" marT="27432" marB="27432" anchor="ctr">
                    <a:solidFill>
                      <a:srgbClr val="1E2E4E"/>
                    </a:solidFill>
                  </a:tcPr>
                </a:tc>
                <a:tc>
                  <a:txBody>
                    <a:bodyPr wrap="square"/>
                    <a:lstStyle/>
                    <a:p>
                      <a:pPr algn="l"/>
                      <a:r>
                        <a:rPr sz="1000" b="0">
                          <a:solidFill>
                            <a:srgbClr val="F2F6FF"/>
                          </a:solidFill>
                          <a:latin typeface="Calibri"/>
                        </a:rPr>
                        <a:t>P3.0 RxD</a:t>
                      </a:r>
                    </a:p>
                  </a:txBody>
                  <a:tcPr marL="73152" marR="73152" marT="27432" marB="27432" anchor="ctr">
                    <a:solidFill>
                      <a:srgbClr val="1E2E4E"/>
                    </a:solidFill>
                  </a:tcPr>
                </a:tc>
              </a:tr>
              <a:tr h="274320">
                <a:tc>
                  <a:txBody>
                    <a:bodyPr wrap="square"/>
                    <a:lstStyle/>
                    <a:p>
                      <a:pPr algn="l"/>
                      <a:r>
                        <a:rPr sz="1000" b="0">
                          <a:solidFill>
                            <a:srgbClr val="F2F6FF"/>
                          </a:solidFill>
                          <a:latin typeface="Calibri"/>
                        </a:rPr>
                        <a:t>13</a:t>
                      </a:r>
                    </a:p>
                  </a:txBody>
                  <a:tcPr marL="73152" marR="73152" marT="27432" marB="27432" anchor="ctr">
                    <a:solidFill>
                      <a:srgbClr val="17243E"/>
                    </a:solidFill>
                  </a:tcPr>
                </a:tc>
                <a:tc>
                  <a:txBody>
                    <a:bodyPr wrap="square"/>
                    <a:lstStyle/>
                    <a:p>
                      <a:pPr algn="l"/>
                      <a:r>
                        <a:rPr sz="1000" b="0">
                          <a:solidFill>
                            <a:srgbClr val="F2F6FF"/>
                          </a:solidFill>
                          <a:latin typeface="Calibri"/>
                        </a:rPr>
                        <a:t>R1IN</a:t>
                      </a:r>
                    </a:p>
                  </a:txBody>
                  <a:tcPr marL="73152" marR="73152" marT="27432" marB="27432" anchor="ctr">
                    <a:solidFill>
                      <a:srgbClr val="17243E"/>
                    </a:solidFill>
                  </a:tcPr>
                </a:tc>
                <a:tc>
                  <a:txBody>
                    <a:bodyPr wrap="square"/>
                    <a:lstStyle/>
                    <a:p>
                      <a:pPr algn="l"/>
                      <a:r>
                        <a:rPr sz="1000" b="0">
                          <a:solidFill>
                            <a:srgbClr val="F2F6FF"/>
                          </a:solidFill>
                          <a:latin typeface="Calibri"/>
                        </a:rPr>
                        <a:t>DB9 pin 3</a:t>
                      </a:r>
                    </a:p>
                  </a:txBody>
                  <a:tcPr marL="73152" marR="73152" marT="27432" marB="27432" anchor="ctr">
                    <a:solidFill>
                      <a:srgbClr val="17243E"/>
                    </a:solidFill>
                  </a:tcPr>
                </a:tc>
              </a:tr>
              <a:tr h="274320">
                <a:tc>
                  <a:txBody>
                    <a:bodyPr wrap="square"/>
                    <a:lstStyle/>
                    <a:p>
                      <a:pPr algn="l"/>
                      <a:r>
                        <a:rPr sz="1000" b="0">
                          <a:solidFill>
                            <a:srgbClr val="F2F6FF"/>
                          </a:solidFill>
                          <a:latin typeface="Calibri"/>
                        </a:rPr>
                        <a:t>14</a:t>
                      </a:r>
                    </a:p>
                  </a:txBody>
                  <a:tcPr marL="73152" marR="73152" marT="27432" marB="27432" anchor="ctr">
                    <a:solidFill>
                      <a:srgbClr val="1E2E4E"/>
                    </a:solidFill>
                  </a:tcPr>
                </a:tc>
                <a:tc>
                  <a:txBody>
                    <a:bodyPr wrap="square"/>
                    <a:lstStyle/>
                    <a:p>
                      <a:pPr algn="l"/>
                      <a:r>
                        <a:rPr sz="1000" b="0">
                          <a:solidFill>
                            <a:srgbClr val="F2F6FF"/>
                          </a:solidFill>
                          <a:latin typeface="Calibri"/>
                        </a:rPr>
                        <a:t>T1OUT</a:t>
                      </a:r>
                    </a:p>
                  </a:txBody>
                  <a:tcPr marL="73152" marR="73152" marT="27432" marB="27432" anchor="ctr">
                    <a:solidFill>
                      <a:srgbClr val="1E2E4E"/>
                    </a:solidFill>
                  </a:tcPr>
                </a:tc>
                <a:tc>
                  <a:txBody>
                    <a:bodyPr wrap="square"/>
                    <a:lstStyle/>
                    <a:p>
                      <a:pPr algn="l"/>
                      <a:r>
                        <a:rPr sz="1000" b="0">
                          <a:solidFill>
                            <a:srgbClr val="F2F6FF"/>
                          </a:solidFill>
                          <a:latin typeface="Calibri"/>
                        </a:rPr>
                        <a:t>DB9 pin 2</a:t>
                      </a:r>
                    </a:p>
                  </a:txBody>
                  <a:tcPr marL="73152" marR="73152" marT="27432" marB="27432" anchor="ctr">
                    <a:solidFill>
                      <a:srgbClr val="1E2E4E"/>
                    </a:solidFill>
                  </a:tcPr>
                </a:tc>
              </a:tr>
              <a:tr h="274320">
                <a:tc>
                  <a:txBody>
                    <a:bodyPr wrap="square"/>
                    <a:lstStyle/>
                    <a:p>
                      <a:pPr algn="l"/>
                      <a:r>
                        <a:rPr sz="1000" b="0">
                          <a:solidFill>
                            <a:srgbClr val="F2F6FF"/>
                          </a:solidFill>
                          <a:latin typeface="Calibri"/>
                        </a:rPr>
                        <a:t>15, 16</a:t>
                      </a:r>
                    </a:p>
                  </a:txBody>
                  <a:tcPr marL="73152" marR="73152" marT="27432" marB="27432" anchor="ctr">
                    <a:solidFill>
                      <a:srgbClr val="17243E"/>
                    </a:solidFill>
                  </a:tcPr>
                </a:tc>
                <a:tc>
                  <a:txBody>
                    <a:bodyPr wrap="square"/>
                    <a:lstStyle/>
                    <a:p>
                      <a:pPr algn="l"/>
                      <a:r>
                        <a:rPr sz="1000" b="0">
                          <a:solidFill>
                            <a:srgbClr val="F2F6FF"/>
                          </a:solidFill>
                          <a:latin typeface="Calibri"/>
                        </a:rPr>
                        <a:t>GND, VCC</a:t>
                      </a:r>
                    </a:p>
                  </a:txBody>
                  <a:tcPr marL="73152" marR="73152" marT="27432" marB="27432" anchor="ctr">
                    <a:solidFill>
                      <a:srgbClr val="17243E"/>
                    </a:solidFill>
                  </a:tcPr>
                </a:tc>
                <a:tc>
                  <a:txBody>
                    <a:bodyPr wrap="square"/>
                    <a:lstStyle/>
                    <a:p>
                      <a:pPr algn="l"/>
                      <a:r>
                        <a:rPr sz="1000" b="0">
                          <a:solidFill>
                            <a:srgbClr val="F2F6FF"/>
                          </a:solidFill>
                          <a:latin typeface="Calibri"/>
                        </a:rPr>
                        <a:t>ground and +5 V</a:t>
                      </a:r>
                    </a:p>
                  </a:txBody>
                  <a:tcPr marL="73152" marR="73152" marT="27432" marB="27432" anchor="ctr">
                    <a:solidFill>
                      <a:srgbClr val="17243E"/>
                    </a:solidFill>
                  </a:tcPr>
                </a:tc>
              </a:tr>
            </a:tbl>
          </a:graphicData>
        </a:graphic>
      </p:graphicFrame>
      <p:sp>
        <p:nvSpPr>
          <p:cNvPr id="12" name="Rounded Rectangle 11"/>
          <p:cNvSpPr/>
          <p:nvPr/>
        </p:nvSpPr>
        <p:spPr>
          <a:xfrm>
            <a:off x="5824728" y="1645920"/>
            <a:ext cx="5797296" cy="1225296"/>
          </a:xfrm>
          <a:prstGeom prst="roundRect">
            <a:avLst>
              <a:gd name="adj" fmla="val 6000"/>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25896" y="1773936"/>
            <a:ext cx="5431536" cy="219456"/>
          </a:xfrm>
          <a:prstGeom prst="rect">
            <a:avLst/>
          </a:prstGeom>
          <a:noFill/>
        </p:spPr>
        <p:txBody>
          <a:bodyPr wrap="square" lIns="0" rIns="0" tIns="0" bIns="0" anchor="t">
            <a:spAutoFit/>
          </a:bodyPr>
          <a:lstStyle/>
          <a:p>
            <a:pPr algn="l">
              <a:lnSpc>
                <a:spcPct val="100000"/>
              </a:lnSpc>
              <a:spcAft>
                <a:spcPts val="0"/>
              </a:spcAft>
            </a:pPr>
            <a:r>
              <a:rPr sz="950" b="1" i="0">
                <a:solidFill>
                  <a:srgbClr val="6F81A5"/>
                </a:solidFill>
                <a:latin typeface="Calibri"/>
              </a:rPr>
              <a:t>BAUD RATE</a:t>
            </a:r>
          </a:p>
        </p:txBody>
      </p:sp>
      <p:sp>
        <p:nvSpPr>
          <p:cNvPr id="14" name="TextBox 13"/>
          <p:cNvSpPr txBox="1"/>
          <p:nvPr/>
        </p:nvSpPr>
        <p:spPr>
          <a:xfrm>
            <a:off x="6025896" y="2029967"/>
            <a:ext cx="5431536" cy="749808"/>
          </a:xfrm>
          <a:prstGeom prst="rect">
            <a:avLst/>
          </a:prstGeom>
          <a:noFill/>
        </p:spPr>
        <p:txBody>
          <a:bodyPr wrap="square" lIns="0" rIns="0" tIns="0" bIns="0" anchor="t">
            <a:spAutoFit/>
          </a:bodyPr>
          <a:lstStyle/>
          <a:p>
            <a:pPr algn="l">
              <a:lnSpc>
                <a:spcPct val="114000"/>
              </a:lnSpc>
              <a:spcAft>
                <a:spcPts val="0"/>
              </a:spcAft>
            </a:pPr>
            <a:r>
              <a:rPr sz="1050" b="0" i="0">
                <a:solidFill>
                  <a:srgbClr val="CFE0FF"/>
                </a:solidFill>
                <a:latin typeface="Consolas"/>
              </a:rPr>
              <a:t>TH1 = 256 - (11059200 / (384 x 9600))</a:t>
            </a:r>
          </a:p>
          <a:p>
            <a:pPr algn="l">
              <a:lnSpc>
                <a:spcPct val="114000"/>
              </a:lnSpc>
              <a:spcAft>
                <a:spcPts val="0"/>
              </a:spcAft>
            </a:pPr>
            <a:r>
              <a:rPr sz="1050" b="0" i="0">
                <a:solidFill>
                  <a:srgbClr val="CFE0FF"/>
                </a:solidFill>
                <a:latin typeface="Consolas"/>
              </a:rPr>
              <a:t>    = 256 - 3 = 253 = 0xFD</a:t>
            </a:r>
          </a:p>
          <a:p>
            <a:pPr algn="l">
              <a:lnSpc>
                <a:spcPct val="114000"/>
              </a:lnSpc>
              <a:spcAft>
                <a:spcPts val="0"/>
              </a:spcAft>
            </a:pPr>
            <a:r>
              <a:rPr sz="1050" b="0" i="0">
                <a:solidFill>
                  <a:srgbClr val="CFE0FF"/>
                </a:solidFill>
                <a:latin typeface="Consolas"/>
              </a:rPr>
              <a:t>SMOD = 0, timer 1 in mode 2</a:t>
            </a:r>
          </a:p>
        </p:txBody>
      </p:sp>
      <p:sp>
        <p:nvSpPr>
          <p:cNvPr id="15" name="Rounded Rectangle 14"/>
          <p:cNvSpPr/>
          <p:nvPr/>
        </p:nvSpPr>
        <p:spPr>
          <a:xfrm>
            <a:off x="5824728" y="3017520"/>
            <a:ext cx="5797296" cy="1426464"/>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24728" y="3017520"/>
            <a:ext cx="50292" cy="142646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62472" y="3182112"/>
            <a:ext cx="5385816"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DB9 wiring</a:t>
            </a:r>
          </a:p>
        </p:txBody>
      </p:sp>
      <p:sp>
        <p:nvSpPr>
          <p:cNvPr id="18" name="TextBox 17"/>
          <p:cNvSpPr txBox="1"/>
          <p:nvPr/>
        </p:nvSpPr>
        <p:spPr>
          <a:xfrm>
            <a:off x="6062472" y="3566160"/>
            <a:ext cx="5385816" cy="740664"/>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The board connector is wired as DCE: T1OUT to pin 2 and R1IN to pin 3, so a straight through cable works with a USB to RS-232 adapter. If the terminal shows nothing, swap pins 2 and 3 first, then check that V+ is about +9 V and V- about -9 V.</a:t>
            </a:r>
          </a:p>
        </p:txBody>
      </p:sp>
      <p:sp>
        <p:nvSpPr>
          <p:cNvPr id="19" name="Rounded Rectangle 18"/>
          <p:cNvSpPr/>
          <p:nvPr/>
        </p:nvSpPr>
        <p:spPr>
          <a:xfrm>
            <a:off x="566928" y="4553712"/>
            <a:ext cx="5074920" cy="1700784"/>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4700016"/>
            <a:ext cx="4617720" cy="1463040"/>
          </a:xfrm>
          <a:prstGeom prst="rect">
            <a:avLst/>
          </a:prstGeom>
          <a:noFill/>
        </p:spPr>
        <p:txBody>
          <a:bodyPr wrap="square" lIns="0" rIns="0" tIns="0" bIns="0" anchor="t">
            <a:spAutoFit/>
          </a:bodyPr>
          <a:lstStyle/>
          <a:p>
            <a:pPr algn="l">
              <a:lnSpc>
                <a:spcPct val="120000"/>
              </a:lnSpc>
              <a:spcAft>
                <a:spcPts val="300"/>
              </a:spcAft>
            </a:pPr>
            <a:r>
              <a:rPr sz="1300" b="1" i="0">
                <a:solidFill>
                  <a:srgbClr val="F2F6FF"/>
                </a:solidFill>
                <a:latin typeface="Consolas"/>
              </a:rPr>
              <a:t>Configuration</a:t>
            </a:r>
          </a:p>
          <a:p>
            <a:pPr algn="l">
              <a:lnSpc>
                <a:spcPct val="120000"/>
              </a:lnSpc>
              <a:spcAft>
                <a:spcPts val="300"/>
              </a:spcAft>
            </a:pPr>
            <a:r>
              <a:rPr sz="1050" b="0" i="0">
                <a:solidFill>
                  <a:srgbClr val="CFE0FF"/>
                </a:solidFill>
                <a:latin typeface="Consolas"/>
              </a:rPr>
              <a:t>SCON = 0x50   mode 1, 8 data bits, receive enabled</a:t>
            </a:r>
          </a:p>
          <a:p>
            <a:pPr algn="l">
              <a:lnSpc>
                <a:spcPct val="120000"/>
              </a:lnSpc>
              <a:spcAft>
                <a:spcPts val="300"/>
              </a:spcAft>
            </a:pPr>
            <a:r>
              <a:rPr sz="1050" b="0" i="0">
                <a:solidFill>
                  <a:srgbClr val="CFE0FF"/>
                </a:solidFill>
                <a:latin typeface="Consolas"/>
              </a:rPr>
              <a:t>TMOD         timer 1 in mode 2, 8-bit auto reload</a:t>
            </a:r>
          </a:p>
          <a:p>
            <a:pPr algn="l">
              <a:lnSpc>
                <a:spcPct val="120000"/>
              </a:lnSpc>
              <a:spcAft>
                <a:spcPts val="300"/>
              </a:spcAft>
            </a:pPr>
            <a:r>
              <a:rPr sz="1050" b="0" i="0">
                <a:solidFill>
                  <a:srgbClr val="CFE0FF"/>
                </a:solidFill>
                <a:latin typeface="Consolas"/>
              </a:rPr>
              <a:t>PCON         SMOD cleared</a:t>
            </a:r>
          </a:p>
          <a:p>
            <a:pPr algn="l">
              <a:lnSpc>
                <a:spcPct val="120000"/>
              </a:lnSpc>
              <a:spcAft>
                <a:spcPts val="300"/>
              </a:spcAft>
            </a:pPr>
            <a:r>
              <a:rPr sz="1050" b="1" i="0">
                <a:solidFill>
                  <a:srgbClr val="2FE0C0"/>
                </a:solidFill>
                <a:latin typeface="Consolas"/>
              </a:rPr>
              <a:t>Error        0.0 percent at 11.0592 MHz</a:t>
            </a:r>
          </a:p>
          <a:p>
            <a:pPr algn="l">
              <a:lnSpc>
                <a:spcPct val="120000"/>
              </a:lnSpc>
              <a:spcAft>
                <a:spcPts val="300"/>
              </a:spcAft>
            </a:pPr>
            <a:r>
              <a:rPr sz="1050" b="1" i="0">
                <a:solidFill>
                  <a:srgbClr val="FF6B6B"/>
                </a:solidFill>
                <a:latin typeface="Consolas"/>
              </a:rPr>
              <a:t>Error        8.5 percent at 12 MHz, which fails</a:t>
            </a:r>
          </a:p>
        </p:txBody>
      </p:sp>
      <p:sp>
        <p:nvSpPr>
          <p:cNvPr id="21" name="Rounded Rectangle 20"/>
          <p:cNvSpPr/>
          <p:nvPr/>
        </p:nvSpPr>
        <p:spPr>
          <a:xfrm>
            <a:off x="5824728" y="4553712"/>
            <a:ext cx="5797296" cy="1700784"/>
          </a:xfrm>
          <a:prstGeom prst="roundRect">
            <a:avLst>
              <a:gd name="adj" fmla="val 6000"/>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25896" y="4681728"/>
            <a:ext cx="5431536" cy="219456"/>
          </a:xfrm>
          <a:prstGeom prst="rect">
            <a:avLst/>
          </a:prstGeom>
          <a:noFill/>
        </p:spPr>
        <p:txBody>
          <a:bodyPr wrap="square" lIns="0" rIns="0" tIns="0" bIns="0" anchor="t">
            <a:spAutoFit/>
          </a:bodyPr>
          <a:lstStyle/>
          <a:p>
            <a:pPr algn="l">
              <a:lnSpc>
                <a:spcPct val="100000"/>
              </a:lnSpc>
              <a:spcAft>
                <a:spcPts val="0"/>
              </a:spcAft>
            </a:pPr>
            <a:r>
              <a:rPr sz="950" b="1" i="0">
                <a:solidFill>
                  <a:srgbClr val="6F81A5"/>
                </a:solidFill>
                <a:latin typeface="Calibri"/>
              </a:rPr>
              <a:t>TELEMETRY AT 9600 8N1</a:t>
            </a:r>
          </a:p>
        </p:txBody>
      </p:sp>
      <p:sp>
        <p:nvSpPr>
          <p:cNvPr id="23" name="TextBox 22"/>
          <p:cNvSpPr txBox="1"/>
          <p:nvPr/>
        </p:nvSpPr>
        <p:spPr>
          <a:xfrm>
            <a:off x="6025896" y="4937760"/>
            <a:ext cx="5431536" cy="1225296"/>
          </a:xfrm>
          <a:prstGeom prst="rect">
            <a:avLst/>
          </a:prstGeom>
          <a:noFill/>
        </p:spPr>
        <p:txBody>
          <a:bodyPr wrap="square" lIns="0" rIns="0" tIns="0" bIns="0" anchor="t">
            <a:spAutoFit/>
          </a:bodyPr>
          <a:lstStyle/>
          <a:p>
            <a:pPr algn="l">
              <a:lnSpc>
                <a:spcPct val="114000"/>
              </a:lnSpc>
              <a:spcAft>
                <a:spcPts val="0"/>
              </a:spcAft>
            </a:pPr>
            <a:r>
              <a:rPr sz="1050" b="0" i="0">
                <a:solidFill>
                  <a:srgbClr val="CFE0FF"/>
                </a:solidFill>
                <a:latin typeface="Consolas"/>
              </a:rPr>
              <a:t>T=28.1C ADC=36 ZONE=SAFE FAN=0 BUZ=0</a:t>
            </a:r>
          </a:p>
          <a:p>
            <a:pPr algn="l">
              <a:lnSpc>
                <a:spcPct val="114000"/>
              </a:lnSpc>
              <a:spcAft>
                <a:spcPts val="0"/>
              </a:spcAft>
            </a:pPr>
            <a:r>
              <a:rPr sz="1050" b="0" i="0">
                <a:solidFill>
                  <a:srgbClr val="CFE0FF"/>
                </a:solidFill>
                <a:latin typeface="Consolas"/>
              </a:rPr>
              <a:t>T=41.4C ADC=53 ZONE=WARNING FAN=1 BUZ=0</a:t>
            </a:r>
          </a:p>
          <a:p>
            <a:pPr algn="l">
              <a:lnSpc>
                <a:spcPct val="114000"/>
              </a:lnSpc>
              <a:spcAft>
                <a:spcPts val="0"/>
              </a:spcAft>
            </a:pPr>
            <a:r>
              <a:rPr sz="1050" b="0" i="0">
                <a:solidFill>
                  <a:srgbClr val="CFE0FF"/>
                </a:solidFill>
                <a:latin typeface="Consolas"/>
              </a:rPr>
              <a:t>T=72.6C ADC=93 ZONE=DANGER FAN=1 BUZ=1</a:t>
            </a:r>
          </a:p>
          <a:p>
            <a:pPr algn="l">
              <a:lnSpc>
                <a:spcPct val="114000"/>
              </a:lnSpc>
              <a:spcAft>
                <a:spcPts val="0"/>
              </a:spcAft>
            </a:pPr>
            <a:r>
              <a:rPr sz="1050" b="0" i="0">
                <a:solidFill>
                  <a:srgbClr val="CFE0FF"/>
                </a:solidFill>
                <a:latin typeface="Consolas"/>
              </a:rPr>
              <a:t>T=72.6C ADC=93 ZONE=EMERGENCY FAN=0 BUZ=1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POWER</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Regulated 5 V and the current budget</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A 7805, its heatsink, and knowing how much current the board really draws</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16</a:t>
            </a:r>
          </a:p>
        </p:txBody>
      </p:sp>
      <p:graphicFrame>
        <p:nvGraphicFramePr>
          <p:cNvPr id="11" name="Table 10"/>
          <p:cNvGraphicFramePr>
            <a:graphicFrameLocks noGrp="1"/>
          </p:cNvGraphicFramePr>
          <p:nvPr/>
        </p:nvGraphicFramePr>
        <p:xfrm>
          <a:off x="566928" y="1645920"/>
          <a:ext cx="5989320" cy="3063240"/>
        </p:xfrm>
        <a:graphic>
          <a:graphicData uri="http://schemas.openxmlformats.org/drawingml/2006/table">
            <a:tbl>
              <a:tblPr firstRow="1">
                <a:tableStyleId>{5C22544A-7EE6-4342-B048-85BDC9FD1C3A}</a:tableStyleId>
              </a:tblPr>
              <a:tblGrid>
                <a:gridCol w="3291840"/>
                <a:gridCol w="1325880"/>
                <a:gridCol w="1371600"/>
              </a:tblGrid>
              <a:tr h="255270">
                <a:tc>
                  <a:txBody>
                    <a:bodyPr wrap="square"/>
                    <a:lstStyle/>
                    <a:p>
                      <a:pPr algn="l"/>
                      <a:r>
                        <a:rPr sz="1000" b="1">
                          <a:solidFill>
                            <a:srgbClr val="CFE0FF"/>
                          </a:solidFill>
                          <a:latin typeface="Calibri"/>
                        </a:rPr>
                        <a:t>Load</a:t>
                      </a:r>
                    </a:p>
                  </a:txBody>
                  <a:tcPr marL="73152" marR="73152" marT="27432" marB="27432" anchor="ctr">
                    <a:solidFill>
                      <a:srgbClr val="2A3C63"/>
                    </a:solidFill>
                  </a:tcPr>
                </a:tc>
                <a:tc>
                  <a:txBody>
                    <a:bodyPr wrap="square"/>
                    <a:lstStyle/>
                    <a:p>
                      <a:pPr algn="r"/>
                      <a:r>
                        <a:rPr sz="1000" b="1">
                          <a:solidFill>
                            <a:srgbClr val="CFE0FF"/>
                          </a:solidFill>
                          <a:latin typeface="Calibri"/>
                        </a:rPr>
                        <a:t>Typical</a:t>
                      </a:r>
                    </a:p>
                  </a:txBody>
                  <a:tcPr marL="73152" marR="73152" marT="27432" marB="27432" anchor="ctr">
                    <a:solidFill>
                      <a:srgbClr val="2A3C63"/>
                    </a:solidFill>
                  </a:tcPr>
                </a:tc>
                <a:tc>
                  <a:txBody>
                    <a:bodyPr wrap="square"/>
                    <a:lstStyle/>
                    <a:p>
                      <a:pPr algn="r"/>
                      <a:r>
                        <a:rPr sz="1000" b="1">
                          <a:solidFill>
                            <a:srgbClr val="CFE0FF"/>
                          </a:solidFill>
                          <a:latin typeface="Calibri"/>
                        </a:rPr>
                        <a:t>Maximum</a:t>
                      </a:r>
                    </a:p>
                  </a:txBody>
                  <a:tcPr marL="73152" marR="73152" marT="27432" marB="27432" anchor="ctr">
                    <a:solidFill>
                      <a:srgbClr val="2A3C63"/>
                    </a:solidFill>
                  </a:tcPr>
                </a:tc>
              </a:tr>
              <a:tr h="255270">
                <a:tc>
                  <a:txBody>
                    <a:bodyPr wrap="square"/>
                    <a:lstStyle/>
                    <a:p>
                      <a:pPr algn="l"/>
                      <a:r>
                        <a:rPr sz="1000" b="0">
                          <a:solidFill>
                            <a:srgbClr val="F2F6FF"/>
                          </a:solidFill>
                          <a:latin typeface="Calibri"/>
                        </a:rPr>
                        <a:t>AT89S52 at 11.0592 MHz</a:t>
                      </a:r>
                    </a:p>
                  </a:txBody>
                  <a:tcPr marL="73152" marR="73152" marT="27432" marB="27432" anchor="ctr">
                    <a:solidFill>
                      <a:srgbClr val="17243E"/>
                    </a:solidFill>
                  </a:tcPr>
                </a:tc>
                <a:tc>
                  <a:txBody>
                    <a:bodyPr wrap="square"/>
                    <a:lstStyle/>
                    <a:p>
                      <a:pPr algn="r"/>
                      <a:r>
                        <a:rPr sz="1000" b="0">
                          <a:solidFill>
                            <a:srgbClr val="F2F6FF"/>
                          </a:solidFill>
                          <a:latin typeface="Calibri"/>
                        </a:rPr>
                        <a:t>25 mA</a:t>
                      </a:r>
                    </a:p>
                  </a:txBody>
                  <a:tcPr marL="73152" marR="73152" marT="27432" marB="27432" anchor="ctr">
                    <a:solidFill>
                      <a:srgbClr val="17243E"/>
                    </a:solidFill>
                  </a:tcPr>
                </a:tc>
                <a:tc>
                  <a:txBody>
                    <a:bodyPr wrap="square"/>
                    <a:lstStyle/>
                    <a:p>
                      <a:pPr algn="r"/>
                      <a:r>
                        <a:rPr sz="1000" b="0">
                          <a:solidFill>
                            <a:srgbClr val="F2F6FF"/>
                          </a:solidFill>
                          <a:latin typeface="Calibri"/>
                        </a:rPr>
                        <a:t>30 mA</a:t>
                      </a:r>
                    </a:p>
                  </a:txBody>
                  <a:tcPr marL="73152" marR="73152" marT="27432" marB="27432" anchor="ctr">
                    <a:solidFill>
                      <a:srgbClr val="17243E"/>
                    </a:solidFill>
                  </a:tcPr>
                </a:tc>
              </a:tr>
              <a:tr h="255270">
                <a:tc>
                  <a:txBody>
                    <a:bodyPr wrap="square"/>
                    <a:lstStyle/>
                    <a:p>
                      <a:pPr algn="l"/>
                      <a:r>
                        <a:rPr sz="1000" b="0">
                          <a:solidFill>
                            <a:srgbClr val="F2F6FF"/>
                          </a:solidFill>
                          <a:latin typeface="Calibri"/>
                        </a:rPr>
                        <a:t>U2 latch plus 8 LEDs</a:t>
                      </a:r>
                    </a:p>
                  </a:txBody>
                  <a:tcPr marL="73152" marR="73152" marT="27432" marB="27432" anchor="ctr">
                    <a:solidFill>
                      <a:srgbClr val="1E2E4E"/>
                    </a:solidFill>
                  </a:tcPr>
                </a:tc>
                <a:tc>
                  <a:txBody>
                    <a:bodyPr wrap="square"/>
                    <a:lstStyle/>
                    <a:p>
                      <a:pPr algn="r"/>
                      <a:r>
                        <a:rPr sz="1000" b="0">
                          <a:solidFill>
                            <a:srgbClr val="F2F6FF"/>
                          </a:solidFill>
                          <a:latin typeface="Calibri"/>
                        </a:rPr>
                        <a:t>53 mA</a:t>
                      </a:r>
                    </a:p>
                  </a:txBody>
                  <a:tcPr marL="73152" marR="73152" marT="27432" marB="27432" anchor="ctr">
                    <a:solidFill>
                      <a:srgbClr val="1E2E4E"/>
                    </a:solidFill>
                  </a:tcPr>
                </a:tc>
                <a:tc>
                  <a:txBody>
                    <a:bodyPr wrap="square"/>
                    <a:lstStyle/>
                    <a:p>
                      <a:pPr algn="r"/>
                      <a:r>
                        <a:rPr sz="1000" b="0">
                          <a:solidFill>
                            <a:srgbClr val="F2F6FF"/>
                          </a:solidFill>
                          <a:latin typeface="Calibri"/>
                        </a:rPr>
                        <a:t>53 mA</a:t>
                      </a:r>
                    </a:p>
                  </a:txBody>
                  <a:tcPr marL="73152" marR="73152" marT="27432" marB="27432" anchor="ctr">
                    <a:solidFill>
                      <a:srgbClr val="1E2E4E"/>
                    </a:solidFill>
                  </a:tcPr>
                </a:tc>
              </a:tr>
              <a:tr h="255270">
                <a:tc>
                  <a:txBody>
                    <a:bodyPr wrap="square"/>
                    <a:lstStyle/>
                    <a:p>
                      <a:pPr algn="l"/>
                      <a:r>
                        <a:rPr sz="1000" b="0">
                          <a:solidFill>
                            <a:srgbClr val="F2F6FF"/>
                          </a:solidFill>
                          <a:latin typeface="Calibri"/>
                        </a:rPr>
                        <a:t>U3 latch plus one display digit</a:t>
                      </a:r>
                    </a:p>
                  </a:txBody>
                  <a:tcPr marL="73152" marR="73152" marT="27432" marB="27432" anchor="ctr">
                    <a:solidFill>
                      <a:srgbClr val="17243E"/>
                    </a:solidFill>
                  </a:tcPr>
                </a:tc>
                <a:tc>
                  <a:txBody>
                    <a:bodyPr wrap="square"/>
                    <a:lstStyle/>
                    <a:p>
                      <a:pPr algn="r"/>
                      <a:r>
                        <a:rPr sz="1000" b="0">
                          <a:solidFill>
                            <a:srgbClr val="F2F6FF"/>
                          </a:solidFill>
                          <a:latin typeface="Calibri"/>
                        </a:rPr>
                        <a:t>53 mA</a:t>
                      </a:r>
                    </a:p>
                  </a:txBody>
                  <a:tcPr marL="73152" marR="73152" marT="27432" marB="27432" anchor="ctr">
                    <a:solidFill>
                      <a:srgbClr val="17243E"/>
                    </a:solidFill>
                  </a:tcPr>
                </a:tc>
                <a:tc>
                  <a:txBody>
                    <a:bodyPr wrap="square"/>
                    <a:lstStyle/>
                    <a:p>
                      <a:pPr algn="r"/>
                      <a:r>
                        <a:rPr sz="1000" b="0">
                          <a:solidFill>
                            <a:srgbClr val="F2F6FF"/>
                          </a:solidFill>
                          <a:latin typeface="Calibri"/>
                        </a:rPr>
                        <a:t>53 mA</a:t>
                      </a:r>
                    </a:p>
                  </a:txBody>
                  <a:tcPr marL="73152" marR="73152" marT="27432" marB="27432" anchor="ctr">
                    <a:solidFill>
                      <a:srgbClr val="17243E"/>
                    </a:solidFill>
                  </a:tcPr>
                </a:tc>
              </a:tr>
              <a:tr h="255270">
                <a:tc>
                  <a:txBody>
                    <a:bodyPr wrap="square"/>
                    <a:lstStyle/>
                    <a:p>
                      <a:pPr algn="l"/>
                      <a:r>
                        <a:rPr sz="1000" b="0">
                          <a:solidFill>
                            <a:srgbClr val="F2F6FF"/>
                          </a:solidFill>
                          <a:latin typeface="Calibri"/>
                        </a:rPr>
                        <a:t>16x2 LCD logic and backlight</a:t>
                      </a:r>
                    </a:p>
                  </a:txBody>
                  <a:tcPr marL="73152" marR="73152" marT="27432" marB="27432" anchor="ctr">
                    <a:solidFill>
                      <a:srgbClr val="1E2E4E"/>
                    </a:solidFill>
                  </a:tcPr>
                </a:tc>
                <a:tc>
                  <a:txBody>
                    <a:bodyPr wrap="square"/>
                    <a:lstStyle/>
                    <a:p>
                      <a:pPr algn="r"/>
                      <a:r>
                        <a:rPr sz="1000" b="0">
                          <a:solidFill>
                            <a:srgbClr val="F2F6FF"/>
                          </a:solidFill>
                          <a:latin typeface="Calibri"/>
                        </a:rPr>
                        <a:t>10 mA</a:t>
                      </a:r>
                    </a:p>
                  </a:txBody>
                  <a:tcPr marL="73152" marR="73152" marT="27432" marB="27432" anchor="ctr">
                    <a:solidFill>
                      <a:srgbClr val="1E2E4E"/>
                    </a:solidFill>
                  </a:tcPr>
                </a:tc>
                <a:tc>
                  <a:txBody>
                    <a:bodyPr wrap="square"/>
                    <a:lstStyle/>
                    <a:p>
                      <a:pPr algn="r"/>
                      <a:r>
                        <a:rPr sz="1000" b="0">
                          <a:solidFill>
                            <a:srgbClr val="F2F6FF"/>
                          </a:solidFill>
                          <a:latin typeface="Calibri"/>
                        </a:rPr>
                        <a:t>14 mA</a:t>
                      </a:r>
                    </a:p>
                  </a:txBody>
                  <a:tcPr marL="73152" marR="73152" marT="27432" marB="27432" anchor="ctr">
                    <a:solidFill>
                      <a:srgbClr val="1E2E4E"/>
                    </a:solidFill>
                  </a:tcPr>
                </a:tc>
              </a:tr>
              <a:tr h="255270">
                <a:tc>
                  <a:txBody>
                    <a:bodyPr wrap="square"/>
                    <a:lstStyle/>
                    <a:p>
                      <a:pPr algn="l"/>
                      <a:r>
                        <a:rPr sz="1000" b="0">
                          <a:solidFill>
                            <a:srgbClr val="F2F6FF"/>
                          </a:solidFill>
                          <a:latin typeface="Calibri"/>
                        </a:rPr>
                        <a:t>ADC0804</a:t>
                      </a:r>
                    </a:p>
                  </a:txBody>
                  <a:tcPr marL="73152" marR="73152" marT="27432" marB="27432" anchor="ctr">
                    <a:solidFill>
                      <a:srgbClr val="17243E"/>
                    </a:solidFill>
                  </a:tcPr>
                </a:tc>
                <a:tc>
                  <a:txBody>
                    <a:bodyPr wrap="square"/>
                    <a:lstStyle/>
                    <a:p>
                      <a:pPr algn="r"/>
                      <a:r>
                        <a:rPr sz="1000" b="0">
                          <a:solidFill>
                            <a:srgbClr val="F2F6FF"/>
                          </a:solidFill>
                          <a:latin typeface="Calibri"/>
                        </a:rPr>
                        <a:t>3 mA</a:t>
                      </a:r>
                    </a:p>
                  </a:txBody>
                  <a:tcPr marL="73152" marR="73152" marT="27432" marB="27432" anchor="ctr">
                    <a:solidFill>
                      <a:srgbClr val="17243E"/>
                    </a:solidFill>
                  </a:tcPr>
                </a:tc>
                <a:tc>
                  <a:txBody>
                    <a:bodyPr wrap="square"/>
                    <a:lstStyle/>
                    <a:p>
                      <a:pPr algn="r"/>
                      <a:r>
                        <a:rPr sz="1000" b="0">
                          <a:solidFill>
                            <a:srgbClr val="F2F6FF"/>
                          </a:solidFill>
                          <a:latin typeface="Calibri"/>
                        </a:rPr>
                        <a:t>5 mA</a:t>
                      </a:r>
                    </a:p>
                  </a:txBody>
                  <a:tcPr marL="73152" marR="73152" marT="27432" marB="27432" anchor="ctr">
                    <a:solidFill>
                      <a:srgbClr val="17243E"/>
                    </a:solidFill>
                  </a:tcPr>
                </a:tc>
              </a:tr>
              <a:tr h="255270">
                <a:tc>
                  <a:txBody>
                    <a:bodyPr wrap="square"/>
                    <a:lstStyle/>
                    <a:p>
                      <a:pPr algn="l"/>
                      <a:r>
                        <a:rPr sz="1000" b="0">
                          <a:solidFill>
                            <a:srgbClr val="F2F6FF"/>
                          </a:solidFill>
                          <a:latin typeface="Calibri"/>
                        </a:rPr>
                        <a:t>MAX232</a:t>
                      </a:r>
                    </a:p>
                  </a:txBody>
                  <a:tcPr marL="73152" marR="73152" marT="27432" marB="27432" anchor="ctr">
                    <a:solidFill>
                      <a:srgbClr val="1E2E4E"/>
                    </a:solidFill>
                  </a:tcPr>
                </a:tc>
                <a:tc>
                  <a:txBody>
                    <a:bodyPr wrap="square"/>
                    <a:lstStyle/>
                    <a:p>
                      <a:pPr algn="r"/>
                      <a:r>
                        <a:rPr sz="1000" b="0">
                          <a:solidFill>
                            <a:srgbClr val="F2F6FF"/>
                          </a:solidFill>
                          <a:latin typeface="Calibri"/>
                        </a:rPr>
                        <a:t>10 mA</a:t>
                      </a:r>
                    </a:p>
                  </a:txBody>
                  <a:tcPr marL="73152" marR="73152" marT="27432" marB="27432" anchor="ctr">
                    <a:solidFill>
                      <a:srgbClr val="1E2E4E"/>
                    </a:solidFill>
                  </a:tcPr>
                </a:tc>
                <a:tc>
                  <a:txBody>
                    <a:bodyPr wrap="square"/>
                    <a:lstStyle/>
                    <a:p>
                      <a:pPr algn="r"/>
                      <a:r>
                        <a:rPr sz="1000" b="0">
                          <a:solidFill>
                            <a:srgbClr val="F2F6FF"/>
                          </a:solidFill>
                          <a:latin typeface="Calibri"/>
                        </a:rPr>
                        <a:t>15 mA</a:t>
                      </a:r>
                    </a:p>
                  </a:txBody>
                  <a:tcPr marL="73152" marR="73152" marT="27432" marB="27432" anchor="ctr">
                    <a:solidFill>
                      <a:srgbClr val="1E2E4E"/>
                    </a:solidFill>
                  </a:tcPr>
                </a:tc>
              </a:tr>
              <a:tr h="255270">
                <a:tc>
                  <a:txBody>
                    <a:bodyPr wrap="square"/>
                    <a:lstStyle/>
                    <a:p>
                      <a:pPr algn="l"/>
                      <a:r>
                        <a:rPr sz="1000" b="0">
                          <a:solidFill>
                            <a:srgbClr val="F2F6FF"/>
                          </a:solidFill>
                          <a:latin typeface="Calibri"/>
                        </a:rPr>
                        <a:t>LM35</a:t>
                      </a:r>
                    </a:p>
                  </a:txBody>
                  <a:tcPr marL="73152" marR="73152" marT="27432" marB="27432" anchor="ctr">
                    <a:solidFill>
                      <a:srgbClr val="17243E"/>
                    </a:solidFill>
                  </a:tcPr>
                </a:tc>
                <a:tc>
                  <a:txBody>
                    <a:bodyPr wrap="square"/>
                    <a:lstStyle/>
                    <a:p>
                      <a:pPr algn="r"/>
                      <a:r>
                        <a:rPr sz="1000" b="0">
                          <a:solidFill>
                            <a:srgbClr val="F2F6FF"/>
                          </a:solidFill>
                          <a:latin typeface="Calibri"/>
                        </a:rPr>
                        <a:t>0.1 mA</a:t>
                      </a:r>
                    </a:p>
                  </a:txBody>
                  <a:tcPr marL="73152" marR="73152" marT="27432" marB="27432" anchor="ctr">
                    <a:solidFill>
                      <a:srgbClr val="17243E"/>
                    </a:solidFill>
                  </a:tcPr>
                </a:tc>
                <a:tc>
                  <a:txBody>
                    <a:bodyPr wrap="square"/>
                    <a:lstStyle/>
                    <a:p>
                      <a:pPr algn="r"/>
                      <a:r>
                        <a:rPr sz="1000" b="0">
                          <a:solidFill>
                            <a:srgbClr val="F2F6FF"/>
                          </a:solidFill>
                          <a:latin typeface="Calibri"/>
                        </a:rPr>
                        <a:t>0.2 mA</a:t>
                      </a:r>
                    </a:p>
                  </a:txBody>
                  <a:tcPr marL="73152" marR="73152" marT="27432" marB="27432" anchor="ctr">
                    <a:solidFill>
                      <a:srgbClr val="17243E"/>
                    </a:solidFill>
                  </a:tcPr>
                </a:tc>
              </a:tr>
              <a:tr h="255270">
                <a:tc>
                  <a:txBody>
                    <a:bodyPr wrap="square"/>
                    <a:lstStyle/>
                    <a:p>
                      <a:pPr algn="l"/>
                      <a:r>
                        <a:rPr sz="1000" b="0">
                          <a:solidFill>
                            <a:srgbClr val="F2F6FF"/>
                          </a:solidFill>
                          <a:latin typeface="Calibri"/>
                        </a:rPr>
                        <a:t>Transistor base currents</a:t>
                      </a:r>
                    </a:p>
                  </a:txBody>
                  <a:tcPr marL="73152" marR="73152" marT="27432" marB="27432" anchor="ctr">
                    <a:solidFill>
                      <a:srgbClr val="1E2E4E"/>
                    </a:solidFill>
                  </a:tcPr>
                </a:tc>
                <a:tc>
                  <a:txBody>
                    <a:bodyPr wrap="square"/>
                    <a:lstStyle/>
                    <a:p>
                      <a:pPr algn="r"/>
                      <a:r>
                        <a:rPr sz="1000" b="0">
                          <a:solidFill>
                            <a:srgbClr val="F2F6FF"/>
                          </a:solidFill>
                          <a:latin typeface="Calibri"/>
                        </a:rPr>
                        <a:t>3 mA</a:t>
                      </a:r>
                    </a:p>
                  </a:txBody>
                  <a:tcPr marL="73152" marR="73152" marT="27432" marB="27432" anchor="ctr">
                    <a:solidFill>
                      <a:srgbClr val="1E2E4E"/>
                    </a:solidFill>
                  </a:tcPr>
                </a:tc>
                <a:tc>
                  <a:txBody>
                    <a:bodyPr wrap="square"/>
                    <a:lstStyle/>
                    <a:p>
                      <a:pPr algn="r"/>
                      <a:r>
                        <a:rPr sz="1000" b="0">
                          <a:solidFill>
                            <a:srgbClr val="F2F6FF"/>
                          </a:solidFill>
                          <a:latin typeface="Calibri"/>
                        </a:rPr>
                        <a:t>4 mA</a:t>
                      </a:r>
                    </a:p>
                  </a:txBody>
                  <a:tcPr marL="73152" marR="73152" marT="27432" marB="27432" anchor="ctr">
                    <a:solidFill>
                      <a:srgbClr val="1E2E4E"/>
                    </a:solidFill>
                  </a:tcPr>
                </a:tc>
              </a:tr>
              <a:tr h="255270">
                <a:tc>
                  <a:txBody>
                    <a:bodyPr wrap="square"/>
                    <a:lstStyle/>
                    <a:p>
                      <a:pPr algn="l"/>
                      <a:r>
                        <a:rPr sz="1000" b="0">
                          <a:solidFill>
                            <a:srgbClr val="F2F6FF"/>
                          </a:solidFill>
                          <a:latin typeface="Calibri"/>
                        </a:rPr>
                        <a:t>Relay coil when energised</a:t>
                      </a:r>
                    </a:p>
                  </a:txBody>
                  <a:tcPr marL="73152" marR="73152" marT="27432" marB="27432" anchor="ctr">
                    <a:solidFill>
                      <a:srgbClr val="17243E"/>
                    </a:solidFill>
                  </a:tcPr>
                </a:tc>
                <a:tc>
                  <a:txBody>
                    <a:bodyPr wrap="square"/>
                    <a:lstStyle/>
                    <a:p>
                      <a:pPr algn="r"/>
                      <a:r>
                        <a:rPr sz="1000" b="0">
                          <a:solidFill>
                            <a:srgbClr val="F2F6FF"/>
                          </a:solidFill>
                          <a:latin typeface="Calibri"/>
                        </a:rPr>
                        <a:t>0 mA</a:t>
                      </a:r>
                    </a:p>
                  </a:txBody>
                  <a:tcPr marL="73152" marR="73152" marT="27432" marB="27432" anchor="ctr">
                    <a:solidFill>
                      <a:srgbClr val="17243E"/>
                    </a:solidFill>
                  </a:tcPr>
                </a:tc>
                <a:tc>
                  <a:txBody>
                    <a:bodyPr wrap="square"/>
                    <a:lstStyle/>
                    <a:p>
                      <a:pPr algn="r"/>
                      <a:r>
                        <a:rPr sz="1000" b="0">
                          <a:solidFill>
                            <a:srgbClr val="F2F6FF"/>
                          </a:solidFill>
                          <a:latin typeface="Calibri"/>
                        </a:rPr>
                        <a:t>70 mA</a:t>
                      </a:r>
                    </a:p>
                  </a:txBody>
                  <a:tcPr marL="73152" marR="73152" marT="27432" marB="27432" anchor="ctr">
                    <a:solidFill>
                      <a:srgbClr val="17243E"/>
                    </a:solidFill>
                  </a:tcPr>
                </a:tc>
              </a:tr>
              <a:tr h="255270">
                <a:tc>
                  <a:txBody>
                    <a:bodyPr wrap="square"/>
                    <a:lstStyle/>
                    <a:p>
                      <a:pPr algn="l"/>
                      <a:r>
                        <a:rPr sz="1000" b="0">
                          <a:solidFill>
                            <a:srgbClr val="F2F6FF"/>
                          </a:solidFill>
                          <a:latin typeface="Calibri"/>
                        </a:rPr>
                        <a:t>Buzzer when sounding</a:t>
                      </a:r>
                    </a:p>
                  </a:txBody>
                  <a:tcPr marL="73152" marR="73152" marT="27432" marB="27432" anchor="ctr">
                    <a:solidFill>
                      <a:srgbClr val="1E2E4E"/>
                    </a:solidFill>
                  </a:tcPr>
                </a:tc>
                <a:tc>
                  <a:txBody>
                    <a:bodyPr wrap="square"/>
                    <a:lstStyle/>
                    <a:p>
                      <a:pPr algn="r"/>
                      <a:r>
                        <a:rPr sz="1000" b="0">
                          <a:solidFill>
                            <a:srgbClr val="F2F6FF"/>
                          </a:solidFill>
                          <a:latin typeface="Calibri"/>
                        </a:rPr>
                        <a:t>0 mA</a:t>
                      </a:r>
                    </a:p>
                  </a:txBody>
                  <a:tcPr marL="73152" marR="73152" marT="27432" marB="27432" anchor="ctr">
                    <a:solidFill>
                      <a:srgbClr val="1E2E4E"/>
                    </a:solidFill>
                  </a:tcPr>
                </a:tc>
                <a:tc>
                  <a:txBody>
                    <a:bodyPr wrap="square"/>
                    <a:lstStyle/>
                    <a:p>
                      <a:pPr algn="r"/>
                      <a:r>
                        <a:rPr sz="1000" b="0">
                          <a:solidFill>
                            <a:srgbClr val="F2F6FF"/>
                          </a:solidFill>
                          <a:latin typeface="Calibri"/>
                        </a:rPr>
                        <a:t>30 mA</a:t>
                      </a:r>
                    </a:p>
                  </a:txBody>
                  <a:tcPr marL="73152" marR="73152" marT="27432" marB="27432" anchor="ctr">
                    <a:solidFill>
                      <a:srgbClr val="1E2E4E"/>
                    </a:solidFill>
                  </a:tcPr>
                </a:tc>
              </a:tr>
              <a:tr h="255270">
                <a:tc>
                  <a:txBody>
                    <a:bodyPr wrap="square"/>
                    <a:lstStyle/>
                    <a:p>
                      <a:pPr algn="l"/>
                      <a:r>
                        <a:rPr sz="1000" b="0">
                          <a:solidFill>
                            <a:srgbClr val="F2F6FF"/>
                          </a:solidFill>
                          <a:latin typeface="Calibri"/>
                        </a:rPr>
                        <a:t>TOTAL</a:t>
                      </a:r>
                    </a:p>
                  </a:txBody>
                  <a:tcPr marL="73152" marR="73152" marT="27432" marB="27432" anchor="ctr">
                    <a:solidFill>
                      <a:srgbClr val="243A62"/>
                    </a:solidFill>
                  </a:tcPr>
                </a:tc>
                <a:tc>
                  <a:txBody>
                    <a:bodyPr wrap="square"/>
                    <a:lstStyle/>
                    <a:p>
                      <a:pPr algn="r"/>
                      <a:r>
                        <a:rPr sz="1000" b="0">
                          <a:solidFill>
                            <a:srgbClr val="F2F6FF"/>
                          </a:solidFill>
                          <a:latin typeface="Calibri"/>
                        </a:rPr>
                        <a:t>157 mA</a:t>
                      </a:r>
                    </a:p>
                  </a:txBody>
                  <a:tcPr marL="73152" marR="73152" marT="27432" marB="27432" anchor="ctr">
                    <a:solidFill>
                      <a:srgbClr val="243A62"/>
                    </a:solidFill>
                  </a:tcPr>
                </a:tc>
                <a:tc>
                  <a:txBody>
                    <a:bodyPr wrap="square"/>
                    <a:lstStyle/>
                    <a:p>
                      <a:pPr algn="r"/>
                      <a:r>
                        <a:rPr sz="1000" b="0">
                          <a:solidFill>
                            <a:srgbClr val="F2F6FF"/>
                          </a:solidFill>
                          <a:latin typeface="Calibri"/>
                        </a:rPr>
                        <a:t>274 mA</a:t>
                      </a:r>
                    </a:p>
                  </a:txBody>
                  <a:tcPr marL="73152" marR="73152" marT="27432" marB="27432" anchor="ctr">
                    <a:solidFill>
                      <a:srgbClr val="243A62"/>
                    </a:solidFill>
                  </a:tcPr>
                </a:tc>
              </a:tr>
            </a:tbl>
          </a:graphicData>
        </a:graphic>
      </p:graphicFrame>
      <p:sp>
        <p:nvSpPr>
          <p:cNvPr id="12" name="Rounded Rectangle 11"/>
          <p:cNvSpPr/>
          <p:nvPr/>
        </p:nvSpPr>
        <p:spPr>
          <a:xfrm>
            <a:off x="6739128" y="1645920"/>
            <a:ext cx="4882896" cy="1481328"/>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39128" y="1645920"/>
            <a:ext cx="50292" cy="148132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76872" y="1810512"/>
            <a:ext cx="4471416"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Regulator dissipation</a:t>
            </a:r>
          </a:p>
        </p:txBody>
      </p:sp>
      <p:sp>
        <p:nvSpPr>
          <p:cNvPr id="15" name="TextBox 14"/>
          <p:cNvSpPr txBox="1"/>
          <p:nvPr/>
        </p:nvSpPr>
        <p:spPr>
          <a:xfrm>
            <a:off x="6976872" y="2194560"/>
            <a:ext cx="4471416" cy="795528"/>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P = (Vin - Vout) x I = (9 - 5) x 0.25 = 1.0 W</a:t>
            </a:r>
            <a:br/>
            <a:br/>
            <a:r>
              <a:rPr sz="1050" b="0" i="0">
                <a:solidFill>
                  <a:srgbClr val="A9B8D6"/>
                </a:solidFill>
                <a:latin typeface="Calibri"/>
              </a:rPr>
              <a:t>One watt in a TO-220 without a heatsink runs hot enough to drop out. HS1 is not optional.</a:t>
            </a:r>
          </a:p>
        </p:txBody>
      </p:sp>
      <p:sp>
        <p:nvSpPr>
          <p:cNvPr id="16" name="Rounded Rectangle 15"/>
          <p:cNvSpPr/>
          <p:nvPr/>
        </p:nvSpPr>
        <p:spPr>
          <a:xfrm>
            <a:off x="6739128" y="3255264"/>
            <a:ext cx="4882896" cy="1453896"/>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39128" y="3255264"/>
            <a:ext cx="50292" cy="1453896"/>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76872" y="3419856"/>
            <a:ext cx="4471416"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Decoupling</a:t>
            </a:r>
          </a:p>
        </p:txBody>
      </p:sp>
      <p:sp>
        <p:nvSpPr>
          <p:cNvPr id="19" name="TextBox 18"/>
          <p:cNvSpPr txBox="1"/>
          <p:nvPr/>
        </p:nvSpPr>
        <p:spPr>
          <a:xfrm>
            <a:off x="6976872" y="3803904"/>
            <a:ext cx="4471416" cy="768096"/>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C1 0.1 uF across pins 40 and 20 of the microcontroller, plus one 0.1 uF capacitor at each of U2, U3, U4, U5, the LCD and the ADC. Ceramic, short leads, physically close to the pins.</a:t>
            </a:r>
          </a:p>
        </p:txBody>
      </p:sp>
      <p:sp>
        <p:nvSpPr>
          <p:cNvPr id="20" name="Rounded Rectangle 19"/>
          <p:cNvSpPr/>
          <p:nvPr/>
        </p:nvSpPr>
        <p:spPr>
          <a:xfrm>
            <a:off x="566928" y="4882896"/>
            <a:ext cx="11058113" cy="1353312"/>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029200"/>
            <a:ext cx="10546049" cy="1097280"/>
          </a:xfrm>
          <a:prstGeom prst="rect">
            <a:avLst/>
          </a:prstGeom>
          <a:noFill/>
        </p:spPr>
        <p:txBody>
          <a:bodyPr wrap="square" lIns="0" rIns="0" tIns="0" bIns="0" anchor="t">
            <a:spAutoFit/>
          </a:bodyPr>
          <a:lstStyle/>
          <a:p>
            <a:pPr algn="l">
              <a:lnSpc>
                <a:spcPct val="118000"/>
              </a:lnSpc>
              <a:spcAft>
                <a:spcPts val="300"/>
              </a:spcAft>
            </a:pPr>
            <a:r>
              <a:rPr sz="1300" b="1" i="0">
                <a:solidFill>
                  <a:srgbClr val="F2F6FF"/>
                </a:solidFill>
                <a:latin typeface="Calibri"/>
              </a:rPr>
              <a:t>Supply chain</a:t>
            </a:r>
          </a:p>
          <a:p>
            <a:pPr algn="l">
              <a:lnSpc>
                <a:spcPct val="118000"/>
              </a:lnSpc>
              <a:spcAft>
                <a:spcPts val="300"/>
              </a:spcAft>
            </a:pPr>
            <a:r>
              <a:rPr sz="1100" b="0" i="0">
                <a:solidFill>
                  <a:srgbClr val="CFE0FF"/>
                </a:solidFill>
                <a:latin typeface="Calibri"/>
              </a:rPr>
              <a:t>J1 barrel jack, 7 to 12 V in, centre positive   -&gt;   1N4007 reverse protection   -&gt;   C4 100 uF and 0.1 uF   -&gt;   L7805 with heatsink   -&gt;   C5 100 uF and 0.1 uF   -&gt;   5 V rail</a:t>
            </a:r>
          </a:p>
          <a:p>
            <a:pPr algn="l">
              <a:lnSpc>
                <a:spcPct val="118000"/>
              </a:lnSpc>
              <a:spcAft>
                <a:spcPts val="300"/>
              </a:spcAft>
            </a:pPr>
            <a:r>
              <a:rPr sz="1100" b="0" i="0">
                <a:solidFill>
                  <a:srgbClr val="A9B8D6"/>
                </a:solidFill>
                <a:latin typeface="Calibri"/>
              </a:rPr>
              <a:t>A 500 mA adapter is comfortable. Below 7 V input the 7805 drops out of regulation; above 12 V the dissipation becomes the limiting factor, not the current.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BILL OF MATERIALS</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Parts, quantities and cost</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Indicative Indian retail rates, 2025-26 academic year</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17</a:t>
            </a:r>
          </a:p>
        </p:txBody>
      </p:sp>
      <p:graphicFrame>
        <p:nvGraphicFramePr>
          <p:cNvPr id="11" name="Table 10"/>
          <p:cNvGraphicFramePr>
            <a:graphicFrameLocks noGrp="1"/>
          </p:cNvGraphicFramePr>
          <p:nvPr/>
        </p:nvGraphicFramePr>
        <p:xfrm>
          <a:off x="566928" y="1645920"/>
          <a:ext cx="7589519" cy="3246120"/>
        </p:xfrm>
        <a:graphic>
          <a:graphicData uri="http://schemas.openxmlformats.org/drawingml/2006/table">
            <a:tbl>
              <a:tblPr firstRow="1">
                <a:tableStyleId>{5C22544A-7EE6-4342-B048-85BDC9FD1C3A}</a:tableStyleId>
              </a:tblPr>
              <a:tblGrid>
                <a:gridCol w="2371725"/>
                <a:gridCol w="4201341"/>
                <a:gridCol w="1016453"/>
              </a:tblGrid>
              <a:tr h="270510">
                <a:tc>
                  <a:txBody>
                    <a:bodyPr wrap="square"/>
                    <a:lstStyle/>
                    <a:p>
                      <a:pPr algn="l"/>
                      <a:r>
                        <a:rPr sz="1000" b="1">
                          <a:solidFill>
                            <a:srgbClr val="CFE0FF"/>
                          </a:solidFill>
                          <a:latin typeface="Calibri"/>
                        </a:rPr>
                        <a:t>Category</a:t>
                      </a:r>
                    </a:p>
                  </a:txBody>
                  <a:tcPr marL="73152" marR="73152" marT="27432" marB="27432" anchor="ctr">
                    <a:solidFill>
                      <a:srgbClr val="2A3C63"/>
                    </a:solidFill>
                  </a:tcPr>
                </a:tc>
                <a:tc>
                  <a:txBody>
                    <a:bodyPr wrap="square"/>
                    <a:lstStyle/>
                    <a:p>
                      <a:pPr algn="l"/>
                      <a:r>
                        <a:rPr sz="1000" b="1">
                          <a:solidFill>
                            <a:srgbClr val="CFE0FF"/>
                          </a:solidFill>
                          <a:latin typeface="Calibri"/>
                        </a:rPr>
                        <a:t>Line items</a:t>
                      </a:r>
                    </a:p>
                  </a:txBody>
                  <a:tcPr marL="73152" marR="73152" marT="27432" marB="27432" anchor="ctr">
                    <a:solidFill>
                      <a:srgbClr val="2A3C63"/>
                    </a:solidFill>
                  </a:tcPr>
                </a:tc>
                <a:tc>
                  <a:txBody>
                    <a:bodyPr wrap="square"/>
                    <a:lstStyle/>
                    <a:p>
                      <a:pPr algn="r"/>
                      <a:r>
                        <a:rPr sz="1000" b="1">
                          <a:solidFill>
                            <a:srgbClr val="CFE0FF"/>
                          </a:solidFill>
                          <a:latin typeface="Calibri"/>
                        </a:rPr>
                        <a:t>Cost (INR)</a:t>
                      </a:r>
                    </a:p>
                  </a:txBody>
                  <a:tcPr marL="73152" marR="73152" marT="27432" marB="27432" anchor="ctr">
                    <a:solidFill>
                      <a:srgbClr val="2A3C63"/>
                    </a:solidFill>
                  </a:tcPr>
                </a:tc>
              </a:tr>
              <a:tr h="270510">
                <a:tc>
                  <a:txBody>
                    <a:bodyPr wrap="square"/>
                    <a:lstStyle/>
                    <a:p>
                      <a:pPr algn="l"/>
                      <a:r>
                        <a:rPr sz="1000" b="0">
                          <a:solidFill>
                            <a:srgbClr val="F2F6FF"/>
                          </a:solidFill>
                          <a:latin typeface="Calibri"/>
                        </a:rPr>
                        <a:t>Semiconductors and ICs</a:t>
                      </a:r>
                    </a:p>
                  </a:txBody>
                  <a:tcPr marL="73152" marR="73152" marT="27432" marB="27432" anchor="ctr">
                    <a:solidFill>
                      <a:srgbClr val="17243E"/>
                    </a:solidFill>
                  </a:tcPr>
                </a:tc>
                <a:tc>
                  <a:txBody>
                    <a:bodyPr wrap="square"/>
                    <a:lstStyle/>
                    <a:p>
                      <a:pPr algn="l"/>
                      <a:r>
                        <a:rPr sz="1000" b="0">
                          <a:solidFill>
                            <a:srgbClr val="F2F6FF"/>
                          </a:solidFill>
                          <a:latin typeface="Calibri"/>
                        </a:rPr>
                        <a:t>AT89S52, two 74HC573, ADC0804, MAX232, LM35, 7805</a:t>
                      </a:r>
                    </a:p>
                  </a:txBody>
                  <a:tcPr marL="73152" marR="73152" marT="27432" marB="27432" anchor="ctr">
                    <a:solidFill>
                      <a:srgbClr val="17243E"/>
                    </a:solidFill>
                  </a:tcPr>
                </a:tc>
                <a:tc>
                  <a:txBody>
                    <a:bodyPr wrap="square"/>
                    <a:lstStyle/>
                    <a:p>
                      <a:pPr algn="r"/>
                      <a:r>
                        <a:rPr sz="1000" b="0">
                          <a:solidFill>
                            <a:srgbClr val="F2F6FF"/>
                          </a:solidFill>
                          <a:latin typeface="Calibri"/>
                        </a:rPr>
                        <a:t>397</a:t>
                      </a:r>
                    </a:p>
                  </a:txBody>
                  <a:tcPr marL="73152" marR="73152" marT="27432" marB="27432" anchor="ctr">
                    <a:solidFill>
                      <a:srgbClr val="17243E"/>
                    </a:solidFill>
                  </a:tcPr>
                </a:tc>
              </a:tr>
              <a:tr h="270510">
                <a:tc>
                  <a:txBody>
                    <a:bodyPr wrap="square"/>
                    <a:lstStyle/>
                    <a:p>
                      <a:pPr algn="l"/>
                      <a:r>
                        <a:rPr sz="1000" b="0">
                          <a:solidFill>
                            <a:srgbClr val="F2F6FF"/>
                          </a:solidFill>
                          <a:latin typeface="Calibri"/>
                        </a:rPr>
                        <a:t>Discretes</a:t>
                      </a:r>
                    </a:p>
                  </a:txBody>
                  <a:tcPr marL="73152" marR="73152" marT="27432" marB="27432" anchor="ctr">
                    <a:solidFill>
                      <a:srgbClr val="1E2E4E"/>
                    </a:solidFill>
                  </a:tcPr>
                </a:tc>
                <a:tc>
                  <a:txBody>
                    <a:bodyPr wrap="square"/>
                    <a:lstStyle/>
                    <a:p>
                      <a:pPr algn="l"/>
                      <a:r>
                        <a:rPr sz="1000" b="0">
                          <a:solidFill>
                            <a:srgbClr val="F2F6FF"/>
                          </a:solidFill>
                          <a:latin typeface="Calibri"/>
                        </a:rPr>
                        <a:t>four BC547, two 1N4007, nine LEDs</a:t>
                      </a:r>
                    </a:p>
                  </a:txBody>
                  <a:tcPr marL="73152" marR="73152" marT="27432" marB="27432" anchor="ctr">
                    <a:solidFill>
                      <a:srgbClr val="1E2E4E"/>
                    </a:solidFill>
                  </a:tcPr>
                </a:tc>
                <a:tc>
                  <a:txBody>
                    <a:bodyPr wrap="square"/>
                    <a:lstStyle/>
                    <a:p>
                      <a:pPr algn="r"/>
                      <a:r>
                        <a:rPr sz="1000" b="0">
                          <a:solidFill>
                            <a:srgbClr val="F2F6FF"/>
                          </a:solidFill>
                          <a:latin typeface="Calibri"/>
                        </a:rPr>
                        <a:t>21</a:t>
                      </a:r>
                    </a:p>
                  </a:txBody>
                  <a:tcPr marL="73152" marR="73152" marT="27432" marB="27432" anchor="ctr">
                    <a:solidFill>
                      <a:srgbClr val="1E2E4E"/>
                    </a:solidFill>
                  </a:tcPr>
                </a:tc>
              </a:tr>
              <a:tr h="270510">
                <a:tc>
                  <a:txBody>
                    <a:bodyPr wrap="square"/>
                    <a:lstStyle/>
                    <a:p>
                      <a:pPr algn="l"/>
                      <a:r>
                        <a:rPr sz="1000" b="0">
                          <a:solidFill>
                            <a:srgbClr val="F2F6FF"/>
                          </a:solidFill>
                          <a:latin typeface="Calibri"/>
                        </a:rPr>
                        <a:t>Displays, modules, actuators</a:t>
                      </a:r>
                    </a:p>
                  </a:txBody>
                  <a:tcPr marL="73152" marR="73152" marT="27432" marB="27432" anchor="ctr">
                    <a:solidFill>
                      <a:srgbClr val="17243E"/>
                    </a:solidFill>
                  </a:tcPr>
                </a:tc>
                <a:tc>
                  <a:txBody>
                    <a:bodyPr wrap="square"/>
                    <a:lstStyle/>
                    <a:p>
                      <a:pPr algn="l"/>
                      <a:r>
                        <a:rPr sz="1000" b="0">
                          <a:solidFill>
                            <a:srgbClr val="F2F6FF"/>
                          </a:solidFill>
                          <a:latin typeface="Calibri"/>
                        </a:rPr>
                        <a:t>16x2 LCD, 2-digit display, 5 V relay, buzzer</a:t>
                      </a:r>
                    </a:p>
                  </a:txBody>
                  <a:tcPr marL="73152" marR="73152" marT="27432" marB="27432" anchor="ctr">
                    <a:solidFill>
                      <a:srgbClr val="17243E"/>
                    </a:solidFill>
                  </a:tcPr>
                </a:tc>
                <a:tc>
                  <a:txBody>
                    <a:bodyPr wrap="square"/>
                    <a:lstStyle/>
                    <a:p>
                      <a:pPr algn="r"/>
                      <a:r>
                        <a:rPr sz="1000" b="0">
                          <a:solidFill>
                            <a:srgbClr val="F2F6FF"/>
                          </a:solidFill>
                          <a:latin typeface="Calibri"/>
                        </a:rPr>
                        <a:t>275</a:t>
                      </a:r>
                    </a:p>
                  </a:txBody>
                  <a:tcPr marL="73152" marR="73152" marT="27432" marB="27432" anchor="ctr">
                    <a:solidFill>
                      <a:srgbClr val="17243E"/>
                    </a:solidFill>
                  </a:tcPr>
                </a:tc>
              </a:tr>
              <a:tr h="270510">
                <a:tc>
                  <a:txBody>
                    <a:bodyPr wrap="square"/>
                    <a:lstStyle/>
                    <a:p>
                      <a:pPr algn="l"/>
                      <a:r>
                        <a:rPr sz="1000" b="0">
                          <a:solidFill>
                            <a:srgbClr val="F2F6FF"/>
                          </a:solidFill>
                          <a:latin typeface="Calibri"/>
                        </a:rPr>
                        <a:t>Switches and buttons</a:t>
                      </a:r>
                    </a:p>
                  </a:txBody>
                  <a:tcPr marL="73152" marR="73152" marT="27432" marB="27432" anchor="ctr">
                    <a:solidFill>
                      <a:srgbClr val="1E2E4E"/>
                    </a:solidFill>
                  </a:tcPr>
                </a:tc>
                <a:tc>
                  <a:txBody>
                    <a:bodyPr wrap="square"/>
                    <a:lstStyle/>
                    <a:p>
                      <a:pPr algn="l"/>
                      <a:r>
                        <a:rPr sz="1000" b="0">
                          <a:solidFill>
                            <a:srgbClr val="F2F6FF"/>
                          </a:solidFill>
                          <a:latin typeface="Calibri"/>
                        </a:rPr>
                        <a:t>8-way DIP switch, three tactile buttons</a:t>
                      </a:r>
                    </a:p>
                  </a:txBody>
                  <a:tcPr marL="73152" marR="73152" marT="27432" marB="27432" anchor="ctr">
                    <a:solidFill>
                      <a:srgbClr val="1E2E4E"/>
                    </a:solidFill>
                  </a:tcPr>
                </a:tc>
                <a:tc>
                  <a:txBody>
                    <a:bodyPr wrap="square"/>
                    <a:lstStyle/>
                    <a:p>
                      <a:pPr algn="r"/>
                      <a:r>
                        <a:rPr sz="1000" b="0">
                          <a:solidFill>
                            <a:srgbClr val="F2F6FF"/>
                          </a:solidFill>
                          <a:latin typeface="Calibri"/>
                        </a:rPr>
                        <a:t>39</a:t>
                      </a:r>
                    </a:p>
                  </a:txBody>
                  <a:tcPr marL="73152" marR="73152" marT="27432" marB="27432" anchor="ctr">
                    <a:solidFill>
                      <a:srgbClr val="1E2E4E"/>
                    </a:solidFill>
                  </a:tcPr>
                </a:tc>
              </a:tr>
              <a:tr h="270510">
                <a:tc>
                  <a:txBody>
                    <a:bodyPr wrap="square"/>
                    <a:lstStyle/>
                    <a:p>
                      <a:pPr algn="l"/>
                      <a:r>
                        <a:rPr sz="1000" b="0">
                          <a:solidFill>
                            <a:srgbClr val="F2F6FF"/>
                          </a:solidFill>
                          <a:latin typeface="Calibri"/>
                        </a:rPr>
                        <a:t>Resistors and networks</a:t>
                      </a:r>
                    </a:p>
                  </a:txBody>
                  <a:tcPr marL="73152" marR="73152" marT="27432" marB="27432" anchor="ctr">
                    <a:solidFill>
                      <a:srgbClr val="17243E"/>
                    </a:solidFill>
                  </a:tcPr>
                </a:tc>
                <a:tc>
                  <a:txBody>
                    <a:bodyPr wrap="square"/>
                    <a:lstStyle/>
                    <a:p>
                      <a:pPr algn="l"/>
                      <a:r>
                        <a:rPr sz="1000" b="0">
                          <a:solidFill>
                            <a:srgbClr val="F2F6FF"/>
                          </a:solidFill>
                          <a:latin typeface="Calibri"/>
                        </a:rPr>
                        <a:t>four SIP networks, nine resistors, trimpot, pot</a:t>
                      </a:r>
                    </a:p>
                  </a:txBody>
                  <a:tcPr marL="73152" marR="73152" marT="27432" marB="27432" anchor="ctr">
                    <a:solidFill>
                      <a:srgbClr val="17243E"/>
                    </a:solidFill>
                  </a:tcPr>
                </a:tc>
                <a:tc>
                  <a:txBody>
                    <a:bodyPr wrap="square"/>
                    <a:lstStyle/>
                    <a:p>
                      <a:pPr algn="r"/>
                      <a:r>
                        <a:rPr sz="1000" b="0">
                          <a:solidFill>
                            <a:srgbClr val="F2F6FF"/>
                          </a:solidFill>
                          <a:latin typeface="Calibri"/>
                        </a:rPr>
                        <a:t>82</a:t>
                      </a:r>
                    </a:p>
                  </a:txBody>
                  <a:tcPr marL="73152" marR="73152" marT="27432" marB="27432" anchor="ctr">
                    <a:solidFill>
                      <a:srgbClr val="17243E"/>
                    </a:solidFill>
                  </a:tcPr>
                </a:tc>
              </a:tr>
              <a:tr h="270510">
                <a:tc>
                  <a:txBody>
                    <a:bodyPr wrap="square"/>
                    <a:lstStyle/>
                    <a:p>
                      <a:pPr algn="l"/>
                      <a:r>
                        <a:rPr sz="1000" b="0">
                          <a:solidFill>
                            <a:srgbClr val="F2F6FF"/>
                          </a:solidFill>
                          <a:latin typeface="Calibri"/>
                        </a:rPr>
                        <a:t>Capacitors</a:t>
                      </a:r>
                    </a:p>
                  </a:txBody>
                  <a:tcPr marL="73152" marR="73152" marT="27432" marB="27432" anchor="ctr">
                    <a:solidFill>
                      <a:srgbClr val="1E2E4E"/>
                    </a:solidFill>
                  </a:tcPr>
                </a:tc>
                <a:tc>
                  <a:txBody>
                    <a:bodyPr wrap="square"/>
                    <a:lstStyle/>
                    <a:p>
                      <a:pPr algn="l"/>
                      <a:r>
                        <a:rPr sz="1000" b="0">
                          <a:solidFill>
                            <a:srgbClr val="F2F6FF"/>
                          </a:solidFill>
                          <a:latin typeface="Calibri"/>
                        </a:rPr>
                        <a:t>crystal loads, electrolytics, ceramics, 1 uF pump caps</a:t>
                      </a:r>
                    </a:p>
                  </a:txBody>
                  <a:tcPr marL="73152" marR="73152" marT="27432" marB="27432" anchor="ctr">
                    <a:solidFill>
                      <a:srgbClr val="1E2E4E"/>
                    </a:solidFill>
                  </a:tcPr>
                </a:tc>
                <a:tc>
                  <a:txBody>
                    <a:bodyPr wrap="square"/>
                    <a:lstStyle/>
                    <a:p>
                      <a:pPr algn="r"/>
                      <a:r>
                        <a:rPr sz="1000" b="0">
                          <a:solidFill>
                            <a:srgbClr val="F2F6FF"/>
                          </a:solidFill>
                          <a:latin typeface="Calibri"/>
                        </a:rPr>
                        <a:t>35</a:t>
                      </a:r>
                    </a:p>
                  </a:txBody>
                  <a:tcPr marL="73152" marR="73152" marT="27432" marB="27432" anchor="ctr">
                    <a:solidFill>
                      <a:srgbClr val="1E2E4E"/>
                    </a:solidFill>
                  </a:tcPr>
                </a:tc>
              </a:tr>
              <a:tr h="270510">
                <a:tc>
                  <a:txBody>
                    <a:bodyPr wrap="square"/>
                    <a:lstStyle/>
                    <a:p>
                      <a:pPr algn="l"/>
                      <a:r>
                        <a:rPr sz="1000" b="0">
                          <a:solidFill>
                            <a:srgbClr val="F2F6FF"/>
                          </a:solidFill>
                          <a:latin typeface="Calibri"/>
                        </a:rPr>
                        <a:t>Crystal</a:t>
                      </a:r>
                    </a:p>
                  </a:txBody>
                  <a:tcPr marL="73152" marR="73152" marT="27432" marB="27432" anchor="ctr">
                    <a:solidFill>
                      <a:srgbClr val="17243E"/>
                    </a:solidFill>
                  </a:tcPr>
                </a:tc>
                <a:tc>
                  <a:txBody>
                    <a:bodyPr wrap="square"/>
                    <a:lstStyle/>
                    <a:p>
                      <a:pPr algn="l"/>
                      <a:r>
                        <a:rPr sz="1000" b="0">
                          <a:solidFill>
                            <a:srgbClr val="F2F6FF"/>
                          </a:solidFill>
                          <a:latin typeface="Calibri"/>
                        </a:rPr>
                        <a:t>11.0592 MHz</a:t>
                      </a:r>
                    </a:p>
                  </a:txBody>
                  <a:tcPr marL="73152" marR="73152" marT="27432" marB="27432" anchor="ctr">
                    <a:solidFill>
                      <a:srgbClr val="17243E"/>
                    </a:solidFill>
                  </a:tcPr>
                </a:tc>
                <a:tc>
                  <a:txBody>
                    <a:bodyPr wrap="square"/>
                    <a:lstStyle/>
                    <a:p>
                      <a:pPr algn="r"/>
                      <a:r>
                        <a:rPr sz="1000" b="0">
                          <a:solidFill>
                            <a:srgbClr val="F2F6FF"/>
                          </a:solidFill>
                          <a:latin typeface="Calibri"/>
                        </a:rPr>
                        <a:t>12</a:t>
                      </a:r>
                    </a:p>
                  </a:txBody>
                  <a:tcPr marL="73152" marR="73152" marT="27432" marB="27432" anchor="ctr">
                    <a:solidFill>
                      <a:srgbClr val="17243E"/>
                    </a:solidFill>
                  </a:tcPr>
                </a:tc>
              </a:tr>
              <a:tr h="270510">
                <a:tc>
                  <a:txBody>
                    <a:bodyPr wrap="square"/>
                    <a:lstStyle/>
                    <a:p>
                      <a:pPr algn="l"/>
                      <a:r>
                        <a:rPr sz="1000" b="0">
                          <a:solidFill>
                            <a:srgbClr val="F2F6FF"/>
                          </a:solidFill>
                          <a:latin typeface="Calibri"/>
                        </a:rPr>
                        <a:t>Sockets, connectors, jumpers</a:t>
                      </a:r>
                    </a:p>
                  </a:txBody>
                  <a:tcPr marL="73152" marR="73152" marT="27432" marB="27432" anchor="ctr">
                    <a:solidFill>
                      <a:srgbClr val="1E2E4E"/>
                    </a:solidFill>
                  </a:tcPr>
                </a:tc>
                <a:tc>
                  <a:txBody>
                    <a:bodyPr wrap="square"/>
                    <a:lstStyle/>
                    <a:p>
                      <a:pPr algn="l"/>
                      <a:r>
                        <a:rPr sz="1000" b="0">
                          <a:solidFill>
                            <a:srgbClr val="F2F6FF"/>
                          </a:solidFill>
                          <a:latin typeface="Calibri"/>
                        </a:rPr>
                        <a:t>IC sockets, DC jack, DB9, ISP header, terminals</a:t>
                      </a:r>
                    </a:p>
                  </a:txBody>
                  <a:tcPr marL="73152" marR="73152" marT="27432" marB="27432" anchor="ctr">
                    <a:solidFill>
                      <a:srgbClr val="1E2E4E"/>
                    </a:solidFill>
                  </a:tcPr>
                </a:tc>
                <a:tc>
                  <a:txBody>
                    <a:bodyPr wrap="square"/>
                    <a:lstStyle/>
                    <a:p>
                      <a:pPr algn="r"/>
                      <a:r>
                        <a:rPr sz="1000" b="0">
                          <a:solidFill>
                            <a:srgbClr val="F2F6FF"/>
                          </a:solidFill>
                          <a:latin typeface="Calibri"/>
                        </a:rPr>
                        <a:t>124</a:t>
                      </a:r>
                    </a:p>
                  </a:txBody>
                  <a:tcPr marL="73152" marR="73152" marT="27432" marB="27432" anchor="ctr">
                    <a:solidFill>
                      <a:srgbClr val="1E2E4E"/>
                    </a:solidFill>
                  </a:tcPr>
                </a:tc>
              </a:tr>
              <a:tr h="270510">
                <a:tc>
                  <a:txBody>
                    <a:bodyPr wrap="square"/>
                    <a:lstStyle/>
                    <a:p>
                      <a:pPr algn="l"/>
                      <a:r>
                        <a:rPr sz="1000" b="0">
                          <a:solidFill>
                            <a:srgbClr val="F2F6FF"/>
                          </a:solidFill>
                          <a:latin typeface="Calibri"/>
                        </a:rPr>
                        <a:t>Power, PCB, wire, programmers</a:t>
                      </a:r>
                    </a:p>
                  </a:txBody>
                  <a:tcPr marL="73152" marR="73152" marT="27432" marB="27432" anchor="ctr">
                    <a:solidFill>
                      <a:srgbClr val="243A62"/>
                    </a:solidFill>
                  </a:tcPr>
                </a:tc>
                <a:tc>
                  <a:txBody>
                    <a:bodyPr wrap="square"/>
                    <a:lstStyle/>
                    <a:p>
                      <a:pPr algn="l"/>
                      <a:r>
                        <a:rPr sz="1000" b="0">
                          <a:solidFill>
                            <a:srgbClr val="F2F6FF"/>
                          </a:solidFill>
                          <a:latin typeface="Calibri"/>
                        </a:rPr>
                        <a:t>adapter, dot PCB, hookup wire, USBasp, USB-RS232</a:t>
                      </a:r>
                    </a:p>
                  </a:txBody>
                  <a:tcPr marL="73152" marR="73152" marT="27432" marB="27432" anchor="ctr">
                    <a:solidFill>
                      <a:srgbClr val="17243E"/>
                    </a:solidFill>
                  </a:tcPr>
                </a:tc>
                <a:tc>
                  <a:txBody>
                    <a:bodyPr wrap="square"/>
                    <a:lstStyle/>
                    <a:p>
                      <a:pPr algn="r"/>
                      <a:r>
                        <a:rPr sz="1000" b="0">
                          <a:solidFill>
                            <a:srgbClr val="F2F6FF"/>
                          </a:solidFill>
                          <a:latin typeface="Calibri"/>
                        </a:rPr>
                        <a:t>730</a:t>
                      </a:r>
                    </a:p>
                  </a:txBody>
                  <a:tcPr marL="73152" marR="73152" marT="27432" marB="27432" anchor="ctr">
                    <a:solidFill>
                      <a:srgbClr val="243A62"/>
                    </a:solidFill>
                  </a:tcPr>
                </a:tc>
              </a:tr>
              <a:tr h="270510">
                <a:tc>
                  <a:txBody>
                    <a:bodyPr wrap="square"/>
                    <a:lstStyle/>
                    <a:p>
                      <a:pPr algn="l"/>
                      <a:r>
                        <a:rPr sz="1000" b="0">
                          <a:solidFill>
                            <a:srgbClr val="F2F6FF"/>
                          </a:solidFill>
                          <a:latin typeface="Calibri"/>
                        </a:rPr>
                        <a:t>TOTAL, one complete setup</a:t>
                      </a:r>
                    </a:p>
                  </a:txBody>
                  <a:tcPr marL="73152" marR="73152" marT="27432" marB="27432" anchor="ctr">
                    <a:solidFill>
                      <a:srgbClr val="243A62"/>
                    </a:solidFill>
                  </a:tcPr>
                </a:tc>
                <a:tc>
                  <a:txBody>
                    <a:bodyPr wrap="square"/>
                    <a:lstStyle/>
                    <a:p>
                      <a:pPr algn="l"/>
                    </a:p>
                  </a:txBody>
                  <a:tcPr marL="73152" marR="73152" marT="27432" marB="27432" anchor="ctr">
                    <a:solidFill>
                      <a:srgbClr val="1E2E4E"/>
                    </a:solidFill>
                  </a:tcPr>
                </a:tc>
                <a:tc>
                  <a:txBody>
                    <a:bodyPr wrap="square"/>
                    <a:lstStyle/>
                    <a:p>
                      <a:pPr algn="r"/>
                      <a:r>
                        <a:rPr sz="1000" b="0">
                          <a:solidFill>
                            <a:srgbClr val="F2F6FF"/>
                          </a:solidFill>
                          <a:latin typeface="Calibri"/>
                        </a:rPr>
                        <a:t>1,715</a:t>
                      </a:r>
                    </a:p>
                  </a:txBody>
                  <a:tcPr marL="73152" marR="73152" marT="27432" marB="27432" anchor="ctr">
                    <a:solidFill>
                      <a:srgbClr val="243A62"/>
                    </a:solidFill>
                  </a:tcPr>
                </a:tc>
              </a:tr>
              <a:tr h="270510">
                <a:tc>
                  <a:txBody>
                    <a:bodyPr wrap="square"/>
                    <a:lstStyle/>
                    <a:p>
                      <a:pPr algn="l"/>
                      <a:r>
                        <a:rPr sz="1000" b="0">
                          <a:solidFill>
                            <a:srgbClr val="F2F6FF"/>
                          </a:solidFill>
                          <a:latin typeface="Calibri"/>
                        </a:rPr>
                        <a:t>Recurring cost of a second board</a:t>
                      </a:r>
                    </a:p>
                  </a:txBody>
                  <a:tcPr marL="73152" marR="73152" marT="27432" marB="27432" anchor="ctr">
                    <a:solidFill>
                      <a:srgbClr val="17243E"/>
                    </a:solidFill>
                  </a:tcPr>
                </a:tc>
                <a:tc>
                  <a:txBody>
                    <a:bodyPr wrap="square"/>
                    <a:lstStyle/>
                    <a:p>
                      <a:pPr algn="l"/>
                      <a:r>
                        <a:rPr sz="1000" b="0">
                          <a:solidFill>
                            <a:srgbClr val="F2F6FF"/>
                          </a:solidFill>
                          <a:latin typeface="Calibri"/>
                        </a:rPr>
                        <a:t>the adapter and programmers are reused</a:t>
                      </a:r>
                    </a:p>
                  </a:txBody>
                  <a:tcPr marL="73152" marR="73152" marT="27432" marB="27432" anchor="ctr">
                    <a:solidFill>
                      <a:srgbClr val="17243E"/>
                    </a:solidFill>
                  </a:tcPr>
                </a:tc>
                <a:tc>
                  <a:txBody>
                    <a:bodyPr wrap="square"/>
                    <a:lstStyle/>
                    <a:p>
                      <a:pPr algn="r"/>
                      <a:r>
                        <a:rPr sz="1000" b="0">
                          <a:solidFill>
                            <a:srgbClr val="F2F6FF"/>
                          </a:solidFill>
                          <a:latin typeface="Calibri"/>
                        </a:rPr>
                        <a:t>985</a:t>
                      </a:r>
                    </a:p>
                  </a:txBody>
                  <a:tcPr marL="73152" marR="73152" marT="27432" marB="27432" anchor="ctr">
                    <a:solidFill>
                      <a:srgbClr val="17243E"/>
                    </a:solidFill>
                  </a:tcPr>
                </a:tc>
              </a:tr>
            </a:tbl>
          </a:graphicData>
        </a:graphic>
      </p:graphicFrame>
      <p:sp>
        <p:nvSpPr>
          <p:cNvPr id="12" name="Rounded Rectangle 11"/>
          <p:cNvSpPr/>
          <p:nvPr/>
        </p:nvSpPr>
        <p:spPr>
          <a:xfrm>
            <a:off x="8339327" y="1645920"/>
            <a:ext cx="3282696" cy="324612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39327" y="1645920"/>
            <a:ext cx="50292" cy="324612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77072" y="1810512"/>
            <a:ext cx="2871215"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Sourcing notes</a:t>
            </a:r>
          </a:p>
        </p:txBody>
      </p:sp>
      <p:sp>
        <p:nvSpPr>
          <p:cNvPr id="15" name="TextBox 14"/>
          <p:cNvSpPr txBox="1"/>
          <p:nvPr/>
        </p:nvSpPr>
        <p:spPr>
          <a:xfrm>
            <a:off x="8577072" y="2194560"/>
            <a:ext cx="2871215" cy="2560320"/>
          </a:xfrm>
          <a:prstGeom prst="rect">
            <a:avLst/>
          </a:prstGeom>
          <a:noFill/>
        </p:spPr>
        <p:txBody>
          <a:bodyPr wrap="square" lIns="0" rIns="0" tIns="0" bIns="0" anchor="t">
            <a:spAutoFit/>
          </a:bodyPr>
          <a:lstStyle/>
          <a:p>
            <a:pPr algn="l">
              <a:lnSpc>
                <a:spcPct val="118000"/>
              </a:lnSpc>
              <a:spcAft>
                <a:spcPts val="0"/>
              </a:spcAft>
            </a:pPr>
            <a:r>
              <a:rPr sz="1000" b="0" i="0">
                <a:solidFill>
                  <a:srgbClr val="A9B8D6"/>
                </a:solidFill>
                <a:latin typeface="Calibri"/>
              </a:rPr>
              <a:t>AT89S52 over AT89C51: SPI programming with a 250 rupee USBasp instead of a parallel programmer costing several thousand.</a:t>
            </a:r>
            <a:br/>
            <a:br/>
            <a:r>
              <a:rPr sz="1000" b="0" i="0">
                <a:solidFill>
                  <a:srgbClr val="A9B8D6"/>
                </a:solidFill>
                <a:latin typeface="Calibri"/>
              </a:rPr>
              <a:t>74HC573 over 74LS573: CMOS inputs suit port 0 pull-ups and load the bus less.</a:t>
            </a:r>
            <a:br/>
            <a:br/>
            <a:r>
              <a:rPr sz="1000" b="0" i="0">
                <a:solidFill>
                  <a:srgbClr val="A9B8D6"/>
                </a:solidFill>
                <a:latin typeface="Calibri"/>
              </a:rPr>
              <a:t>MAX232A or MAX3232 may be substituted with 0.1 uF pump capacitors.</a:t>
            </a:r>
            <a:br/>
            <a:br/>
            <a:r>
              <a:rPr sz="1000" b="0" i="0">
                <a:solidFill>
                  <a:srgbClr val="A9B8D6"/>
                </a:solidFill>
                <a:latin typeface="Calibri"/>
              </a:rPr>
              <a:t>The display must be common cathode; a common anode part inverts the whole design.</a:t>
            </a:r>
          </a:p>
        </p:txBody>
      </p:sp>
      <p:sp>
        <p:nvSpPr>
          <p:cNvPr id="16" name="Rounded Rectangle 15"/>
          <p:cNvSpPr/>
          <p:nvPr/>
        </p:nvSpPr>
        <p:spPr>
          <a:xfrm>
            <a:off x="566928" y="5074920"/>
            <a:ext cx="11058113" cy="116128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230368"/>
            <a:ext cx="10546049" cy="914400"/>
          </a:xfrm>
          <a:prstGeom prst="rect">
            <a:avLst/>
          </a:prstGeom>
          <a:noFill/>
        </p:spPr>
        <p:txBody>
          <a:bodyPr wrap="square" lIns="0" rIns="0" tIns="0" bIns="0" anchor="t">
            <a:spAutoFit/>
          </a:bodyPr>
          <a:lstStyle/>
          <a:p>
            <a:pPr algn="l">
              <a:lnSpc>
                <a:spcPct val="118000"/>
              </a:lnSpc>
              <a:spcAft>
                <a:spcPts val="300"/>
              </a:spcAft>
            </a:pPr>
            <a:r>
              <a:rPr sz="1300" b="1" i="0">
                <a:solidFill>
                  <a:srgbClr val="F2F6FF"/>
                </a:solidFill>
                <a:latin typeface="Calibri"/>
              </a:rPr>
              <a:t>What is not on the bill</a:t>
            </a:r>
          </a:p>
          <a:p>
            <a:pPr algn="l">
              <a:lnSpc>
                <a:spcPct val="118000"/>
              </a:lnSpc>
              <a:spcAft>
                <a:spcPts val="300"/>
              </a:spcAft>
            </a:pPr>
            <a:r>
              <a:rPr sz="1100" b="0" i="0">
                <a:solidFill>
                  <a:srgbClr val="A9B8D6"/>
                </a:solidFill>
                <a:latin typeface="Calibri"/>
              </a:rPr>
              <a:t>A digital multimeter and, ideally, a 20 MHz oscilloscope for the four tests that need one. Both are standard laboratory instruments and are shared across the batch.</a:t>
            </a:r>
          </a:p>
          <a:p>
            <a:pPr algn="l">
              <a:lnSpc>
                <a:spcPct val="118000"/>
              </a:lnSpc>
              <a:spcAft>
                <a:spcPts val="300"/>
              </a:spcAft>
            </a:pPr>
            <a:r>
              <a:rPr sz="1100" b="0" i="0">
                <a:solidFill>
                  <a:srgbClr val="A9B8D6"/>
                </a:solidFill>
                <a:latin typeface="Calibri"/>
              </a:rPr>
              <a:t>A reference thermometer for calibrating the LM35 against a known temperature.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FIRMWARE ARCHITECTURE</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One header, thirteen programs</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firmware/inc/board.h holds every pin definition and driver</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18</a:t>
            </a:r>
          </a:p>
        </p:txBody>
      </p:sp>
      <p:sp>
        <p:nvSpPr>
          <p:cNvPr id="11" name="Rounded Rectangle 10"/>
          <p:cNvSpPr/>
          <p:nvPr/>
        </p:nvSpPr>
        <p:spPr>
          <a:xfrm>
            <a:off x="4617720" y="1691640"/>
            <a:ext cx="2926080" cy="777240"/>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1833372"/>
            <a:ext cx="2779776"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2F6FF"/>
                </a:solidFill>
                <a:latin typeface="Calibri"/>
              </a:rPr>
              <a:t>src/01 .. src/13</a:t>
            </a:r>
          </a:p>
        </p:txBody>
      </p:sp>
      <p:sp>
        <p:nvSpPr>
          <p:cNvPr id="13" name="TextBox 12"/>
          <p:cNvSpPr txBox="1"/>
          <p:nvPr/>
        </p:nvSpPr>
        <p:spPr>
          <a:xfrm>
            <a:off x="4690872" y="2107691"/>
            <a:ext cx="277977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one file per program</a:t>
            </a:r>
          </a:p>
        </p:txBody>
      </p:sp>
      <p:cxnSp>
        <p:nvCxnSpPr>
          <p:cNvPr id="14" name="Connector 13"/>
          <p:cNvCxnSpPr/>
          <p:nvPr/>
        </p:nvCxnSpPr>
        <p:spPr>
          <a:xfrm>
            <a:off x="6080760" y="2468880"/>
            <a:ext cx="0" cy="457200"/>
          </a:xfrm>
          <a:prstGeom prst="line">
            <a:avLst/>
          </a:prstGeom>
          <a:ln w="19050">
            <a:solidFill>
              <a:srgbClr val="2FE0C0"/>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063240" y="2926080"/>
            <a:ext cx="6035040" cy="868680"/>
          </a:xfrm>
          <a:prstGeom prst="roundRect">
            <a:avLst>
              <a:gd name="adj" fmla="val 6000"/>
            </a:avLst>
          </a:prstGeom>
          <a:solidFill>
            <a:srgbClr val="243A62"/>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36392" y="3113532"/>
            <a:ext cx="5888736" cy="274320"/>
          </a:xfrm>
          <a:prstGeom prst="rect">
            <a:avLst/>
          </a:prstGeom>
          <a:noFill/>
        </p:spPr>
        <p:txBody>
          <a:bodyPr wrap="square" lIns="0" rIns="0" tIns="0" bIns="0" anchor="t">
            <a:spAutoFit/>
          </a:bodyPr>
          <a:lstStyle/>
          <a:p>
            <a:pPr algn="ctr">
              <a:lnSpc>
                <a:spcPct val="100000"/>
              </a:lnSpc>
              <a:spcAft>
                <a:spcPts val="0"/>
              </a:spcAft>
            </a:pPr>
            <a:r>
              <a:rPr sz="1300" b="1" i="0">
                <a:solidFill>
                  <a:srgbClr val="F2F6FF"/>
                </a:solidFill>
                <a:latin typeface="Calibri"/>
              </a:rPr>
              <a:t>inc/board.h</a:t>
            </a:r>
          </a:p>
        </p:txBody>
      </p:sp>
      <p:sp>
        <p:nvSpPr>
          <p:cNvPr id="17" name="TextBox 16"/>
          <p:cNvSpPr txBox="1"/>
          <p:nvPr/>
        </p:nvSpPr>
        <p:spPr>
          <a:xfrm>
            <a:off x="3136392" y="3387852"/>
            <a:ext cx="5888736" cy="237744"/>
          </a:xfrm>
          <a:prstGeom prst="rect">
            <a:avLst/>
          </a:prstGeom>
          <a:noFill/>
        </p:spPr>
        <p:txBody>
          <a:bodyPr wrap="square" lIns="0" rIns="0" tIns="0" bIns="0" anchor="t">
            <a:spAutoFit/>
          </a:bodyPr>
          <a:lstStyle/>
          <a:p>
            <a:pPr algn="ctr">
              <a:lnSpc>
                <a:spcPct val="100000"/>
              </a:lnSpc>
              <a:spcAft>
                <a:spcPts val="0"/>
              </a:spcAft>
            </a:pPr>
            <a:r>
              <a:rPr sz="850" b="0" i="0">
                <a:solidFill>
                  <a:srgbClr val="A9B8D6"/>
                </a:solidFill>
                <a:latin typeface="Calibri"/>
              </a:rPr>
              <a:t>pin definitions, bus and peripheral drivers</a:t>
            </a:r>
          </a:p>
        </p:txBody>
      </p:sp>
      <p:sp>
        <p:nvSpPr>
          <p:cNvPr id="18" name="Rounded Rectangle 17"/>
          <p:cNvSpPr/>
          <p:nvPr/>
        </p:nvSpPr>
        <p:spPr>
          <a:xfrm>
            <a:off x="566928" y="3913632"/>
            <a:ext cx="2788920" cy="53035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977640"/>
            <a:ext cx="25146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F2F6FF"/>
                </a:solidFill>
                <a:latin typeface="Calibri"/>
              </a:rPr>
              <a:t>Hardware layer</a:t>
            </a:r>
          </a:p>
        </p:txBody>
      </p:sp>
      <p:sp>
        <p:nvSpPr>
          <p:cNvPr id="20" name="TextBox 19"/>
          <p:cNvSpPr txBox="1"/>
          <p:nvPr/>
        </p:nvSpPr>
        <p:spPr>
          <a:xfrm>
            <a:off x="731520" y="4197096"/>
            <a:ext cx="2514600" cy="219456"/>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moves bytes and strobes the enables</a:t>
            </a:r>
          </a:p>
        </p:txBody>
      </p:sp>
      <p:sp>
        <p:nvSpPr>
          <p:cNvPr id="21" name="Rounded Rectangle 20"/>
          <p:cNvSpPr/>
          <p:nvPr/>
        </p:nvSpPr>
        <p:spPr>
          <a:xfrm>
            <a:off x="3538728" y="3913632"/>
            <a:ext cx="8083296" cy="530352"/>
          </a:xfrm>
          <a:prstGeom prst="roundRect">
            <a:avLst>
              <a:gd name="adj" fmla="val 6000"/>
            </a:avLst>
          </a:prstGeom>
          <a:solidFill>
            <a:srgbClr val="17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4078224"/>
            <a:ext cx="7717536" cy="274320"/>
          </a:xfrm>
          <a:prstGeom prst="rect">
            <a:avLst/>
          </a:prstGeom>
          <a:noFill/>
        </p:spPr>
        <p:txBody>
          <a:bodyPr wrap="square" lIns="0" rIns="0" tIns="0" bIns="0" anchor="t">
            <a:spAutoFit/>
          </a:bodyPr>
          <a:lstStyle/>
          <a:p>
            <a:pPr algn="l">
              <a:lnSpc>
                <a:spcPct val="100000"/>
              </a:lnSpc>
              <a:spcAft>
                <a:spcPts val="0"/>
              </a:spcAft>
            </a:pPr>
            <a:r>
              <a:rPr sz="1050" b="0" i="0">
                <a:solidFill>
                  <a:srgbClr val="CFE0FF"/>
                </a:solidFill>
                <a:latin typeface="Consolas"/>
              </a:rPr>
              <a:t>bus_put, led_write, seg_latch, seg_tick</a:t>
            </a:r>
          </a:p>
        </p:txBody>
      </p:sp>
      <p:sp>
        <p:nvSpPr>
          <p:cNvPr id="23" name="Rounded Rectangle 22"/>
          <p:cNvSpPr/>
          <p:nvPr/>
        </p:nvSpPr>
        <p:spPr>
          <a:xfrm>
            <a:off x="566928" y="4507992"/>
            <a:ext cx="2788920" cy="53035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572000"/>
            <a:ext cx="25146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F2F6FF"/>
                </a:solidFill>
                <a:latin typeface="Calibri"/>
              </a:rPr>
              <a:t>Peripheral layer</a:t>
            </a:r>
          </a:p>
        </p:txBody>
      </p:sp>
      <p:sp>
        <p:nvSpPr>
          <p:cNvPr id="25" name="TextBox 24"/>
          <p:cNvSpPr txBox="1"/>
          <p:nvPr/>
        </p:nvSpPr>
        <p:spPr>
          <a:xfrm>
            <a:off x="731520" y="4791456"/>
            <a:ext cx="2514600" cy="219456"/>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device protocols and timing</a:t>
            </a:r>
          </a:p>
        </p:txBody>
      </p:sp>
      <p:sp>
        <p:nvSpPr>
          <p:cNvPr id="26" name="Rounded Rectangle 25"/>
          <p:cNvSpPr/>
          <p:nvPr/>
        </p:nvSpPr>
        <p:spPr>
          <a:xfrm>
            <a:off x="3538728" y="4507992"/>
            <a:ext cx="8083296" cy="530352"/>
          </a:xfrm>
          <a:prstGeom prst="roundRect">
            <a:avLst>
              <a:gd name="adj" fmla="val 6000"/>
            </a:avLst>
          </a:prstGeom>
          <a:solidFill>
            <a:srgbClr val="17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21608" y="4672584"/>
            <a:ext cx="7717536" cy="274320"/>
          </a:xfrm>
          <a:prstGeom prst="rect">
            <a:avLst/>
          </a:prstGeom>
          <a:noFill/>
        </p:spPr>
        <p:txBody>
          <a:bodyPr wrap="square" lIns="0" rIns="0" tIns="0" bIns="0" anchor="t">
            <a:spAutoFit/>
          </a:bodyPr>
          <a:lstStyle/>
          <a:p>
            <a:pPr algn="l">
              <a:lnSpc>
                <a:spcPct val="100000"/>
              </a:lnSpc>
              <a:spcAft>
                <a:spcPts val="0"/>
              </a:spcAft>
            </a:pPr>
            <a:r>
              <a:rPr sz="1050" b="0" i="0">
                <a:solidFill>
                  <a:srgbClr val="CFE0FF"/>
                </a:solidFill>
                <a:latin typeface="Consolas"/>
              </a:rPr>
              <a:t>lcd_init, lcd_string, adc_read, uart_string</a:t>
            </a:r>
          </a:p>
        </p:txBody>
      </p:sp>
      <p:sp>
        <p:nvSpPr>
          <p:cNvPr id="28" name="Rounded Rectangle 27"/>
          <p:cNvSpPr/>
          <p:nvPr/>
        </p:nvSpPr>
        <p:spPr>
          <a:xfrm>
            <a:off x="566928" y="5102352"/>
            <a:ext cx="2788920" cy="53035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166360"/>
            <a:ext cx="25146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F2F6FF"/>
                </a:solidFill>
                <a:latin typeface="Calibri"/>
              </a:rPr>
              <a:t>Conversion layer</a:t>
            </a:r>
          </a:p>
        </p:txBody>
      </p:sp>
      <p:sp>
        <p:nvSpPr>
          <p:cNvPr id="30" name="TextBox 29"/>
          <p:cNvSpPr txBox="1"/>
          <p:nvPr/>
        </p:nvSpPr>
        <p:spPr>
          <a:xfrm>
            <a:off x="731520" y="5385816"/>
            <a:ext cx="2514600" cy="219456"/>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raw values to human units</a:t>
            </a:r>
          </a:p>
        </p:txBody>
      </p:sp>
      <p:sp>
        <p:nvSpPr>
          <p:cNvPr id="31" name="Rounded Rectangle 30"/>
          <p:cNvSpPr/>
          <p:nvPr/>
        </p:nvSpPr>
        <p:spPr>
          <a:xfrm>
            <a:off x="3538728" y="5102352"/>
            <a:ext cx="8083296" cy="530352"/>
          </a:xfrm>
          <a:prstGeom prst="roundRect">
            <a:avLst>
              <a:gd name="adj" fmla="val 6000"/>
            </a:avLst>
          </a:prstGeom>
          <a:solidFill>
            <a:srgbClr val="17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21608" y="5266944"/>
            <a:ext cx="7717536" cy="274320"/>
          </a:xfrm>
          <a:prstGeom prst="rect">
            <a:avLst/>
          </a:prstGeom>
          <a:noFill/>
        </p:spPr>
        <p:txBody>
          <a:bodyPr wrap="square" lIns="0" rIns="0" tIns="0" bIns="0" anchor="t">
            <a:spAutoFit/>
          </a:bodyPr>
          <a:lstStyle/>
          <a:p>
            <a:pPr algn="l">
              <a:lnSpc>
                <a:spcPct val="100000"/>
              </a:lnSpc>
              <a:spcAft>
                <a:spcPts val="0"/>
              </a:spcAft>
            </a:pPr>
            <a:r>
              <a:rPr sz="1050" b="0" i="0">
                <a:solidFill>
                  <a:srgbClr val="CFE0FF"/>
                </a:solidFill>
                <a:latin typeface="Consolas"/>
              </a:rPr>
              <a:t>adc_to_celsius, seg_number, uart_number, lcd_number</a:t>
            </a:r>
          </a:p>
        </p:txBody>
      </p:sp>
      <p:sp>
        <p:nvSpPr>
          <p:cNvPr id="33" name="Rounded Rectangle 32"/>
          <p:cNvSpPr/>
          <p:nvPr/>
        </p:nvSpPr>
        <p:spPr>
          <a:xfrm>
            <a:off x="566928" y="5696712"/>
            <a:ext cx="2788920" cy="53035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760720"/>
            <a:ext cx="25146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F2F6FF"/>
                </a:solidFill>
                <a:latin typeface="Calibri"/>
              </a:rPr>
              <a:t>Application layer</a:t>
            </a:r>
          </a:p>
        </p:txBody>
      </p:sp>
      <p:sp>
        <p:nvSpPr>
          <p:cNvPr id="35" name="TextBox 34"/>
          <p:cNvSpPr txBox="1"/>
          <p:nvPr/>
        </p:nvSpPr>
        <p:spPr>
          <a:xfrm>
            <a:off x="731520" y="5980176"/>
            <a:ext cx="2514600" cy="219456"/>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what each program actually does</a:t>
            </a:r>
          </a:p>
        </p:txBody>
      </p:sp>
      <p:sp>
        <p:nvSpPr>
          <p:cNvPr id="36" name="Rounded Rectangle 35"/>
          <p:cNvSpPr/>
          <p:nvPr/>
        </p:nvSpPr>
        <p:spPr>
          <a:xfrm>
            <a:off x="3538728" y="5696712"/>
            <a:ext cx="8083296" cy="530352"/>
          </a:xfrm>
          <a:prstGeom prst="roundRect">
            <a:avLst>
              <a:gd name="adj" fmla="val 6000"/>
            </a:avLst>
          </a:prstGeom>
          <a:solidFill>
            <a:srgbClr val="17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21608" y="5861304"/>
            <a:ext cx="7717536" cy="274320"/>
          </a:xfrm>
          <a:prstGeom prst="rect">
            <a:avLst/>
          </a:prstGeom>
          <a:noFill/>
        </p:spPr>
        <p:txBody>
          <a:bodyPr wrap="square" lIns="0" rIns="0" tIns="0" bIns="0" anchor="t">
            <a:spAutoFit/>
          </a:bodyPr>
          <a:lstStyle/>
          <a:p>
            <a:pPr algn="l">
              <a:lnSpc>
                <a:spcPct val="100000"/>
              </a:lnSpc>
              <a:spcAft>
                <a:spcPts val="0"/>
              </a:spcAft>
            </a:pPr>
            <a:r>
              <a:rPr sz="1050" b="0" i="0">
                <a:solidFill>
                  <a:srgbClr val="CFE0FF"/>
                </a:solidFill>
                <a:latin typeface="Consolas"/>
              </a:rPr>
              <a:t>main and the interrupt service routines</a:t>
            </a:r>
          </a:p>
        </p:txBody>
      </p:sp>
      <p:sp>
        <p:nvSpPr>
          <p:cNvPr id="38" name="TextBox 37"/>
          <p:cNvSpPr txBox="1"/>
          <p:nvPr/>
        </p:nvSpPr>
        <p:spPr>
          <a:xfrm>
            <a:off x="566928" y="1783080"/>
            <a:ext cx="2743200"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Design rules</a:t>
            </a:r>
          </a:p>
        </p:txBody>
      </p:sp>
      <p:sp>
        <p:nvSpPr>
          <p:cNvPr id="39" name="Rounded Rectangle 38"/>
          <p:cNvSpPr/>
          <p:nvPr/>
        </p:nvSpPr>
        <p:spPr>
          <a:xfrm>
            <a:off x="566928" y="2103120"/>
            <a:ext cx="2606040" cy="2103120"/>
          </a:xfrm>
          <a:prstGeom prst="roundRect">
            <a:avLst>
              <a:gd name="adj" fmla="val 6000"/>
            </a:avLst>
          </a:prstGeom>
          <a:solidFill>
            <a:srgbClr val="1E2E4E"/>
          </a:solidFill>
          <a:ln w="12700">
            <a:solidFill>
              <a:srgbClr val="6F81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 y="2249424"/>
            <a:ext cx="2240280" cy="1828800"/>
          </a:xfrm>
          <a:prstGeom prst="rect">
            <a:avLst/>
          </a:prstGeom>
          <a:noFill/>
        </p:spPr>
        <p:txBody>
          <a:bodyPr wrap="square" lIns="0" rIns="0" tIns="0" bIns="0" anchor="t">
            <a:spAutoFit/>
          </a:bodyPr>
          <a:lstStyle/>
          <a:p>
            <a:pPr algn="l">
              <a:lnSpc>
                <a:spcPct val="124000"/>
              </a:lnSpc>
              <a:spcAft>
                <a:spcPts val="300"/>
              </a:spcAft>
            </a:pPr>
            <a:r>
              <a:rPr sz="1050" b="0" i="0">
                <a:solidFill>
                  <a:srgbClr val="F2F6FF"/>
                </a:solidFill>
                <a:latin typeface="Calibri"/>
              </a:rPr>
              <a:t>No comments in the sources</a:t>
            </a:r>
          </a:p>
          <a:p>
            <a:pPr algn="l">
              <a:lnSpc>
                <a:spcPct val="124000"/>
              </a:lnSpc>
              <a:spcAft>
                <a:spcPts val="300"/>
              </a:spcAft>
            </a:pPr>
            <a:r>
              <a:rPr sz="1050" b="0" i="0">
                <a:solidFill>
                  <a:srgbClr val="F2F6FF"/>
                </a:solidFill>
                <a:latin typeface="Calibri"/>
              </a:rPr>
              <a:t>No emojis anywhere</a:t>
            </a:r>
          </a:p>
          <a:p>
            <a:pPr algn="l">
              <a:lnSpc>
                <a:spcPct val="124000"/>
              </a:lnSpc>
              <a:spcAft>
                <a:spcPts val="300"/>
              </a:spcAft>
            </a:pPr>
            <a:r>
              <a:rPr sz="1050" b="0" i="0">
                <a:solidFill>
                  <a:srgbClr val="F2F6FF"/>
                </a:solidFill>
                <a:latin typeface="Calibri"/>
              </a:rPr>
              <a:t>C89 declarations only</a:t>
            </a:r>
          </a:p>
          <a:p>
            <a:pPr algn="l">
              <a:lnSpc>
                <a:spcPct val="124000"/>
              </a:lnSpc>
              <a:spcAft>
                <a:spcPts val="300"/>
              </a:spcAft>
            </a:pPr>
            <a:r>
              <a:rPr sz="1050" b="0" i="0">
                <a:solidFill>
                  <a:srgbClr val="F2F6FF"/>
                </a:solidFill>
                <a:latin typeface="Calibri"/>
              </a:rPr>
              <a:t>Keil keywords: sbit, code, interrupt N</a:t>
            </a:r>
          </a:p>
          <a:p>
            <a:pPr algn="l">
              <a:lnSpc>
                <a:spcPct val="124000"/>
              </a:lnSpc>
              <a:spcAft>
                <a:spcPts val="300"/>
              </a:spcAft>
            </a:pPr>
            <a:r>
              <a:rPr sz="1050" b="0" i="0">
                <a:solidFill>
                  <a:srgbClr val="F2F6FF"/>
                </a:solidFill>
                <a:latin typeface="Calibri"/>
              </a:rPr>
              <a:t>No printf, no floating point</a:t>
            </a:r>
          </a:p>
          <a:p>
            <a:pPr algn="l">
              <a:lnSpc>
                <a:spcPct val="124000"/>
              </a:lnSpc>
              <a:spcAft>
                <a:spcPts val="300"/>
              </a:spcAft>
            </a:pPr>
            <a:r>
              <a:rPr sz="1050" b="0" i="0">
                <a:solidFill>
                  <a:srgbClr val="F2F6FF"/>
                </a:solidFill>
                <a:latin typeface="Calibri"/>
              </a:rPr>
              <a:t>Each program is one translation unit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PROGRAM LIBRARY</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Thirteen Keil C51 programs</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Each builds as its own target and fits inside the 8 KB flash of the AT89S52</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19</a:t>
            </a:r>
          </a:p>
        </p:txBody>
      </p:sp>
      <p:graphicFrame>
        <p:nvGraphicFramePr>
          <p:cNvPr id="11" name="Table 10"/>
          <p:cNvGraphicFramePr>
            <a:graphicFrameLocks noGrp="1"/>
          </p:cNvGraphicFramePr>
          <p:nvPr/>
        </p:nvGraphicFramePr>
        <p:xfrm>
          <a:off x="566928" y="1645920"/>
          <a:ext cx="11058110" cy="3703320"/>
        </p:xfrm>
        <a:graphic>
          <a:graphicData uri="http://schemas.openxmlformats.org/drawingml/2006/table">
            <a:tbl>
              <a:tblPr firstRow="1">
                <a:tableStyleId>{5C22544A-7EE6-4342-B048-85BDC9FD1C3A}</a:tableStyleId>
              </a:tblPr>
              <a:tblGrid>
                <a:gridCol w="502641"/>
                <a:gridCol w="1910037"/>
                <a:gridCol w="2412679"/>
                <a:gridCol w="5327999"/>
                <a:gridCol w="904754"/>
              </a:tblGrid>
              <a:tr h="264522">
                <a:tc>
                  <a:txBody>
                    <a:bodyPr wrap="square"/>
                    <a:lstStyle/>
                    <a:p>
                      <a:pPr algn="ctr"/>
                      <a:r>
                        <a:rPr sz="950" b="1">
                          <a:solidFill>
                            <a:srgbClr val="CFE0FF"/>
                          </a:solidFill>
                          <a:latin typeface="Calibri"/>
                        </a:rPr>
                        <a:t>#</a:t>
                      </a:r>
                    </a:p>
                  </a:txBody>
                  <a:tcPr marL="73152" marR="73152" marT="27432" marB="27432" anchor="ctr">
                    <a:solidFill>
                      <a:srgbClr val="2A3C63"/>
                    </a:solidFill>
                  </a:tcPr>
                </a:tc>
                <a:tc>
                  <a:txBody>
                    <a:bodyPr wrap="square"/>
                    <a:lstStyle/>
                    <a:p>
                      <a:pPr algn="l"/>
                      <a:r>
                        <a:rPr sz="950" b="1">
                          <a:solidFill>
                            <a:srgbClr val="CFE0FF"/>
                          </a:solidFill>
                          <a:latin typeface="Calibri"/>
                        </a:rPr>
                        <a:t>Program</a:t>
                      </a:r>
                    </a:p>
                  </a:txBody>
                  <a:tcPr marL="73152" marR="73152" marT="27432" marB="27432" anchor="ctr">
                    <a:solidFill>
                      <a:srgbClr val="2A3C63"/>
                    </a:solidFill>
                  </a:tcPr>
                </a:tc>
                <a:tc>
                  <a:txBody>
                    <a:bodyPr wrap="square"/>
                    <a:lstStyle/>
                    <a:p>
                      <a:pPr algn="l"/>
                      <a:r>
                        <a:rPr sz="950" b="1">
                          <a:solidFill>
                            <a:srgbClr val="CFE0FF"/>
                          </a:solidFill>
                          <a:latin typeface="Calibri"/>
                        </a:rPr>
                        <a:t>Peripherals exercised</a:t>
                      </a:r>
                    </a:p>
                  </a:txBody>
                  <a:tcPr marL="73152" marR="73152" marT="27432" marB="27432" anchor="ctr">
                    <a:solidFill>
                      <a:srgbClr val="2A3C63"/>
                    </a:solidFill>
                  </a:tcPr>
                </a:tc>
                <a:tc>
                  <a:txBody>
                    <a:bodyPr wrap="square"/>
                    <a:lstStyle/>
                    <a:p>
                      <a:pPr algn="l"/>
                      <a:r>
                        <a:rPr sz="950" b="1">
                          <a:solidFill>
                            <a:srgbClr val="CFE0FF"/>
                          </a:solidFill>
                          <a:latin typeface="Calibri"/>
                        </a:rPr>
                        <a:t>What to observe</a:t>
                      </a:r>
                    </a:p>
                  </a:txBody>
                  <a:tcPr marL="73152" marR="73152" marT="27432" marB="27432" anchor="ctr">
                    <a:solidFill>
                      <a:srgbClr val="2A3C63"/>
                    </a:solidFill>
                  </a:tcPr>
                </a:tc>
                <a:tc>
                  <a:txBody>
                    <a:bodyPr wrap="square"/>
                    <a:lstStyle/>
                    <a:p>
                      <a:pPr algn="r"/>
                      <a:r>
                        <a:rPr sz="950" b="1">
                          <a:solidFill>
                            <a:srgbClr val="CFE0FF"/>
                          </a:solidFill>
                          <a:latin typeface="Calibri"/>
                        </a:rPr>
                        <a:t>Size</a:t>
                      </a:r>
                    </a:p>
                  </a:txBody>
                  <a:tcPr marL="73152" marR="73152" marT="27432" marB="27432" anchor="ctr">
                    <a:solidFill>
                      <a:srgbClr val="2A3C63"/>
                    </a:solidFill>
                  </a:tcPr>
                </a:tc>
              </a:tr>
              <a:tr h="264522">
                <a:tc>
                  <a:txBody>
                    <a:bodyPr wrap="square"/>
                    <a:lstStyle/>
                    <a:p>
                      <a:pPr algn="ctr"/>
                      <a:r>
                        <a:rPr sz="950" b="0">
                          <a:solidFill>
                            <a:srgbClr val="F2F6FF"/>
                          </a:solidFill>
                          <a:latin typeface="Calibri"/>
                        </a:rPr>
                        <a:t>01</a:t>
                      </a:r>
                    </a:p>
                  </a:txBody>
                  <a:tcPr marL="73152" marR="73152" marT="27432" marB="27432" anchor="ctr">
                    <a:solidFill>
                      <a:srgbClr val="17243E"/>
                    </a:solidFill>
                  </a:tcPr>
                </a:tc>
                <a:tc>
                  <a:txBody>
                    <a:bodyPr wrap="square"/>
                    <a:lstStyle/>
                    <a:p>
                      <a:pPr algn="l"/>
                      <a:r>
                        <a:rPr sz="950" b="0">
                          <a:solidFill>
                            <a:srgbClr val="F2F6FF"/>
                          </a:solidFill>
                          <a:latin typeface="Calibri"/>
                        </a:rPr>
                        <a:t>led_blink</a:t>
                      </a:r>
                    </a:p>
                  </a:txBody>
                  <a:tcPr marL="73152" marR="73152" marT="27432" marB="27432" anchor="ctr">
                    <a:solidFill>
                      <a:srgbClr val="17243E"/>
                    </a:solidFill>
                  </a:tcPr>
                </a:tc>
                <a:tc>
                  <a:txBody>
                    <a:bodyPr wrap="square"/>
                    <a:lstStyle/>
                    <a:p>
                      <a:pPr algn="l"/>
                      <a:r>
                        <a:rPr sz="950" b="0">
                          <a:solidFill>
                            <a:srgbClr val="F2F6FF"/>
                          </a:solidFill>
                          <a:latin typeface="Calibri"/>
                        </a:rPr>
                        <a:t>LED latch</a:t>
                      </a:r>
                    </a:p>
                  </a:txBody>
                  <a:tcPr marL="73152" marR="73152" marT="27432" marB="27432" anchor="ctr">
                    <a:solidFill>
                      <a:srgbClr val="17243E"/>
                    </a:solidFill>
                  </a:tcPr>
                </a:tc>
                <a:tc>
                  <a:txBody>
                    <a:bodyPr wrap="square"/>
                    <a:lstStyle/>
                    <a:p>
                      <a:pPr algn="l"/>
                      <a:r>
                        <a:rPr sz="950" b="0">
                          <a:solidFill>
                            <a:srgbClr val="F2F6FF"/>
                          </a:solidFill>
                          <a:latin typeface="Calibri"/>
                        </a:rPr>
                        <a:t>eight LEDs toggle every 500 ms</a:t>
                      </a:r>
                    </a:p>
                  </a:txBody>
                  <a:tcPr marL="73152" marR="73152" marT="27432" marB="27432" anchor="ctr">
                    <a:solidFill>
                      <a:srgbClr val="17243E"/>
                    </a:solidFill>
                  </a:tcPr>
                </a:tc>
                <a:tc>
                  <a:txBody>
                    <a:bodyPr wrap="square"/>
                    <a:lstStyle/>
                    <a:p>
                      <a:pPr algn="r"/>
                      <a:r>
                        <a:rPr sz="950" b="0">
                          <a:solidFill>
                            <a:srgbClr val="F2F6FF"/>
                          </a:solidFill>
                          <a:latin typeface="Calibri"/>
                        </a:rPr>
                        <a:t>1.1 KB</a:t>
                      </a:r>
                    </a:p>
                  </a:txBody>
                  <a:tcPr marL="73152" marR="73152" marT="27432" marB="27432" anchor="ctr">
                    <a:solidFill>
                      <a:srgbClr val="17243E"/>
                    </a:solidFill>
                  </a:tcPr>
                </a:tc>
              </a:tr>
              <a:tr h="264522">
                <a:tc>
                  <a:txBody>
                    <a:bodyPr wrap="square"/>
                    <a:lstStyle/>
                    <a:p>
                      <a:pPr algn="ctr"/>
                      <a:r>
                        <a:rPr sz="950" b="0">
                          <a:solidFill>
                            <a:srgbClr val="F2F6FF"/>
                          </a:solidFill>
                          <a:latin typeface="Calibri"/>
                        </a:rPr>
                        <a:t>02</a:t>
                      </a:r>
                    </a:p>
                  </a:txBody>
                  <a:tcPr marL="73152" marR="73152" marT="27432" marB="27432" anchor="ctr">
                    <a:solidFill>
                      <a:srgbClr val="1E2E4E"/>
                    </a:solidFill>
                  </a:tcPr>
                </a:tc>
                <a:tc>
                  <a:txBody>
                    <a:bodyPr wrap="square"/>
                    <a:lstStyle/>
                    <a:p>
                      <a:pPr algn="l"/>
                      <a:r>
                        <a:rPr sz="950" b="0">
                          <a:solidFill>
                            <a:srgbClr val="F2F6FF"/>
                          </a:solidFill>
                          <a:latin typeface="Calibri"/>
                        </a:rPr>
                        <a:t>led_patterns</a:t>
                      </a:r>
                    </a:p>
                  </a:txBody>
                  <a:tcPr marL="73152" marR="73152" marT="27432" marB="27432" anchor="ctr">
                    <a:solidFill>
                      <a:srgbClr val="1E2E4E"/>
                    </a:solidFill>
                  </a:tcPr>
                </a:tc>
                <a:tc>
                  <a:txBody>
                    <a:bodyPr wrap="square"/>
                    <a:lstStyle/>
                    <a:p>
                      <a:pPr algn="l"/>
                      <a:r>
                        <a:rPr sz="950" b="0">
                          <a:solidFill>
                            <a:srgbClr val="F2F6FF"/>
                          </a:solidFill>
                          <a:latin typeface="Calibri"/>
                        </a:rPr>
                        <a:t>LED latch</a:t>
                      </a:r>
                    </a:p>
                  </a:txBody>
                  <a:tcPr marL="73152" marR="73152" marT="27432" marB="27432" anchor="ctr">
                    <a:solidFill>
                      <a:srgbClr val="1E2E4E"/>
                    </a:solidFill>
                  </a:tcPr>
                </a:tc>
                <a:tc>
                  <a:txBody>
                    <a:bodyPr wrap="square"/>
                    <a:lstStyle/>
                    <a:p>
                      <a:pPr algn="l"/>
                      <a:r>
                        <a:rPr sz="950" b="0">
                          <a:solidFill>
                            <a:srgbClr val="F2F6FF"/>
                          </a:solidFill>
                          <a:latin typeface="Calibri"/>
                        </a:rPr>
                        <a:t>running light, AAH, 55H, blink</a:t>
                      </a:r>
                    </a:p>
                  </a:txBody>
                  <a:tcPr marL="73152" marR="73152" marT="27432" marB="27432" anchor="ctr">
                    <a:solidFill>
                      <a:srgbClr val="1E2E4E"/>
                    </a:solidFill>
                  </a:tcPr>
                </a:tc>
                <a:tc>
                  <a:txBody>
                    <a:bodyPr wrap="square"/>
                    <a:lstStyle/>
                    <a:p>
                      <a:pPr algn="r"/>
                      <a:r>
                        <a:rPr sz="950" b="0">
                          <a:solidFill>
                            <a:srgbClr val="F2F6FF"/>
                          </a:solidFill>
                          <a:latin typeface="Calibri"/>
                        </a:rPr>
                        <a:t>1.2 KB</a:t>
                      </a:r>
                    </a:p>
                  </a:txBody>
                  <a:tcPr marL="73152" marR="73152" marT="27432" marB="27432" anchor="ctr">
                    <a:solidFill>
                      <a:srgbClr val="1E2E4E"/>
                    </a:solidFill>
                  </a:tcPr>
                </a:tc>
              </a:tr>
              <a:tr h="264522">
                <a:tc>
                  <a:txBody>
                    <a:bodyPr wrap="square"/>
                    <a:lstStyle/>
                    <a:p>
                      <a:pPr algn="ctr"/>
                      <a:r>
                        <a:rPr sz="950" b="0">
                          <a:solidFill>
                            <a:srgbClr val="F2F6FF"/>
                          </a:solidFill>
                          <a:latin typeface="Calibri"/>
                        </a:rPr>
                        <a:t>03</a:t>
                      </a:r>
                    </a:p>
                  </a:txBody>
                  <a:tcPr marL="73152" marR="73152" marT="27432" marB="27432" anchor="ctr">
                    <a:solidFill>
                      <a:srgbClr val="17243E"/>
                    </a:solidFill>
                  </a:tcPr>
                </a:tc>
                <a:tc>
                  <a:txBody>
                    <a:bodyPr wrap="square"/>
                    <a:lstStyle/>
                    <a:p>
                      <a:pPr algn="l"/>
                      <a:r>
                        <a:rPr sz="950" b="0">
                          <a:solidFill>
                            <a:srgbClr val="F2F6FF"/>
                          </a:solidFill>
                          <a:latin typeface="Calibri"/>
                        </a:rPr>
                        <a:t>switch_led</a:t>
                      </a:r>
                    </a:p>
                  </a:txBody>
                  <a:tcPr marL="73152" marR="73152" marT="27432" marB="27432" anchor="ctr">
                    <a:solidFill>
                      <a:srgbClr val="17243E"/>
                    </a:solidFill>
                  </a:tcPr>
                </a:tc>
                <a:tc>
                  <a:txBody>
                    <a:bodyPr wrap="square"/>
                    <a:lstStyle/>
                    <a:p>
                      <a:pPr algn="l"/>
                      <a:r>
                        <a:rPr sz="950" b="0">
                          <a:solidFill>
                            <a:srgbClr val="F2F6FF"/>
                          </a:solidFill>
                          <a:latin typeface="Calibri"/>
                        </a:rPr>
                        <a:t>DIP switches, LEDs</a:t>
                      </a:r>
                    </a:p>
                  </a:txBody>
                  <a:tcPr marL="73152" marR="73152" marT="27432" marB="27432" anchor="ctr">
                    <a:solidFill>
                      <a:srgbClr val="17243E"/>
                    </a:solidFill>
                  </a:tcPr>
                </a:tc>
                <a:tc>
                  <a:txBody>
                    <a:bodyPr wrap="square"/>
                    <a:lstStyle/>
                    <a:p>
                      <a:pPr algn="l"/>
                      <a:r>
                        <a:rPr sz="950" b="0">
                          <a:solidFill>
                            <a:srgbClr val="F2F6FF"/>
                          </a:solidFill>
                          <a:latin typeface="Calibri"/>
                        </a:rPr>
                        <a:t>LEDs follow switches, flash above 80H</a:t>
                      </a:r>
                    </a:p>
                  </a:txBody>
                  <a:tcPr marL="73152" marR="73152" marT="27432" marB="27432" anchor="ctr">
                    <a:solidFill>
                      <a:srgbClr val="17243E"/>
                    </a:solidFill>
                  </a:tcPr>
                </a:tc>
                <a:tc>
                  <a:txBody>
                    <a:bodyPr wrap="square"/>
                    <a:lstStyle/>
                    <a:p>
                      <a:pPr algn="r"/>
                      <a:r>
                        <a:rPr sz="950" b="0">
                          <a:solidFill>
                            <a:srgbClr val="F2F6FF"/>
                          </a:solidFill>
                          <a:latin typeface="Calibri"/>
                        </a:rPr>
                        <a:t>1.2 KB</a:t>
                      </a:r>
                    </a:p>
                  </a:txBody>
                  <a:tcPr marL="73152" marR="73152" marT="27432" marB="27432" anchor="ctr">
                    <a:solidFill>
                      <a:srgbClr val="17243E"/>
                    </a:solidFill>
                  </a:tcPr>
                </a:tc>
              </a:tr>
              <a:tr h="264522">
                <a:tc>
                  <a:txBody>
                    <a:bodyPr wrap="square"/>
                    <a:lstStyle/>
                    <a:p>
                      <a:pPr algn="ctr"/>
                      <a:r>
                        <a:rPr sz="950" b="0">
                          <a:solidFill>
                            <a:srgbClr val="F2F6FF"/>
                          </a:solidFill>
                          <a:latin typeface="Calibri"/>
                        </a:rPr>
                        <a:t>04</a:t>
                      </a:r>
                    </a:p>
                  </a:txBody>
                  <a:tcPr marL="73152" marR="73152" marT="27432" marB="27432" anchor="ctr">
                    <a:solidFill>
                      <a:srgbClr val="1E2E4E"/>
                    </a:solidFill>
                  </a:tcPr>
                </a:tc>
                <a:tc>
                  <a:txBody>
                    <a:bodyPr wrap="square"/>
                    <a:lstStyle/>
                    <a:p>
                      <a:pPr algn="l"/>
                      <a:r>
                        <a:rPr sz="950" b="0">
                          <a:solidFill>
                            <a:srgbClr val="F2F6FF"/>
                          </a:solidFill>
                          <a:latin typeface="Calibri"/>
                        </a:rPr>
                        <a:t>seg7_counter</a:t>
                      </a:r>
                    </a:p>
                  </a:txBody>
                  <a:tcPr marL="73152" marR="73152" marT="27432" marB="27432" anchor="ctr">
                    <a:solidFill>
                      <a:srgbClr val="1E2E4E"/>
                    </a:solidFill>
                  </a:tcPr>
                </a:tc>
                <a:tc>
                  <a:txBody>
                    <a:bodyPr wrap="square"/>
                    <a:lstStyle/>
                    <a:p>
                      <a:pPr algn="l"/>
                      <a:r>
                        <a:rPr sz="950" b="0">
                          <a:solidFill>
                            <a:srgbClr val="F2F6FF"/>
                          </a:solidFill>
                          <a:latin typeface="Calibri"/>
                        </a:rPr>
                        <a:t>7-segment, digits</a:t>
                      </a:r>
                    </a:p>
                  </a:txBody>
                  <a:tcPr marL="73152" marR="73152" marT="27432" marB="27432" anchor="ctr">
                    <a:solidFill>
                      <a:srgbClr val="1E2E4E"/>
                    </a:solidFill>
                  </a:tcPr>
                </a:tc>
                <a:tc>
                  <a:txBody>
                    <a:bodyPr wrap="square"/>
                    <a:lstStyle/>
                    <a:p>
                      <a:pPr algn="l"/>
                      <a:r>
                        <a:rPr sz="950" b="0">
                          <a:solidFill>
                            <a:srgbClr val="F2F6FF"/>
                          </a:solidFill>
                          <a:latin typeface="Calibri"/>
                        </a:rPr>
                        <a:t>00 to 99 at two counts per second</a:t>
                      </a:r>
                    </a:p>
                  </a:txBody>
                  <a:tcPr marL="73152" marR="73152" marT="27432" marB="27432" anchor="ctr">
                    <a:solidFill>
                      <a:srgbClr val="1E2E4E"/>
                    </a:solidFill>
                  </a:tcPr>
                </a:tc>
                <a:tc>
                  <a:txBody>
                    <a:bodyPr wrap="square"/>
                    <a:lstStyle/>
                    <a:p>
                      <a:pPr algn="r"/>
                      <a:r>
                        <a:rPr sz="950" b="0">
                          <a:solidFill>
                            <a:srgbClr val="F2F6FF"/>
                          </a:solidFill>
                          <a:latin typeface="Calibri"/>
                        </a:rPr>
                        <a:t>1.3 KB</a:t>
                      </a:r>
                    </a:p>
                  </a:txBody>
                  <a:tcPr marL="73152" marR="73152" marT="27432" marB="27432" anchor="ctr">
                    <a:solidFill>
                      <a:srgbClr val="1E2E4E"/>
                    </a:solidFill>
                  </a:tcPr>
                </a:tc>
              </a:tr>
              <a:tr h="264522">
                <a:tc>
                  <a:txBody>
                    <a:bodyPr wrap="square"/>
                    <a:lstStyle/>
                    <a:p>
                      <a:pPr algn="ctr"/>
                      <a:r>
                        <a:rPr sz="950" b="0">
                          <a:solidFill>
                            <a:srgbClr val="F2F6FF"/>
                          </a:solidFill>
                          <a:latin typeface="Calibri"/>
                        </a:rPr>
                        <a:t>05</a:t>
                      </a:r>
                    </a:p>
                  </a:txBody>
                  <a:tcPr marL="73152" marR="73152" marT="27432" marB="27432" anchor="ctr">
                    <a:solidFill>
                      <a:srgbClr val="17243E"/>
                    </a:solidFill>
                  </a:tcPr>
                </a:tc>
                <a:tc>
                  <a:txBody>
                    <a:bodyPr wrap="square"/>
                    <a:lstStyle/>
                    <a:p>
                      <a:pPr algn="l"/>
                      <a:r>
                        <a:rPr sz="950" b="0">
                          <a:solidFill>
                            <a:srgbClr val="F2F6FF"/>
                          </a:solidFill>
                          <a:latin typeface="Calibri"/>
                        </a:rPr>
                        <a:t>timer0_second</a:t>
                      </a:r>
                    </a:p>
                  </a:txBody>
                  <a:tcPr marL="73152" marR="73152" marT="27432" marB="27432" anchor="ctr">
                    <a:solidFill>
                      <a:srgbClr val="17243E"/>
                    </a:solidFill>
                  </a:tcPr>
                </a:tc>
                <a:tc>
                  <a:txBody>
                    <a:bodyPr wrap="square"/>
                    <a:lstStyle/>
                    <a:p>
                      <a:pPr algn="l"/>
                      <a:r>
                        <a:rPr sz="950" b="0">
                          <a:solidFill>
                            <a:srgbClr val="F2F6FF"/>
                          </a:solidFill>
                          <a:latin typeface="Calibri"/>
                        </a:rPr>
                        <a:t>timer 0</a:t>
                      </a:r>
                    </a:p>
                  </a:txBody>
                  <a:tcPr marL="73152" marR="73152" marT="27432" marB="27432" anchor="ctr">
                    <a:solidFill>
                      <a:srgbClr val="17243E"/>
                    </a:solidFill>
                  </a:tcPr>
                </a:tc>
                <a:tc>
                  <a:txBody>
                    <a:bodyPr wrap="square"/>
                    <a:lstStyle/>
                    <a:p>
                      <a:pPr algn="l"/>
                      <a:r>
                        <a:rPr sz="950" b="0">
                          <a:solidFill>
                            <a:srgbClr val="F2F6FF"/>
                          </a:solidFill>
                          <a:latin typeface="Calibri"/>
                        </a:rPr>
                        <a:t>one second blink from the interrupt</a:t>
                      </a:r>
                    </a:p>
                  </a:txBody>
                  <a:tcPr marL="73152" marR="73152" marT="27432" marB="27432" anchor="ctr">
                    <a:solidFill>
                      <a:srgbClr val="17243E"/>
                    </a:solidFill>
                  </a:tcPr>
                </a:tc>
                <a:tc>
                  <a:txBody>
                    <a:bodyPr wrap="square"/>
                    <a:lstStyle/>
                    <a:p>
                      <a:pPr algn="r"/>
                      <a:r>
                        <a:rPr sz="950" b="0">
                          <a:solidFill>
                            <a:srgbClr val="F2F6FF"/>
                          </a:solidFill>
                          <a:latin typeface="Calibri"/>
                        </a:rPr>
                        <a:t>1.2 KB</a:t>
                      </a:r>
                    </a:p>
                  </a:txBody>
                  <a:tcPr marL="73152" marR="73152" marT="27432" marB="27432" anchor="ctr">
                    <a:solidFill>
                      <a:srgbClr val="17243E"/>
                    </a:solidFill>
                  </a:tcPr>
                </a:tc>
              </a:tr>
              <a:tr h="264522">
                <a:tc>
                  <a:txBody>
                    <a:bodyPr wrap="square"/>
                    <a:lstStyle/>
                    <a:p>
                      <a:pPr algn="ctr"/>
                      <a:r>
                        <a:rPr sz="950" b="0">
                          <a:solidFill>
                            <a:srgbClr val="F2F6FF"/>
                          </a:solidFill>
                          <a:latin typeface="Calibri"/>
                        </a:rPr>
                        <a:t>06</a:t>
                      </a:r>
                    </a:p>
                  </a:txBody>
                  <a:tcPr marL="73152" marR="73152" marT="27432" marB="27432" anchor="ctr">
                    <a:solidFill>
                      <a:srgbClr val="1E2E4E"/>
                    </a:solidFill>
                  </a:tcPr>
                </a:tc>
                <a:tc>
                  <a:txBody>
                    <a:bodyPr wrap="square"/>
                    <a:lstStyle/>
                    <a:p>
                      <a:pPr algn="l"/>
                      <a:r>
                        <a:rPr sz="950" b="0">
                          <a:solidFill>
                            <a:srgbClr val="F2F6FF"/>
                          </a:solidFill>
                          <a:latin typeface="Calibri"/>
                        </a:rPr>
                        <a:t>square_wave</a:t>
                      </a:r>
                    </a:p>
                  </a:txBody>
                  <a:tcPr marL="73152" marR="73152" marT="27432" marB="27432" anchor="ctr">
                    <a:solidFill>
                      <a:srgbClr val="1E2E4E"/>
                    </a:solidFill>
                  </a:tcPr>
                </a:tc>
                <a:tc>
                  <a:txBody>
                    <a:bodyPr wrap="square"/>
                    <a:lstStyle/>
                    <a:p>
                      <a:pPr algn="l"/>
                      <a:r>
                        <a:rPr sz="950" b="0">
                          <a:solidFill>
                            <a:srgbClr val="F2F6FF"/>
                          </a:solidFill>
                          <a:latin typeface="Calibri"/>
                        </a:rPr>
                        <a:t>timer 0, P3.4</a:t>
                      </a:r>
                    </a:p>
                  </a:txBody>
                  <a:tcPr marL="73152" marR="73152" marT="27432" marB="27432" anchor="ctr">
                    <a:solidFill>
                      <a:srgbClr val="1E2E4E"/>
                    </a:solidFill>
                  </a:tcPr>
                </a:tc>
                <a:tc>
                  <a:txBody>
                    <a:bodyPr wrap="square"/>
                    <a:lstStyle/>
                    <a:p>
                      <a:pPr algn="l"/>
                      <a:r>
                        <a:rPr sz="950" b="0">
                          <a:solidFill>
                            <a:srgbClr val="F2F6FF"/>
                          </a:solidFill>
                          <a:latin typeface="Calibri"/>
                        </a:rPr>
                        <a:t>1.00 kHz on a scope, JP1 removed</a:t>
                      </a:r>
                    </a:p>
                  </a:txBody>
                  <a:tcPr marL="73152" marR="73152" marT="27432" marB="27432" anchor="ctr">
                    <a:solidFill>
                      <a:srgbClr val="1E2E4E"/>
                    </a:solidFill>
                  </a:tcPr>
                </a:tc>
                <a:tc>
                  <a:txBody>
                    <a:bodyPr wrap="square"/>
                    <a:lstStyle/>
                    <a:p>
                      <a:pPr algn="r"/>
                      <a:r>
                        <a:rPr sz="950" b="0">
                          <a:solidFill>
                            <a:srgbClr val="F2F6FF"/>
                          </a:solidFill>
                          <a:latin typeface="Calibri"/>
                        </a:rPr>
                        <a:t>1.1 KB</a:t>
                      </a:r>
                    </a:p>
                  </a:txBody>
                  <a:tcPr marL="73152" marR="73152" marT="27432" marB="27432" anchor="ctr">
                    <a:solidFill>
                      <a:srgbClr val="1E2E4E"/>
                    </a:solidFill>
                  </a:tcPr>
                </a:tc>
              </a:tr>
              <a:tr h="264522">
                <a:tc>
                  <a:txBody>
                    <a:bodyPr wrap="square"/>
                    <a:lstStyle/>
                    <a:p>
                      <a:pPr algn="ctr"/>
                      <a:r>
                        <a:rPr sz="950" b="0">
                          <a:solidFill>
                            <a:srgbClr val="F2F6FF"/>
                          </a:solidFill>
                          <a:latin typeface="Calibri"/>
                        </a:rPr>
                        <a:t>07</a:t>
                      </a:r>
                    </a:p>
                  </a:txBody>
                  <a:tcPr marL="73152" marR="73152" marT="27432" marB="27432" anchor="ctr">
                    <a:solidFill>
                      <a:srgbClr val="17243E"/>
                    </a:solidFill>
                  </a:tcPr>
                </a:tc>
                <a:tc>
                  <a:txBody>
                    <a:bodyPr wrap="square"/>
                    <a:lstStyle/>
                    <a:p>
                      <a:pPr algn="l"/>
                      <a:r>
                        <a:rPr sz="950" b="0">
                          <a:solidFill>
                            <a:srgbClr val="F2F6FF"/>
                          </a:solidFill>
                          <a:latin typeface="Calibri"/>
                        </a:rPr>
                        <a:t>ext_interrupt</a:t>
                      </a:r>
                    </a:p>
                  </a:txBody>
                  <a:tcPr marL="73152" marR="73152" marT="27432" marB="27432" anchor="ctr">
                    <a:solidFill>
                      <a:srgbClr val="17243E"/>
                    </a:solidFill>
                  </a:tcPr>
                </a:tc>
                <a:tc>
                  <a:txBody>
                    <a:bodyPr wrap="square"/>
                    <a:lstStyle/>
                    <a:p>
                      <a:pPr algn="l"/>
                      <a:r>
                        <a:rPr sz="950" b="0">
                          <a:solidFill>
                            <a:srgbClr val="F2F6FF"/>
                          </a:solidFill>
                          <a:latin typeface="Calibri"/>
                        </a:rPr>
                        <a:t>INT0, INT1</a:t>
                      </a:r>
                    </a:p>
                  </a:txBody>
                  <a:tcPr marL="73152" marR="73152" marT="27432" marB="27432" anchor="ctr">
                    <a:solidFill>
                      <a:srgbClr val="17243E"/>
                    </a:solidFill>
                  </a:tcPr>
                </a:tc>
                <a:tc>
                  <a:txBody>
                    <a:bodyPr wrap="square"/>
                    <a:lstStyle/>
                    <a:p>
                      <a:pPr algn="l"/>
                      <a:r>
                        <a:rPr sz="950" b="0">
                          <a:solidFill>
                            <a:srgbClr val="F2F6FF"/>
                          </a:solidFill>
                          <a:latin typeface="Calibri"/>
                        </a:rPr>
                        <a:t>PB1 alternates 0FH and F0H, PB2 counts</a:t>
                      </a:r>
                    </a:p>
                  </a:txBody>
                  <a:tcPr marL="73152" marR="73152" marT="27432" marB="27432" anchor="ctr">
                    <a:solidFill>
                      <a:srgbClr val="17243E"/>
                    </a:solidFill>
                  </a:tcPr>
                </a:tc>
                <a:tc>
                  <a:txBody>
                    <a:bodyPr wrap="square"/>
                    <a:lstStyle/>
                    <a:p>
                      <a:pPr algn="r"/>
                      <a:r>
                        <a:rPr sz="950" b="0">
                          <a:solidFill>
                            <a:srgbClr val="F2F6FF"/>
                          </a:solidFill>
                          <a:latin typeface="Calibri"/>
                        </a:rPr>
                        <a:t>1.3 KB</a:t>
                      </a:r>
                    </a:p>
                  </a:txBody>
                  <a:tcPr marL="73152" marR="73152" marT="27432" marB="27432" anchor="ctr">
                    <a:solidFill>
                      <a:srgbClr val="17243E"/>
                    </a:solidFill>
                  </a:tcPr>
                </a:tc>
              </a:tr>
              <a:tr h="264522">
                <a:tc>
                  <a:txBody>
                    <a:bodyPr wrap="square"/>
                    <a:lstStyle/>
                    <a:p>
                      <a:pPr algn="ctr"/>
                      <a:r>
                        <a:rPr sz="950" b="0">
                          <a:solidFill>
                            <a:srgbClr val="F2F6FF"/>
                          </a:solidFill>
                          <a:latin typeface="Calibri"/>
                        </a:rPr>
                        <a:t>08</a:t>
                      </a:r>
                    </a:p>
                  </a:txBody>
                  <a:tcPr marL="73152" marR="73152" marT="27432" marB="27432" anchor="ctr">
                    <a:solidFill>
                      <a:srgbClr val="1E2E4E"/>
                    </a:solidFill>
                  </a:tcPr>
                </a:tc>
                <a:tc>
                  <a:txBody>
                    <a:bodyPr wrap="square"/>
                    <a:lstStyle/>
                    <a:p>
                      <a:pPr algn="l"/>
                      <a:r>
                        <a:rPr sz="950" b="0">
                          <a:solidFill>
                            <a:srgbClr val="F2F6FF"/>
                          </a:solidFill>
                          <a:latin typeface="Calibri"/>
                        </a:rPr>
                        <a:t>uart_echo</a:t>
                      </a:r>
                    </a:p>
                  </a:txBody>
                  <a:tcPr marL="73152" marR="73152" marT="27432" marB="27432" anchor="ctr">
                    <a:solidFill>
                      <a:srgbClr val="1E2E4E"/>
                    </a:solidFill>
                  </a:tcPr>
                </a:tc>
                <a:tc>
                  <a:txBody>
                    <a:bodyPr wrap="square"/>
                    <a:lstStyle/>
                    <a:p>
                      <a:pPr algn="l"/>
                      <a:r>
                        <a:rPr sz="950" b="0">
                          <a:solidFill>
                            <a:srgbClr val="F2F6FF"/>
                          </a:solidFill>
                          <a:latin typeface="Calibri"/>
                        </a:rPr>
                        <a:t>UART, MAX232</a:t>
                      </a:r>
                    </a:p>
                  </a:txBody>
                  <a:tcPr marL="73152" marR="73152" marT="27432" marB="27432" anchor="ctr">
                    <a:solidFill>
                      <a:srgbClr val="1E2E4E"/>
                    </a:solidFill>
                  </a:tcPr>
                </a:tc>
                <a:tc>
                  <a:txBody>
                    <a:bodyPr wrap="square"/>
                    <a:lstStyle/>
                    <a:p>
                      <a:pPr algn="l"/>
                      <a:r>
                        <a:rPr sz="950" b="0">
                          <a:solidFill>
                            <a:srgbClr val="F2F6FF"/>
                          </a:solidFill>
                          <a:latin typeface="Calibri"/>
                        </a:rPr>
                        <a:t>banner and character echo</a:t>
                      </a:r>
                    </a:p>
                  </a:txBody>
                  <a:tcPr marL="73152" marR="73152" marT="27432" marB="27432" anchor="ctr">
                    <a:solidFill>
                      <a:srgbClr val="1E2E4E"/>
                    </a:solidFill>
                  </a:tcPr>
                </a:tc>
                <a:tc>
                  <a:txBody>
                    <a:bodyPr wrap="square"/>
                    <a:lstStyle/>
                    <a:p>
                      <a:pPr algn="r"/>
                      <a:r>
                        <a:rPr sz="950" b="0">
                          <a:solidFill>
                            <a:srgbClr val="F2F6FF"/>
                          </a:solidFill>
                          <a:latin typeface="Calibri"/>
                        </a:rPr>
                        <a:t>1.4 KB</a:t>
                      </a:r>
                    </a:p>
                  </a:txBody>
                  <a:tcPr marL="73152" marR="73152" marT="27432" marB="27432" anchor="ctr">
                    <a:solidFill>
                      <a:srgbClr val="1E2E4E"/>
                    </a:solidFill>
                  </a:tcPr>
                </a:tc>
              </a:tr>
              <a:tr h="264522">
                <a:tc>
                  <a:txBody>
                    <a:bodyPr wrap="square"/>
                    <a:lstStyle/>
                    <a:p>
                      <a:pPr algn="ctr"/>
                      <a:r>
                        <a:rPr sz="950" b="0">
                          <a:solidFill>
                            <a:srgbClr val="F2F6FF"/>
                          </a:solidFill>
                          <a:latin typeface="Calibri"/>
                        </a:rPr>
                        <a:t>09</a:t>
                      </a:r>
                    </a:p>
                  </a:txBody>
                  <a:tcPr marL="73152" marR="73152" marT="27432" marB="27432" anchor="ctr">
                    <a:solidFill>
                      <a:srgbClr val="17243E"/>
                    </a:solidFill>
                  </a:tcPr>
                </a:tc>
                <a:tc>
                  <a:txBody>
                    <a:bodyPr wrap="square"/>
                    <a:lstStyle/>
                    <a:p>
                      <a:pPr algn="l"/>
                      <a:r>
                        <a:rPr sz="950" b="0">
                          <a:solidFill>
                            <a:srgbClr val="F2F6FF"/>
                          </a:solidFill>
                          <a:latin typeface="Calibri"/>
                        </a:rPr>
                        <a:t>uart_commands</a:t>
                      </a:r>
                    </a:p>
                  </a:txBody>
                  <a:tcPr marL="73152" marR="73152" marT="27432" marB="27432" anchor="ctr">
                    <a:solidFill>
                      <a:srgbClr val="17243E"/>
                    </a:solidFill>
                  </a:tcPr>
                </a:tc>
                <a:tc>
                  <a:txBody>
                    <a:bodyPr wrap="square"/>
                    <a:lstStyle/>
                    <a:p>
                      <a:pPr algn="l"/>
                      <a:r>
                        <a:rPr sz="950" b="0">
                          <a:solidFill>
                            <a:srgbClr val="F2F6FF"/>
                          </a:solidFill>
                          <a:latin typeface="Calibri"/>
                        </a:rPr>
                        <a:t>UART, relay, buzzer</a:t>
                      </a:r>
                    </a:p>
                  </a:txBody>
                  <a:tcPr marL="73152" marR="73152" marT="27432" marB="27432" anchor="ctr">
                    <a:solidFill>
                      <a:srgbClr val="17243E"/>
                    </a:solidFill>
                  </a:tcPr>
                </a:tc>
                <a:tc>
                  <a:txBody>
                    <a:bodyPr wrap="square"/>
                    <a:lstStyle/>
                    <a:p>
                      <a:pPr algn="l"/>
                      <a:r>
                        <a:rPr sz="950" b="0">
                          <a:solidFill>
                            <a:srgbClr val="F2F6FF"/>
                          </a:solidFill>
                          <a:latin typeface="Calibri"/>
                        </a:rPr>
                        <a:t>HLP, LED HH, SEG NN, RLY N, TMP</a:t>
                      </a:r>
                    </a:p>
                  </a:txBody>
                  <a:tcPr marL="73152" marR="73152" marT="27432" marB="27432" anchor="ctr">
                    <a:solidFill>
                      <a:srgbClr val="17243E"/>
                    </a:solidFill>
                  </a:tcPr>
                </a:tc>
                <a:tc>
                  <a:txBody>
                    <a:bodyPr wrap="square"/>
                    <a:lstStyle/>
                    <a:p>
                      <a:pPr algn="r"/>
                      <a:r>
                        <a:rPr sz="950" b="0">
                          <a:solidFill>
                            <a:srgbClr val="F2F6FF"/>
                          </a:solidFill>
                          <a:latin typeface="Calibri"/>
                        </a:rPr>
                        <a:t>3.0 KB</a:t>
                      </a:r>
                    </a:p>
                  </a:txBody>
                  <a:tcPr marL="73152" marR="73152" marT="27432" marB="27432" anchor="ctr">
                    <a:solidFill>
                      <a:srgbClr val="17243E"/>
                    </a:solidFill>
                  </a:tcPr>
                </a:tc>
              </a:tr>
              <a:tr h="264522">
                <a:tc>
                  <a:txBody>
                    <a:bodyPr wrap="square"/>
                    <a:lstStyle/>
                    <a:p>
                      <a:pPr algn="ctr"/>
                      <a:r>
                        <a:rPr sz="950" b="0">
                          <a:solidFill>
                            <a:srgbClr val="F2F6FF"/>
                          </a:solidFill>
                          <a:latin typeface="Calibri"/>
                        </a:rPr>
                        <a:t>10</a:t>
                      </a:r>
                    </a:p>
                  </a:txBody>
                  <a:tcPr marL="73152" marR="73152" marT="27432" marB="27432" anchor="ctr">
                    <a:solidFill>
                      <a:srgbClr val="1E2E4E"/>
                    </a:solidFill>
                  </a:tcPr>
                </a:tc>
                <a:tc>
                  <a:txBody>
                    <a:bodyPr wrap="square"/>
                    <a:lstStyle/>
                    <a:p>
                      <a:pPr algn="l"/>
                      <a:r>
                        <a:rPr sz="950" b="0">
                          <a:solidFill>
                            <a:srgbClr val="F2F6FF"/>
                          </a:solidFill>
                          <a:latin typeface="Calibri"/>
                        </a:rPr>
                        <a:t>adc_7seg</a:t>
                      </a:r>
                    </a:p>
                  </a:txBody>
                  <a:tcPr marL="73152" marR="73152" marT="27432" marB="27432" anchor="ctr">
                    <a:solidFill>
                      <a:srgbClr val="1E2E4E"/>
                    </a:solidFill>
                  </a:tcPr>
                </a:tc>
                <a:tc>
                  <a:txBody>
                    <a:bodyPr wrap="square"/>
                    <a:lstStyle/>
                    <a:p>
                      <a:pPr algn="l"/>
                      <a:r>
                        <a:rPr sz="950" b="0">
                          <a:solidFill>
                            <a:srgbClr val="F2F6FF"/>
                          </a:solidFill>
                          <a:latin typeface="Calibri"/>
                        </a:rPr>
                        <a:t>ADC0804, LM35</a:t>
                      </a:r>
                    </a:p>
                  </a:txBody>
                  <a:tcPr marL="73152" marR="73152" marT="27432" marB="27432" anchor="ctr">
                    <a:solidFill>
                      <a:srgbClr val="1E2E4E"/>
                    </a:solidFill>
                  </a:tcPr>
                </a:tc>
                <a:tc>
                  <a:txBody>
                    <a:bodyPr wrap="square"/>
                    <a:lstStyle/>
                    <a:p>
                      <a:pPr algn="l"/>
                      <a:r>
                        <a:rPr sz="950" b="0">
                          <a:solidFill>
                            <a:srgbClr val="F2F6FF"/>
                          </a:solidFill>
                          <a:latin typeface="Calibri"/>
                        </a:rPr>
                        <a:t>temperature on the display</a:t>
                      </a:r>
                    </a:p>
                  </a:txBody>
                  <a:tcPr marL="73152" marR="73152" marT="27432" marB="27432" anchor="ctr">
                    <a:solidFill>
                      <a:srgbClr val="1E2E4E"/>
                    </a:solidFill>
                  </a:tcPr>
                </a:tc>
                <a:tc>
                  <a:txBody>
                    <a:bodyPr wrap="square"/>
                    <a:lstStyle/>
                    <a:p>
                      <a:pPr algn="r"/>
                      <a:r>
                        <a:rPr sz="950" b="0">
                          <a:solidFill>
                            <a:srgbClr val="F2F6FF"/>
                          </a:solidFill>
                          <a:latin typeface="Calibri"/>
                        </a:rPr>
                        <a:t>1.5 KB</a:t>
                      </a:r>
                    </a:p>
                  </a:txBody>
                  <a:tcPr marL="73152" marR="73152" marT="27432" marB="27432" anchor="ctr">
                    <a:solidFill>
                      <a:srgbClr val="1E2E4E"/>
                    </a:solidFill>
                  </a:tcPr>
                </a:tc>
              </a:tr>
              <a:tr h="264522">
                <a:tc>
                  <a:txBody>
                    <a:bodyPr wrap="square"/>
                    <a:lstStyle/>
                    <a:p>
                      <a:pPr algn="ctr"/>
                      <a:r>
                        <a:rPr sz="950" b="0">
                          <a:solidFill>
                            <a:srgbClr val="F2F6FF"/>
                          </a:solidFill>
                          <a:latin typeface="Calibri"/>
                        </a:rPr>
                        <a:t>11</a:t>
                      </a:r>
                    </a:p>
                  </a:txBody>
                  <a:tcPr marL="73152" marR="73152" marT="27432" marB="27432" anchor="ctr">
                    <a:solidFill>
                      <a:srgbClr val="17243E"/>
                    </a:solidFill>
                  </a:tcPr>
                </a:tc>
                <a:tc>
                  <a:txBody>
                    <a:bodyPr wrap="square"/>
                    <a:lstStyle/>
                    <a:p>
                      <a:pPr algn="l"/>
                      <a:r>
                        <a:rPr sz="950" b="0">
                          <a:solidFill>
                            <a:srgbClr val="F2F6FF"/>
                          </a:solidFill>
                          <a:latin typeface="Calibri"/>
                        </a:rPr>
                        <a:t>adc_lcd</a:t>
                      </a:r>
                    </a:p>
                  </a:txBody>
                  <a:tcPr marL="73152" marR="73152" marT="27432" marB="27432" anchor="ctr">
                    <a:solidFill>
                      <a:srgbClr val="17243E"/>
                    </a:solidFill>
                  </a:tcPr>
                </a:tc>
                <a:tc>
                  <a:txBody>
                    <a:bodyPr wrap="square"/>
                    <a:lstStyle/>
                    <a:p>
                      <a:pPr algn="l"/>
                      <a:r>
                        <a:rPr sz="950" b="0">
                          <a:solidFill>
                            <a:srgbClr val="F2F6FF"/>
                          </a:solidFill>
                          <a:latin typeface="Calibri"/>
                        </a:rPr>
                        <a:t>ADC, LCD</a:t>
                      </a:r>
                    </a:p>
                  </a:txBody>
                  <a:tcPr marL="73152" marR="73152" marT="27432" marB="27432" anchor="ctr">
                    <a:solidFill>
                      <a:srgbClr val="17243E"/>
                    </a:solidFill>
                  </a:tcPr>
                </a:tc>
                <a:tc>
                  <a:txBody>
                    <a:bodyPr wrap="square"/>
                    <a:lstStyle/>
                    <a:p>
                      <a:pPr algn="l"/>
                      <a:r>
                        <a:rPr sz="950" b="0">
                          <a:solidFill>
                            <a:srgbClr val="F2F6FF"/>
                          </a:solidFill>
                          <a:latin typeface="Calibri"/>
                        </a:rPr>
                        <a:t>temperature and bar graph</a:t>
                      </a:r>
                    </a:p>
                  </a:txBody>
                  <a:tcPr marL="73152" marR="73152" marT="27432" marB="27432" anchor="ctr">
                    <a:solidFill>
                      <a:srgbClr val="17243E"/>
                    </a:solidFill>
                  </a:tcPr>
                </a:tc>
                <a:tc>
                  <a:txBody>
                    <a:bodyPr wrap="square"/>
                    <a:lstStyle/>
                    <a:p>
                      <a:pPr algn="r"/>
                      <a:r>
                        <a:rPr sz="950" b="0">
                          <a:solidFill>
                            <a:srgbClr val="F2F6FF"/>
                          </a:solidFill>
                          <a:latin typeface="Calibri"/>
                        </a:rPr>
                        <a:t>2.0 KB</a:t>
                      </a:r>
                    </a:p>
                  </a:txBody>
                  <a:tcPr marL="73152" marR="73152" marT="27432" marB="27432" anchor="ctr">
                    <a:solidFill>
                      <a:srgbClr val="17243E"/>
                    </a:solidFill>
                  </a:tcPr>
                </a:tc>
              </a:tr>
              <a:tr h="264522">
                <a:tc>
                  <a:txBody>
                    <a:bodyPr wrap="square"/>
                    <a:lstStyle/>
                    <a:p>
                      <a:pPr algn="ctr"/>
                      <a:r>
                        <a:rPr sz="950" b="0">
                          <a:solidFill>
                            <a:srgbClr val="F2F6FF"/>
                          </a:solidFill>
                          <a:latin typeface="Calibri"/>
                        </a:rPr>
                        <a:t>12</a:t>
                      </a:r>
                    </a:p>
                  </a:txBody>
                  <a:tcPr marL="73152" marR="73152" marT="27432" marB="27432" anchor="ctr">
                    <a:solidFill>
                      <a:srgbClr val="1E2E4E"/>
                    </a:solidFill>
                  </a:tcPr>
                </a:tc>
                <a:tc>
                  <a:txBody>
                    <a:bodyPr wrap="square"/>
                    <a:lstStyle/>
                    <a:p>
                      <a:pPr algn="l"/>
                      <a:r>
                        <a:rPr sz="950" b="0">
                          <a:solidFill>
                            <a:srgbClr val="F2F6FF"/>
                          </a:solidFill>
                          <a:latin typeface="Calibri"/>
                        </a:rPr>
                        <a:t>industrial_monitor</a:t>
                      </a:r>
                    </a:p>
                  </a:txBody>
                  <a:tcPr marL="73152" marR="73152" marT="27432" marB="27432" anchor="ctr">
                    <a:solidFill>
                      <a:srgbClr val="1E2E4E"/>
                    </a:solidFill>
                  </a:tcPr>
                </a:tc>
                <a:tc>
                  <a:txBody>
                    <a:bodyPr wrap="square"/>
                    <a:lstStyle/>
                    <a:p>
                      <a:pPr algn="l"/>
                      <a:r>
                        <a:rPr sz="950" b="0">
                          <a:solidFill>
                            <a:srgbClr val="F2F6FF"/>
                          </a:solidFill>
                          <a:latin typeface="Calibri"/>
                        </a:rPr>
                        <a:t>everything</a:t>
                      </a:r>
                    </a:p>
                  </a:txBody>
                  <a:tcPr marL="73152" marR="73152" marT="27432" marB="27432" anchor="ctr">
                    <a:solidFill>
                      <a:srgbClr val="1E2E4E"/>
                    </a:solidFill>
                  </a:tcPr>
                </a:tc>
                <a:tc>
                  <a:txBody>
                    <a:bodyPr wrap="square"/>
                    <a:lstStyle/>
                    <a:p>
                      <a:pPr algn="l"/>
                      <a:r>
                        <a:rPr sz="950" b="0">
                          <a:solidFill>
                            <a:srgbClr val="F2F6FF"/>
                          </a:solidFill>
                          <a:latin typeface="Calibri"/>
                        </a:rPr>
                        <a:t>zones, relay, buzzer, telemetry</a:t>
                      </a:r>
                    </a:p>
                  </a:txBody>
                  <a:tcPr marL="73152" marR="73152" marT="27432" marB="27432" anchor="ctr">
                    <a:solidFill>
                      <a:srgbClr val="1E2E4E"/>
                    </a:solidFill>
                  </a:tcPr>
                </a:tc>
                <a:tc>
                  <a:txBody>
                    <a:bodyPr wrap="square"/>
                    <a:lstStyle/>
                    <a:p>
                      <a:pPr algn="r"/>
                      <a:r>
                        <a:rPr sz="950" b="0">
                          <a:solidFill>
                            <a:srgbClr val="F2F6FF"/>
                          </a:solidFill>
                          <a:latin typeface="Calibri"/>
                        </a:rPr>
                        <a:t>3.4 KB</a:t>
                      </a:r>
                    </a:p>
                  </a:txBody>
                  <a:tcPr marL="73152" marR="73152" marT="27432" marB="27432" anchor="ctr">
                    <a:solidFill>
                      <a:srgbClr val="1E2E4E"/>
                    </a:solidFill>
                  </a:tcPr>
                </a:tc>
              </a:tr>
              <a:tr h="264534">
                <a:tc>
                  <a:txBody>
                    <a:bodyPr wrap="square"/>
                    <a:lstStyle/>
                    <a:p>
                      <a:pPr algn="ctr"/>
                      <a:r>
                        <a:rPr sz="950" b="0">
                          <a:solidFill>
                            <a:srgbClr val="F2F6FF"/>
                          </a:solidFill>
                          <a:latin typeface="Calibri"/>
                        </a:rPr>
                        <a:t>13</a:t>
                      </a:r>
                    </a:p>
                  </a:txBody>
                  <a:tcPr marL="73152" marR="73152" marT="27432" marB="27432" anchor="ctr">
                    <a:solidFill>
                      <a:srgbClr val="17243E"/>
                    </a:solidFill>
                  </a:tcPr>
                </a:tc>
                <a:tc>
                  <a:txBody>
                    <a:bodyPr wrap="square"/>
                    <a:lstStyle/>
                    <a:p>
                      <a:pPr algn="l"/>
                      <a:r>
                        <a:rPr sz="950" b="0">
                          <a:solidFill>
                            <a:srgbClr val="F2F6FF"/>
                          </a:solidFill>
                          <a:latin typeface="Calibri"/>
                        </a:rPr>
                        <a:t>selftest</a:t>
                      </a:r>
                    </a:p>
                  </a:txBody>
                  <a:tcPr marL="73152" marR="73152" marT="27432" marB="27432" anchor="ctr">
                    <a:solidFill>
                      <a:srgbClr val="17243E"/>
                    </a:solidFill>
                  </a:tcPr>
                </a:tc>
                <a:tc>
                  <a:txBody>
                    <a:bodyPr wrap="square"/>
                    <a:lstStyle/>
                    <a:p>
                      <a:pPr algn="l"/>
                      <a:r>
                        <a:rPr sz="950" b="0">
                          <a:solidFill>
                            <a:srgbClr val="F2F6FF"/>
                          </a:solidFill>
                          <a:latin typeface="Calibri"/>
                        </a:rPr>
                        <a:t>everything</a:t>
                      </a:r>
                    </a:p>
                  </a:txBody>
                  <a:tcPr marL="73152" marR="73152" marT="27432" marB="27432" anchor="ctr">
                    <a:solidFill>
                      <a:srgbClr val="17243E"/>
                    </a:solidFill>
                  </a:tcPr>
                </a:tc>
                <a:tc>
                  <a:txBody>
                    <a:bodyPr wrap="square"/>
                    <a:lstStyle/>
                    <a:p>
                      <a:pPr algn="l"/>
                      <a:r>
                        <a:rPr sz="950" b="0">
                          <a:solidFill>
                            <a:srgbClr val="F2F6FF"/>
                          </a:solidFill>
                          <a:latin typeface="Calibri"/>
                        </a:rPr>
                        <a:t>PASS or FAIL report on the terminal</a:t>
                      </a:r>
                    </a:p>
                  </a:txBody>
                  <a:tcPr marL="73152" marR="73152" marT="27432" marB="27432" anchor="ctr">
                    <a:solidFill>
                      <a:srgbClr val="17243E"/>
                    </a:solidFill>
                  </a:tcPr>
                </a:tc>
                <a:tc>
                  <a:txBody>
                    <a:bodyPr wrap="square"/>
                    <a:lstStyle/>
                    <a:p>
                      <a:pPr algn="r"/>
                      <a:r>
                        <a:rPr sz="950" b="0">
                          <a:solidFill>
                            <a:srgbClr val="F2F6FF"/>
                          </a:solidFill>
                          <a:latin typeface="Calibri"/>
                        </a:rPr>
                        <a:t>2.6 KB</a:t>
                      </a:r>
                    </a:p>
                  </a:txBody>
                  <a:tcPr marL="73152" marR="73152" marT="27432" marB="27432" anchor="ctr">
                    <a:solidFill>
                      <a:srgbClr val="17243E"/>
                    </a:solidFill>
                  </a:tcPr>
                </a:tc>
              </a:tr>
            </a:tbl>
          </a:graphicData>
        </a:graphic>
      </p:graphicFrame>
      <p:sp>
        <p:nvSpPr>
          <p:cNvPr id="12" name="Rounded Rectangle 11"/>
          <p:cNvSpPr/>
          <p:nvPr/>
        </p:nvSpPr>
        <p:spPr>
          <a:xfrm>
            <a:off x="566928" y="5486400"/>
            <a:ext cx="11058113" cy="777240"/>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614416"/>
            <a:ext cx="10546049" cy="603504"/>
          </a:xfrm>
          <a:prstGeom prst="rect">
            <a:avLst/>
          </a:prstGeom>
          <a:noFill/>
        </p:spPr>
        <p:txBody>
          <a:bodyPr wrap="square" lIns="0" rIns="0" tIns="0" bIns="0" anchor="t">
            <a:spAutoFit/>
          </a:bodyPr>
          <a:lstStyle/>
          <a:p>
            <a:pPr algn="l">
              <a:lnSpc>
                <a:spcPct val="115000"/>
              </a:lnSpc>
              <a:spcAft>
                <a:spcPts val="0"/>
              </a:spcAft>
            </a:pPr>
            <a:r>
              <a:rPr sz="1150" b="1" i="0">
                <a:solidFill>
                  <a:srgbClr val="F2F6FF"/>
                </a:solidFill>
                <a:latin typeface="Calibri"/>
              </a:rPr>
              <a:t>Verification:  </a:t>
            </a:r>
          </a:p>
          <a:p>
            <a:pPr algn="l">
              <a:lnSpc>
                <a:spcPct val="115000"/>
              </a:lnSpc>
              <a:spcAft>
                <a:spcPts val="0"/>
              </a:spcAft>
            </a:pPr>
            <a:r>
              <a:rPr sz="1150" b="0" i="0">
                <a:solidFill>
                  <a:srgbClr val="A9B8D6"/>
                </a:solidFill>
                <a:latin typeface="Calibri"/>
              </a:rPr>
              <a:t>all thirteen compiled with zero errors and zero warnings. The largest, program 12, uses about 40 percent of the flash and about 30 bytes of internal RAM.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FIRMWARE TIMING</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Every constant the programs depend on</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All derived from one number: the 1.0851 microsecond machine cycle</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20</a:t>
            </a:r>
          </a:p>
        </p:txBody>
      </p:sp>
      <p:graphicFrame>
        <p:nvGraphicFramePr>
          <p:cNvPr id="11" name="Table 10"/>
          <p:cNvGraphicFramePr>
            <a:graphicFrameLocks noGrp="1"/>
          </p:cNvGraphicFramePr>
          <p:nvPr/>
        </p:nvGraphicFramePr>
        <p:xfrm>
          <a:off x="566928" y="1645920"/>
          <a:ext cx="11058111" cy="2834640"/>
        </p:xfrm>
        <a:graphic>
          <a:graphicData uri="http://schemas.openxmlformats.org/drawingml/2006/table">
            <a:tbl>
              <a:tblPr firstRow="1">
                <a:tableStyleId>{5C22544A-7EE6-4342-B048-85BDC9FD1C3A}</a:tableStyleId>
              </a:tblPr>
              <a:tblGrid>
                <a:gridCol w="2111094"/>
                <a:gridCol w="2312150"/>
                <a:gridCol w="4021132"/>
                <a:gridCol w="2613735"/>
              </a:tblGrid>
              <a:tr h="314960">
                <a:tc>
                  <a:txBody>
                    <a:bodyPr wrap="square"/>
                    <a:lstStyle/>
                    <a:p>
                      <a:pPr algn="l"/>
                      <a:r>
                        <a:rPr sz="1000" b="1">
                          <a:solidFill>
                            <a:srgbClr val="CFE0FF"/>
                          </a:solidFill>
                          <a:latin typeface="Calibri"/>
                        </a:rPr>
                        <a:t>Function</a:t>
                      </a:r>
                    </a:p>
                  </a:txBody>
                  <a:tcPr marL="73152" marR="73152" marT="27432" marB="27432" anchor="ctr">
                    <a:solidFill>
                      <a:srgbClr val="2A3C63"/>
                    </a:solidFill>
                  </a:tcPr>
                </a:tc>
                <a:tc>
                  <a:txBody>
                    <a:bodyPr wrap="square"/>
                    <a:lstStyle/>
                    <a:p>
                      <a:pPr algn="l"/>
                      <a:r>
                        <a:rPr sz="1000" b="1">
                          <a:solidFill>
                            <a:srgbClr val="CFE0FF"/>
                          </a:solidFill>
                          <a:latin typeface="Calibri"/>
                        </a:rPr>
                        <a:t>Register setting</a:t>
                      </a:r>
                    </a:p>
                  </a:txBody>
                  <a:tcPr marL="73152" marR="73152" marT="27432" marB="27432" anchor="ctr">
                    <a:solidFill>
                      <a:srgbClr val="2A3C63"/>
                    </a:solidFill>
                  </a:tcPr>
                </a:tc>
                <a:tc>
                  <a:txBody>
                    <a:bodyPr wrap="square"/>
                    <a:lstStyle/>
                    <a:p>
                      <a:pPr algn="l"/>
                      <a:r>
                        <a:rPr sz="1000" b="1">
                          <a:solidFill>
                            <a:srgbClr val="CFE0FF"/>
                          </a:solidFill>
                          <a:latin typeface="Calibri"/>
                        </a:rPr>
                        <a:t>Derivation</a:t>
                      </a:r>
                    </a:p>
                  </a:txBody>
                  <a:tcPr marL="73152" marR="73152" marT="27432" marB="27432" anchor="ctr">
                    <a:solidFill>
                      <a:srgbClr val="2A3C63"/>
                    </a:solidFill>
                  </a:tcPr>
                </a:tc>
                <a:tc>
                  <a:txBody>
                    <a:bodyPr wrap="square"/>
                    <a:lstStyle/>
                    <a:p>
                      <a:pPr algn="l"/>
                      <a:r>
                        <a:rPr sz="1000" b="1">
                          <a:solidFill>
                            <a:srgbClr val="CFE0FF"/>
                          </a:solidFill>
                          <a:latin typeface="Calibri"/>
                        </a:rPr>
                        <a:t>Result</a:t>
                      </a:r>
                    </a:p>
                  </a:txBody>
                  <a:tcPr marL="73152" marR="73152" marT="27432" marB="27432" anchor="ctr">
                    <a:solidFill>
                      <a:srgbClr val="2A3C63"/>
                    </a:solidFill>
                  </a:tcPr>
                </a:tc>
              </a:tr>
              <a:tr h="314960">
                <a:tc>
                  <a:txBody>
                    <a:bodyPr wrap="square"/>
                    <a:lstStyle/>
                    <a:p>
                      <a:pPr algn="l"/>
                      <a:r>
                        <a:rPr sz="1000" b="0">
                          <a:solidFill>
                            <a:srgbClr val="F2F6FF"/>
                          </a:solidFill>
                          <a:latin typeface="Calibri"/>
                        </a:rPr>
                        <a:t>UART 9600 baud</a:t>
                      </a:r>
                    </a:p>
                  </a:txBody>
                  <a:tcPr marL="73152" marR="73152" marT="27432" marB="27432" anchor="ctr">
                    <a:solidFill>
                      <a:srgbClr val="17243E"/>
                    </a:solidFill>
                  </a:tcPr>
                </a:tc>
                <a:tc>
                  <a:txBody>
                    <a:bodyPr wrap="square"/>
                    <a:lstStyle/>
                    <a:p>
                      <a:pPr algn="l"/>
                      <a:r>
                        <a:rPr sz="1000" b="0">
                          <a:solidFill>
                            <a:srgbClr val="F2F6FF"/>
                          </a:solidFill>
                          <a:latin typeface="Calibri"/>
                        </a:rPr>
                        <a:t>TH1 = TL1 = FDH</a:t>
                      </a:r>
                    </a:p>
                  </a:txBody>
                  <a:tcPr marL="73152" marR="73152" marT="27432" marB="27432" anchor="ctr">
                    <a:solidFill>
                      <a:srgbClr val="17243E"/>
                    </a:solidFill>
                  </a:tcPr>
                </a:tc>
                <a:tc>
                  <a:txBody>
                    <a:bodyPr wrap="square"/>
                    <a:lstStyle/>
                    <a:p>
                      <a:pPr algn="l"/>
                      <a:r>
                        <a:rPr sz="1000" b="0">
                          <a:solidFill>
                            <a:srgbClr val="F2F6FF"/>
                          </a:solidFill>
                          <a:latin typeface="Calibri"/>
                        </a:rPr>
                        <a:t>256 - 11059200 / (384 x 9600) = 253</a:t>
                      </a:r>
                    </a:p>
                  </a:txBody>
                  <a:tcPr marL="73152" marR="73152" marT="27432" marB="27432" anchor="ctr">
                    <a:solidFill>
                      <a:srgbClr val="17243E"/>
                    </a:solidFill>
                  </a:tcPr>
                </a:tc>
                <a:tc>
                  <a:txBody>
                    <a:bodyPr wrap="square"/>
                    <a:lstStyle/>
                    <a:p>
                      <a:pPr algn="l"/>
                      <a:r>
                        <a:rPr sz="1000" b="0">
                          <a:solidFill>
                            <a:srgbClr val="F2F6FF"/>
                          </a:solidFill>
                          <a:latin typeface="Calibri"/>
                        </a:rPr>
                        <a:t>0.00 percent error</a:t>
                      </a:r>
                    </a:p>
                  </a:txBody>
                  <a:tcPr marL="73152" marR="73152" marT="27432" marB="27432" anchor="ctr">
                    <a:solidFill>
                      <a:srgbClr val="17243E"/>
                    </a:solidFill>
                  </a:tcPr>
                </a:tc>
              </a:tr>
              <a:tr h="314960">
                <a:tc>
                  <a:txBody>
                    <a:bodyPr wrap="square"/>
                    <a:lstStyle/>
                    <a:p>
                      <a:pPr algn="l"/>
                      <a:r>
                        <a:rPr sz="1000" b="0">
                          <a:solidFill>
                            <a:srgbClr val="F2F6FF"/>
                          </a:solidFill>
                          <a:latin typeface="Calibri"/>
                        </a:rPr>
                        <a:t>Display refresh 5 ms</a:t>
                      </a:r>
                    </a:p>
                  </a:txBody>
                  <a:tcPr marL="73152" marR="73152" marT="27432" marB="27432" anchor="ctr">
                    <a:solidFill>
                      <a:srgbClr val="1E2E4E"/>
                    </a:solidFill>
                  </a:tcPr>
                </a:tc>
                <a:tc>
                  <a:txBody>
                    <a:bodyPr wrap="square"/>
                    <a:lstStyle/>
                    <a:p>
                      <a:pPr algn="l"/>
                      <a:r>
                        <a:rPr sz="1000" b="0">
                          <a:solidFill>
                            <a:srgbClr val="F2F6FF"/>
                          </a:solidFill>
                          <a:latin typeface="Calibri"/>
                        </a:rPr>
                        <a:t>TH0 = EEH, TL0 = 00H</a:t>
                      </a:r>
                    </a:p>
                  </a:txBody>
                  <a:tcPr marL="73152" marR="73152" marT="27432" marB="27432" anchor="ctr">
                    <a:solidFill>
                      <a:srgbClr val="1E2E4E"/>
                    </a:solidFill>
                  </a:tcPr>
                </a:tc>
                <a:tc>
                  <a:txBody>
                    <a:bodyPr wrap="square"/>
                    <a:lstStyle/>
                    <a:p>
                      <a:pPr algn="l"/>
                      <a:r>
                        <a:rPr sz="1000" b="0">
                          <a:solidFill>
                            <a:srgbClr val="F2F6FF"/>
                          </a:solidFill>
                          <a:latin typeface="Calibri"/>
                        </a:rPr>
                        <a:t>65536 - 5000 / 1.0851 = 60928</a:t>
                      </a:r>
                    </a:p>
                  </a:txBody>
                  <a:tcPr marL="73152" marR="73152" marT="27432" marB="27432" anchor="ctr">
                    <a:solidFill>
                      <a:srgbClr val="1E2E4E"/>
                    </a:solidFill>
                  </a:tcPr>
                </a:tc>
                <a:tc>
                  <a:txBody>
                    <a:bodyPr wrap="square"/>
                    <a:lstStyle/>
                    <a:p>
                      <a:pPr algn="l"/>
                      <a:r>
                        <a:rPr sz="1000" b="0">
                          <a:solidFill>
                            <a:srgbClr val="F2F6FF"/>
                          </a:solidFill>
                          <a:latin typeface="Calibri"/>
                        </a:rPr>
                        <a:t>100 Hz per digit</a:t>
                      </a:r>
                    </a:p>
                  </a:txBody>
                  <a:tcPr marL="73152" marR="73152" marT="27432" marB="27432" anchor="ctr">
                    <a:solidFill>
                      <a:srgbClr val="1E2E4E"/>
                    </a:solidFill>
                  </a:tcPr>
                </a:tc>
              </a:tr>
              <a:tr h="314960">
                <a:tc>
                  <a:txBody>
                    <a:bodyPr wrap="square"/>
                    <a:lstStyle/>
                    <a:p>
                      <a:pPr algn="l"/>
                      <a:r>
                        <a:rPr sz="1000" b="0">
                          <a:solidFill>
                            <a:srgbClr val="F2F6FF"/>
                          </a:solidFill>
                          <a:latin typeface="Calibri"/>
                        </a:rPr>
                        <a:t>50 ms tick</a:t>
                      </a:r>
                    </a:p>
                  </a:txBody>
                  <a:tcPr marL="73152" marR="73152" marT="27432" marB="27432" anchor="ctr">
                    <a:solidFill>
                      <a:srgbClr val="17243E"/>
                    </a:solidFill>
                  </a:tcPr>
                </a:tc>
                <a:tc>
                  <a:txBody>
                    <a:bodyPr wrap="square"/>
                    <a:lstStyle/>
                    <a:p>
                      <a:pPr algn="l"/>
                      <a:r>
                        <a:rPr sz="1000" b="0">
                          <a:solidFill>
                            <a:srgbClr val="F2F6FF"/>
                          </a:solidFill>
                          <a:latin typeface="Calibri"/>
                        </a:rPr>
                        <a:t>TH0 = 4CH, TL0 = 00H</a:t>
                      </a:r>
                    </a:p>
                  </a:txBody>
                  <a:tcPr marL="73152" marR="73152" marT="27432" marB="27432" anchor="ctr">
                    <a:solidFill>
                      <a:srgbClr val="17243E"/>
                    </a:solidFill>
                  </a:tcPr>
                </a:tc>
                <a:tc>
                  <a:txBody>
                    <a:bodyPr wrap="square"/>
                    <a:lstStyle/>
                    <a:p>
                      <a:pPr algn="l"/>
                      <a:r>
                        <a:rPr sz="1000" b="0">
                          <a:solidFill>
                            <a:srgbClr val="F2F6FF"/>
                          </a:solidFill>
                          <a:latin typeface="Calibri"/>
                        </a:rPr>
                        <a:t>65536 - 50000 / 1.0851 = 19456</a:t>
                      </a:r>
                    </a:p>
                  </a:txBody>
                  <a:tcPr marL="73152" marR="73152" marT="27432" marB="27432" anchor="ctr">
                    <a:solidFill>
                      <a:srgbClr val="17243E"/>
                    </a:solidFill>
                  </a:tcPr>
                </a:tc>
                <a:tc>
                  <a:txBody>
                    <a:bodyPr wrap="square"/>
                    <a:lstStyle/>
                    <a:p>
                      <a:pPr algn="l"/>
                      <a:r>
                        <a:rPr sz="1000" b="0">
                          <a:solidFill>
                            <a:srgbClr val="F2F6FF"/>
                          </a:solidFill>
                          <a:latin typeface="Calibri"/>
                        </a:rPr>
                        <a:t>20 ticks = 1 s</a:t>
                      </a:r>
                    </a:p>
                  </a:txBody>
                  <a:tcPr marL="73152" marR="73152" marT="27432" marB="27432" anchor="ctr">
                    <a:solidFill>
                      <a:srgbClr val="17243E"/>
                    </a:solidFill>
                  </a:tcPr>
                </a:tc>
              </a:tr>
              <a:tr h="314960">
                <a:tc>
                  <a:txBody>
                    <a:bodyPr wrap="square"/>
                    <a:lstStyle/>
                    <a:p>
                      <a:pPr algn="l"/>
                      <a:r>
                        <a:rPr sz="1000" b="0">
                          <a:solidFill>
                            <a:srgbClr val="F2F6FF"/>
                          </a:solidFill>
                          <a:latin typeface="Calibri"/>
                        </a:rPr>
                        <a:t>1 kHz output</a:t>
                      </a:r>
                    </a:p>
                  </a:txBody>
                  <a:tcPr marL="73152" marR="73152" marT="27432" marB="27432" anchor="ctr">
                    <a:solidFill>
                      <a:srgbClr val="1E2E4E"/>
                    </a:solidFill>
                  </a:tcPr>
                </a:tc>
                <a:tc>
                  <a:txBody>
                    <a:bodyPr wrap="square"/>
                    <a:lstStyle/>
                    <a:p>
                      <a:pPr algn="l"/>
                      <a:r>
                        <a:rPr sz="1000" b="0">
                          <a:solidFill>
                            <a:srgbClr val="F2F6FF"/>
                          </a:solidFill>
                          <a:latin typeface="Calibri"/>
                        </a:rPr>
                        <a:t>TH0 = FEH, TL0 = 34H</a:t>
                      </a:r>
                    </a:p>
                  </a:txBody>
                  <a:tcPr marL="73152" marR="73152" marT="27432" marB="27432" anchor="ctr">
                    <a:solidFill>
                      <a:srgbClr val="1E2E4E"/>
                    </a:solidFill>
                  </a:tcPr>
                </a:tc>
                <a:tc>
                  <a:txBody>
                    <a:bodyPr wrap="square"/>
                    <a:lstStyle/>
                    <a:p>
                      <a:pPr algn="l"/>
                      <a:r>
                        <a:rPr sz="1000" b="0">
                          <a:solidFill>
                            <a:srgbClr val="F2F6FF"/>
                          </a:solidFill>
                          <a:latin typeface="Calibri"/>
                        </a:rPr>
                        <a:t>65536 - 500 / 1.0851 = 65076</a:t>
                      </a:r>
                    </a:p>
                  </a:txBody>
                  <a:tcPr marL="73152" marR="73152" marT="27432" marB="27432" anchor="ctr">
                    <a:solidFill>
                      <a:srgbClr val="1E2E4E"/>
                    </a:solidFill>
                  </a:tcPr>
                </a:tc>
                <a:tc>
                  <a:txBody>
                    <a:bodyPr wrap="square"/>
                    <a:lstStyle/>
                    <a:p>
                      <a:pPr algn="l"/>
                      <a:r>
                        <a:rPr sz="1000" b="0">
                          <a:solidFill>
                            <a:srgbClr val="F2F6FF"/>
                          </a:solidFill>
                          <a:latin typeface="Calibri"/>
                        </a:rPr>
                        <a:t>1001.7 Hz</a:t>
                      </a:r>
                    </a:p>
                  </a:txBody>
                  <a:tcPr marL="73152" marR="73152" marT="27432" marB="27432" anchor="ctr">
                    <a:solidFill>
                      <a:srgbClr val="1E2E4E"/>
                    </a:solidFill>
                  </a:tcPr>
                </a:tc>
              </a:tr>
              <a:tr h="314960">
                <a:tc>
                  <a:txBody>
                    <a:bodyPr wrap="square"/>
                    <a:lstStyle/>
                    <a:p>
                      <a:pPr algn="l"/>
                      <a:r>
                        <a:rPr sz="1000" b="0">
                          <a:solidFill>
                            <a:srgbClr val="F2F6FF"/>
                          </a:solidFill>
                          <a:latin typeface="Calibri"/>
                        </a:rPr>
                        <a:t>Bus strobe width</a:t>
                      </a:r>
                    </a:p>
                  </a:txBody>
                  <a:tcPr marL="73152" marR="73152" marT="27432" marB="27432" anchor="ctr">
                    <a:solidFill>
                      <a:srgbClr val="17243E"/>
                    </a:solidFill>
                  </a:tcPr>
                </a:tc>
                <a:tc>
                  <a:txBody>
                    <a:bodyPr wrap="square"/>
                    <a:lstStyle/>
                    <a:p>
                      <a:pPr algn="l"/>
                      <a:r>
                        <a:rPr sz="1000" b="0">
                          <a:solidFill>
                            <a:srgbClr val="F2F6FF"/>
                          </a:solidFill>
                          <a:latin typeface="Calibri"/>
                        </a:rPr>
                        <a:t>8 NOPs</a:t>
                      </a:r>
                    </a:p>
                  </a:txBody>
                  <a:tcPr marL="73152" marR="73152" marT="27432" marB="27432" anchor="ctr">
                    <a:solidFill>
                      <a:srgbClr val="17243E"/>
                    </a:solidFill>
                  </a:tcPr>
                </a:tc>
                <a:tc>
                  <a:txBody>
                    <a:bodyPr wrap="square"/>
                    <a:lstStyle/>
                    <a:p>
                      <a:pPr algn="l"/>
                      <a:r>
                        <a:rPr sz="1000" b="0">
                          <a:solidFill>
                            <a:srgbClr val="F2F6FF"/>
                          </a:solidFill>
                          <a:latin typeface="Calibri"/>
                        </a:rPr>
                        <a:t>8 x 1.0851 us</a:t>
                      </a:r>
                    </a:p>
                  </a:txBody>
                  <a:tcPr marL="73152" marR="73152" marT="27432" marB="27432" anchor="ctr">
                    <a:solidFill>
                      <a:srgbClr val="17243E"/>
                    </a:solidFill>
                  </a:tcPr>
                </a:tc>
                <a:tc>
                  <a:txBody>
                    <a:bodyPr wrap="square"/>
                    <a:lstStyle/>
                    <a:p>
                      <a:pPr algn="l"/>
                      <a:r>
                        <a:rPr sz="1000" b="0">
                          <a:solidFill>
                            <a:srgbClr val="F2F6FF"/>
                          </a:solidFill>
                          <a:latin typeface="Calibri"/>
                        </a:rPr>
                        <a:t>8.7 us, above all minimums</a:t>
                      </a:r>
                    </a:p>
                  </a:txBody>
                  <a:tcPr marL="73152" marR="73152" marT="27432" marB="27432" anchor="ctr">
                    <a:solidFill>
                      <a:srgbClr val="17243E"/>
                    </a:solidFill>
                  </a:tcPr>
                </a:tc>
              </a:tr>
              <a:tr h="314960">
                <a:tc>
                  <a:txBody>
                    <a:bodyPr wrap="square"/>
                    <a:lstStyle/>
                    <a:p>
                      <a:pPr algn="l"/>
                      <a:r>
                        <a:rPr sz="1000" b="0">
                          <a:solidFill>
                            <a:srgbClr val="F2F6FF"/>
                          </a:solidFill>
                          <a:latin typeface="Calibri"/>
                        </a:rPr>
                        <a:t>LCD command wait</a:t>
                      </a:r>
                    </a:p>
                  </a:txBody>
                  <a:tcPr marL="73152" marR="73152" marT="27432" marB="27432" anchor="ctr">
                    <a:solidFill>
                      <a:srgbClr val="1E2E4E"/>
                    </a:solidFill>
                  </a:tcPr>
                </a:tc>
                <a:tc>
                  <a:txBody>
                    <a:bodyPr wrap="square"/>
                    <a:lstStyle/>
                    <a:p>
                      <a:pPr algn="l"/>
                      <a:r>
                        <a:rPr sz="1000" b="0">
                          <a:solidFill>
                            <a:srgbClr val="F2F6FF"/>
                          </a:solidFill>
                          <a:latin typeface="Calibri"/>
                        </a:rPr>
                        <a:t>delay_ms(2)</a:t>
                      </a:r>
                    </a:p>
                  </a:txBody>
                  <a:tcPr marL="73152" marR="73152" marT="27432" marB="27432" anchor="ctr">
                    <a:solidFill>
                      <a:srgbClr val="1E2E4E"/>
                    </a:solidFill>
                  </a:tcPr>
                </a:tc>
                <a:tc>
                  <a:txBody>
                    <a:bodyPr wrap="square"/>
                    <a:lstStyle/>
                    <a:p>
                      <a:pPr algn="l"/>
                      <a:r>
                        <a:rPr sz="1000" b="0">
                          <a:solidFill>
                            <a:srgbClr val="F2F6FF"/>
                          </a:solidFill>
                          <a:latin typeface="Calibri"/>
                        </a:rPr>
                        <a:t>calibrated DJNZ loop</a:t>
                      </a:r>
                    </a:p>
                  </a:txBody>
                  <a:tcPr marL="73152" marR="73152" marT="27432" marB="27432" anchor="ctr">
                    <a:solidFill>
                      <a:srgbClr val="1E2E4E"/>
                    </a:solidFill>
                  </a:tcPr>
                </a:tc>
                <a:tc>
                  <a:txBody>
                    <a:bodyPr wrap="square"/>
                    <a:lstStyle/>
                    <a:p>
                      <a:pPr algn="l"/>
                      <a:r>
                        <a:rPr sz="1000" b="0">
                          <a:solidFill>
                            <a:srgbClr val="F2F6FF"/>
                          </a:solidFill>
                          <a:latin typeface="Calibri"/>
                        </a:rPr>
                        <a:t>covers clear and home</a:t>
                      </a:r>
                    </a:p>
                  </a:txBody>
                  <a:tcPr marL="73152" marR="73152" marT="27432" marB="27432" anchor="ctr">
                    <a:solidFill>
                      <a:srgbClr val="1E2E4E"/>
                    </a:solidFill>
                  </a:tcPr>
                </a:tc>
              </a:tr>
              <a:tr h="314960">
                <a:tc>
                  <a:txBody>
                    <a:bodyPr wrap="square"/>
                    <a:lstStyle/>
                    <a:p>
                      <a:pPr algn="l"/>
                      <a:r>
                        <a:rPr sz="1000" b="0">
                          <a:solidFill>
                            <a:srgbClr val="F2F6FF"/>
                          </a:solidFill>
                          <a:latin typeface="Calibri"/>
                        </a:rPr>
                        <a:t>Switch debounce</a:t>
                      </a:r>
                    </a:p>
                  </a:txBody>
                  <a:tcPr marL="73152" marR="73152" marT="27432" marB="27432" anchor="ctr">
                    <a:solidFill>
                      <a:srgbClr val="17243E"/>
                    </a:solidFill>
                  </a:tcPr>
                </a:tc>
                <a:tc>
                  <a:txBody>
                    <a:bodyPr wrap="square"/>
                    <a:lstStyle/>
                    <a:p>
                      <a:pPr algn="l"/>
                      <a:r>
                        <a:rPr sz="1000" b="0">
                          <a:solidFill>
                            <a:srgbClr val="F2F6FF"/>
                          </a:solidFill>
                          <a:latin typeface="Calibri"/>
                        </a:rPr>
                        <a:t>delay_ms(5)</a:t>
                      </a:r>
                    </a:p>
                  </a:txBody>
                  <a:tcPr marL="73152" marR="73152" marT="27432" marB="27432" anchor="ctr">
                    <a:solidFill>
                      <a:srgbClr val="17243E"/>
                    </a:solidFill>
                  </a:tcPr>
                </a:tc>
                <a:tc>
                  <a:txBody>
                    <a:bodyPr wrap="square"/>
                    <a:lstStyle/>
                    <a:p>
                      <a:pPr algn="l"/>
                      <a:r>
                        <a:rPr sz="1000" b="0">
                          <a:solidFill>
                            <a:srgbClr val="F2F6FF"/>
                          </a:solidFill>
                          <a:latin typeface="Calibri"/>
                        </a:rPr>
                        <a:t>two consecutive equal samples</a:t>
                      </a:r>
                    </a:p>
                  </a:txBody>
                  <a:tcPr marL="73152" marR="73152" marT="27432" marB="27432" anchor="ctr">
                    <a:solidFill>
                      <a:srgbClr val="17243E"/>
                    </a:solidFill>
                  </a:tcPr>
                </a:tc>
                <a:tc>
                  <a:txBody>
                    <a:bodyPr wrap="square"/>
                    <a:lstStyle/>
                    <a:p>
                      <a:pPr algn="l"/>
                      <a:r>
                        <a:rPr sz="1000" b="0">
                          <a:solidFill>
                            <a:srgbClr val="F2F6FF"/>
                          </a:solidFill>
                          <a:latin typeface="Calibri"/>
                        </a:rPr>
                        <a:t>1 to 10 ms bounce removed</a:t>
                      </a:r>
                    </a:p>
                  </a:txBody>
                  <a:tcPr marL="73152" marR="73152" marT="27432" marB="27432" anchor="ctr">
                    <a:solidFill>
                      <a:srgbClr val="17243E"/>
                    </a:solidFill>
                  </a:tcPr>
                </a:tc>
              </a:tr>
              <a:tr h="314960">
                <a:tc>
                  <a:txBody>
                    <a:bodyPr wrap="square"/>
                    <a:lstStyle/>
                    <a:p>
                      <a:pPr algn="l"/>
                      <a:r>
                        <a:rPr sz="1000" b="0">
                          <a:solidFill>
                            <a:srgbClr val="F2F6FF"/>
                          </a:solidFill>
                          <a:latin typeface="Calibri"/>
                        </a:rPr>
                        <a:t>LM35 conversion</a:t>
                      </a:r>
                    </a:p>
                  </a:txBody>
                  <a:tcPr marL="73152" marR="73152" marT="27432" marB="27432" anchor="ctr">
                    <a:solidFill>
                      <a:srgbClr val="1E2E4E"/>
                    </a:solidFill>
                  </a:tcPr>
                </a:tc>
                <a:tc>
                  <a:txBody>
                    <a:bodyPr wrap="square"/>
                    <a:lstStyle/>
                    <a:p>
                      <a:pPr algn="l"/>
                      <a:r>
                        <a:rPr sz="1000" b="0">
                          <a:solidFill>
                            <a:srgbClr val="F2F6FF"/>
                          </a:solidFill>
                          <a:latin typeface="Calibri"/>
                        </a:rPr>
                        <a:t>T = raw x 25 / 32</a:t>
                      </a:r>
                    </a:p>
                  </a:txBody>
                  <a:tcPr marL="73152" marR="73152" marT="27432" marB="27432" anchor="ctr">
                    <a:solidFill>
                      <a:srgbClr val="1E2E4E"/>
                    </a:solidFill>
                  </a:tcPr>
                </a:tc>
                <a:tc>
                  <a:txBody>
                    <a:bodyPr wrap="square"/>
                    <a:lstStyle/>
                    <a:p>
                      <a:pPr algn="l"/>
                      <a:r>
                        <a:rPr sz="1000" b="0">
                          <a:solidFill>
                            <a:srgbClr val="F2F6FF"/>
                          </a:solidFill>
                          <a:latin typeface="Calibri"/>
                        </a:rPr>
                        <a:t>raw x 7.8125 mV / 10 mV</a:t>
                      </a:r>
                    </a:p>
                  </a:txBody>
                  <a:tcPr marL="73152" marR="73152" marT="27432" marB="27432" anchor="ctr">
                    <a:solidFill>
                      <a:srgbClr val="1E2E4E"/>
                    </a:solidFill>
                  </a:tcPr>
                </a:tc>
                <a:tc>
                  <a:txBody>
                    <a:bodyPr wrap="square"/>
                    <a:lstStyle/>
                    <a:p>
                      <a:pPr algn="l"/>
                      <a:r>
                        <a:rPr sz="1000" b="0">
                          <a:solidFill>
                            <a:srgbClr val="F2F6FF"/>
                          </a:solidFill>
                          <a:latin typeface="Calibri"/>
                        </a:rPr>
                        <a:t>0.78 degree C per step</a:t>
                      </a:r>
                    </a:p>
                  </a:txBody>
                  <a:tcPr marL="73152" marR="73152" marT="27432" marB="27432" anchor="ctr">
                    <a:solidFill>
                      <a:srgbClr val="1E2E4E"/>
                    </a:solidFill>
                  </a:tcPr>
                </a:tc>
              </a:tr>
            </a:tbl>
          </a:graphicData>
        </a:graphic>
      </p:graphicFrame>
      <p:sp>
        <p:nvSpPr>
          <p:cNvPr id="12" name="Rounded Rectangle 11"/>
          <p:cNvSpPr/>
          <p:nvPr/>
        </p:nvSpPr>
        <p:spPr>
          <a:xfrm>
            <a:off x="566928" y="4553712"/>
            <a:ext cx="5440680" cy="1737360"/>
          </a:xfrm>
          <a:prstGeom prst="roundRect">
            <a:avLst>
              <a:gd name="adj" fmla="val 6000"/>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4681728"/>
            <a:ext cx="5074920" cy="219456"/>
          </a:xfrm>
          <a:prstGeom prst="rect">
            <a:avLst/>
          </a:prstGeom>
          <a:noFill/>
        </p:spPr>
        <p:txBody>
          <a:bodyPr wrap="square" lIns="0" rIns="0" tIns="0" bIns="0" anchor="t">
            <a:spAutoFit/>
          </a:bodyPr>
          <a:lstStyle/>
          <a:p>
            <a:pPr algn="l">
              <a:lnSpc>
                <a:spcPct val="100000"/>
              </a:lnSpc>
              <a:spcAft>
                <a:spcPts val="0"/>
              </a:spcAft>
            </a:pPr>
            <a:r>
              <a:rPr sz="950" b="1" i="0">
                <a:solidFill>
                  <a:srgbClr val="6F81A5"/>
                </a:solidFill>
                <a:latin typeface="Calibri"/>
              </a:rPr>
              <a:t>DISPLAY REFRESH INTERRUPT</a:t>
            </a:r>
          </a:p>
        </p:txBody>
      </p:sp>
      <p:sp>
        <p:nvSpPr>
          <p:cNvPr id="14" name="TextBox 13"/>
          <p:cNvSpPr txBox="1"/>
          <p:nvPr/>
        </p:nvSpPr>
        <p:spPr>
          <a:xfrm>
            <a:off x="768096" y="4937760"/>
            <a:ext cx="5074920" cy="1261872"/>
          </a:xfrm>
          <a:prstGeom prst="rect">
            <a:avLst/>
          </a:prstGeom>
          <a:noFill/>
        </p:spPr>
        <p:txBody>
          <a:bodyPr wrap="square" lIns="0" rIns="0" tIns="0" bIns="0" anchor="t">
            <a:spAutoFit/>
          </a:bodyPr>
          <a:lstStyle/>
          <a:p>
            <a:pPr algn="l">
              <a:lnSpc>
                <a:spcPct val="114000"/>
              </a:lnSpc>
              <a:spcAft>
                <a:spcPts val="0"/>
              </a:spcAft>
            </a:pPr>
            <a:r>
              <a:rPr sz="1000" b="0" i="0">
                <a:solidFill>
                  <a:srgbClr val="CFE0FF"/>
                </a:solidFill>
                <a:latin typeface="Consolas"/>
              </a:rPr>
              <a:t>void timer0_isr(void) interrupt 1</a:t>
            </a:r>
          </a:p>
          <a:p>
            <a:pPr algn="l">
              <a:lnSpc>
                <a:spcPct val="114000"/>
              </a:lnSpc>
              <a:spcAft>
                <a:spcPts val="0"/>
              </a:spcAft>
            </a:pPr>
            <a:r>
              <a:rPr sz="1000" b="0" i="0">
                <a:solidFill>
                  <a:srgbClr val="CFE0FF"/>
                </a:solidFill>
                <a:latin typeface="Consolas"/>
              </a:rPr>
              <a:t>{</a:t>
            </a:r>
          </a:p>
          <a:p>
            <a:pPr algn="l">
              <a:lnSpc>
                <a:spcPct val="114000"/>
              </a:lnSpc>
              <a:spcAft>
                <a:spcPts val="0"/>
              </a:spcAft>
            </a:pPr>
            <a:r>
              <a:rPr sz="1000" b="0" i="0">
                <a:solidFill>
                  <a:srgbClr val="CFE0FF"/>
                </a:solidFill>
                <a:latin typeface="Consolas"/>
              </a:rPr>
              <a:t>    TH0 = TH0_5MS;      /* EEH  */</a:t>
            </a:r>
          </a:p>
          <a:p>
            <a:pPr algn="l">
              <a:lnSpc>
                <a:spcPct val="114000"/>
              </a:lnSpc>
              <a:spcAft>
                <a:spcPts val="0"/>
              </a:spcAft>
            </a:pPr>
            <a:r>
              <a:rPr sz="1000" b="0" i="0">
                <a:solidFill>
                  <a:srgbClr val="CFE0FF"/>
                </a:solidFill>
                <a:latin typeface="Consolas"/>
              </a:rPr>
              <a:t>    TL0 = TL0_5MS;      /* 00H  */</a:t>
            </a:r>
          </a:p>
          <a:p>
            <a:pPr algn="l">
              <a:lnSpc>
                <a:spcPct val="114000"/>
              </a:lnSpc>
              <a:spcAft>
                <a:spcPts val="0"/>
              </a:spcAft>
            </a:pPr>
            <a:r>
              <a:rPr sz="1000" b="0" i="0">
                <a:solidFill>
                  <a:srgbClr val="CFE0FF"/>
                </a:solidFill>
                <a:latin typeface="Consolas"/>
              </a:rPr>
              <a:t>    seg_tick();</a:t>
            </a:r>
          </a:p>
          <a:p>
            <a:pPr algn="l">
              <a:lnSpc>
                <a:spcPct val="114000"/>
              </a:lnSpc>
              <a:spcAft>
                <a:spcPts val="0"/>
              </a:spcAft>
            </a:pPr>
            <a:r>
              <a:rPr sz="1000" b="0" i="0">
                <a:solidFill>
                  <a:srgbClr val="CFE0FF"/>
                </a:solidFill>
                <a:latin typeface="Consolas"/>
              </a:rPr>
              <a:t>    ms_ticks++;</a:t>
            </a:r>
          </a:p>
          <a:p>
            <a:pPr algn="l">
              <a:lnSpc>
                <a:spcPct val="114000"/>
              </a:lnSpc>
              <a:spcAft>
                <a:spcPts val="0"/>
              </a:spcAft>
            </a:pPr>
            <a:r>
              <a:rPr sz="1000" b="0" i="0">
                <a:solidFill>
                  <a:srgbClr val="CFE0FF"/>
                </a:solidFill>
                <a:latin typeface="Consolas"/>
              </a:rPr>
              <a:t>}</a:t>
            </a:r>
          </a:p>
        </p:txBody>
      </p:sp>
      <p:sp>
        <p:nvSpPr>
          <p:cNvPr id="15" name="Rounded Rectangle 14"/>
          <p:cNvSpPr/>
          <p:nvPr/>
        </p:nvSpPr>
        <p:spPr>
          <a:xfrm>
            <a:off x="6181344" y="4553712"/>
            <a:ext cx="5440680" cy="173736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4553712"/>
            <a:ext cx="50292" cy="173736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4718304"/>
            <a:ext cx="5029200"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Calibration note</a:t>
            </a:r>
          </a:p>
        </p:txBody>
      </p:sp>
      <p:sp>
        <p:nvSpPr>
          <p:cNvPr id="18" name="TextBox 17"/>
          <p:cNvSpPr txBox="1"/>
          <p:nvPr/>
        </p:nvSpPr>
        <p:spPr>
          <a:xfrm>
            <a:off x="6419088" y="5102352"/>
            <a:ext cx="5029200" cy="1051560"/>
          </a:xfrm>
          <a:prstGeom prst="rect">
            <a:avLst/>
          </a:prstGeom>
          <a:noFill/>
        </p:spPr>
        <p:txBody>
          <a:bodyPr wrap="square" lIns="0" rIns="0" tIns="0" bIns="0" anchor="t">
            <a:spAutoFit/>
          </a:bodyPr>
          <a:lstStyle/>
          <a:p>
            <a:pPr algn="l">
              <a:lnSpc>
                <a:spcPct val="118000"/>
              </a:lnSpc>
              <a:spcAft>
                <a:spcPts val="0"/>
              </a:spcAft>
            </a:pPr>
            <a:r>
              <a:rPr sz="1050" b="0" i="0">
                <a:solidFill>
                  <a:srgbClr val="A9B8D6"/>
                </a:solidFill>
                <a:latin typeface="Calibri"/>
              </a:rPr>
              <a:t>delay_ms is written for 11.0592 MHz and assumes the loop compiles to a DJNZ. Verify it once by timing program 05, which uses the hardware timer, against program 01, which uses delay_ms. If they disagree, trim the two literal 250 values in delay_1ms and leave the timer reloads alone.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BUILD PROCEDURE</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Ten stages, each with a pass measurement</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Nothing is wired on top of a stage that has not been measured</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21</a:t>
            </a:r>
          </a:p>
        </p:txBody>
      </p:sp>
      <p:graphicFrame>
        <p:nvGraphicFramePr>
          <p:cNvPr id="11" name="Table 10"/>
          <p:cNvGraphicFramePr>
            <a:graphicFrameLocks noGrp="1"/>
          </p:cNvGraphicFramePr>
          <p:nvPr/>
        </p:nvGraphicFramePr>
        <p:xfrm>
          <a:off x="566928" y="1645920"/>
          <a:ext cx="7406639" cy="3794760"/>
        </p:xfrm>
        <a:graphic>
          <a:graphicData uri="http://schemas.openxmlformats.org/drawingml/2006/table">
            <a:tbl>
              <a:tblPr firstRow="1">
                <a:tableStyleId>{5C22544A-7EE6-4342-B048-85BDC9FD1C3A}</a:tableStyleId>
              </a:tblPr>
              <a:tblGrid>
                <a:gridCol w="640080"/>
                <a:gridCol w="3017520"/>
                <a:gridCol w="3749039"/>
              </a:tblGrid>
              <a:tr h="344978">
                <a:tc>
                  <a:txBody>
                    <a:bodyPr wrap="square"/>
                    <a:lstStyle/>
                    <a:p>
                      <a:pPr algn="ctr"/>
                      <a:r>
                        <a:rPr sz="1000" b="1">
                          <a:solidFill>
                            <a:srgbClr val="CFE0FF"/>
                          </a:solidFill>
                          <a:latin typeface="Calibri"/>
                        </a:rPr>
                        <a:t>Stage</a:t>
                      </a:r>
                    </a:p>
                  </a:txBody>
                  <a:tcPr marL="73152" marR="73152" marT="27432" marB="27432" anchor="ctr">
                    <a:solidFill>
                      <a:srgbClr val="2A3C63"/>
                    </a:solidFill>
                  </a:tcPr>
                </a:tc>
                <a:tc>
                  <a:txBody>
                    <a:bodyPr wrap="square"/>
                    <a:lstStyle/>
                    <a:p>
                      <a:pPr algn="l"/>
                      <a:r>
                        <a:rPr sz="1000" b="1">
                          <a:solidFill>
                            <a:srgbClr val="CFE0FF"/>
                          </a:solidFill>
                          <a:latin typeface="Calibri"/>
                        </a:rPr>
                        <a:t>What is built</a:t>
                      </a:r>
                    </a:p>
                  </a:txBody>
                  <a:tcPr marL="73152" marR="73152" marT="27432" marB="27432" anchor="ctr">
                    <a:solidFill>
                      <a:srgbClr val="2A3C63"/>
                    </a:solidFill>
                  </a:tcPr>
                </a:tc>
                <a:tc>
                  <a:txBody>
                    <a:bodyPr wrap="square"/>
                    <a:lstStyle/>
                    <a:p>
                      <a:pPr algn="l"/>
                      <a:r>
                        <a:rPr sz="1000" b="1">
                          <a:solidFill>
                            <a:srgbClr val="CFE0FF"/>
                          </a:solidFill>
                          <a:latin typeface="Calibri"/>
                        </a:rPr>
                        <a:t>Measurement that must pass</a:t>
                      </a:r>
                    </a:p>
                  </a:txBody>
                  <a:tcPr marL="73152" marR="73152" marT="27432" marB="27432" anchor="ctr">
                    <a:solidFill>
                      <a:srgbClr val="2A3C63"/>
                    </a:solidFill>
                  </a:tcPr>
                </a:tc>
              </a:tr>
              <a:tr h="344978">
                <a:tc>
                  <a:txBody>
                    <a:bodyPr wrap="square"/>
                    <a:lstStyle/>
                    <a:p>
                      <a:pPr algn="ctr"/>
                      <a:r>
                        <a:rPr sz="1000" b="0">
                          <a:solidFill>
                            <a:srgbClr val="F2F6FF"/>
                          </a:solidFill>
                          <a:latin typeface="Calibri"/>
                        </a:rPr>
                        <a:t>1</a:t>
                      </a:r>
                    </a:p>
                  </a:txBody>
                  <a:tcPr marL="73152" marR="73152" marT="27432" marB="27432" anchor="ctr">
                    <a:solidFill>
                      <a:srgbClr val="17243E"/>
                    </a:solidFill>
                  </a:tcPr>
                </a:tc>
                <a:tc>
                  <a:txBody>
                    <a:bodyPr wrap="square"/>
                    <a:lstStyle/>
                    <a:p>
                      <a:pPr algn="l"/>
                      <a:r>
                        <a:rPr sz="1000" b="0">
                          <a:solidFill>
                            <a:srgbClr val="F2F6FF"/>
                          </a:solidFill>
                          <a:latin typeface="Calibri"/>
                        </a:rPr>
                        <a:t>Power: jack, 1N4007, 7805, capacitors</a:t>
                      </a:r>
                    </a:p>
                  </a:txBody>
                  <a:tcPr marL="73152" marR="73152" marT="27432" marB="27432" anchor="ctr">
                    <a:solidFill>
                      <a:srgbClr val="17243E"/>
                    </a:solidFill>
                  </a:tcPr>
                </a:tc>
                <a:tc>
                  <a:txBody>
                    <a:bodyPr wrap="square"/>
                    <a:lstStyle/>
                    <a:p>
                      <a:pPr algn="l"/>
                      <a:r>
                        <a:rPr sz="1000" b="0">
                          <a:solidFill>
                            <a:srgbClr val="F2F6FF"/>
                          </a:solidFill>
                          <a:latin typeface="Calibri"/>
                        </a:rPr>
                        <a:t>5.00 V plus or minus 0.15 V at the regulator output</a:t>
                      </a:r>
                    </a:p>
                  </a:txBody>
                  <a:tcPr marL="73152" marR="73152" marT="27432" marB="27432" anchor="ctr">
                    <a:solidFill>
                      <a:srgbClr val="17243E"/>
                    </a:solidFill>
                  </a:tcPr>
                </a:tc>
              </a:tr>
              <a:tr h="344978">
                <a:tc>
                  <a:txBody>
                    <a:bodyPr wrap="square"/>
                    <a:lstStyle/>
                    <a:p>
                      <a:pPr algn="ctr"/>
                      <a:r>
                        <a:rPr sz="1000" b="0">
                          <a:solidFill>
                            <a:srgbClr val="F2F6FF"/>
                          </a:solidFill>
                          <a:latin typeface="Calibri"/>
                        </a:rPr>
                        <a:t>2</a:t>
                      </a:r>
                    </a:p>
                  </a:txBody>
                  <a:tcPr marL="73152" marR="73152" marT="27432" marB="27432" anchor="ctr">
                    <a:solidFill>
                      <a:srgbClr val="1E2E4E"/>
                    </a:solidFill>
                  </a:tcPr>
                </a:tc>
                <a:tc>
                  <a:txBody>
                    <a:bodyPr wrap="square"/>
                    <a:lstStyle/>
                    <a:p>
                      <a:pPr algn="l"/>
                      <a:r>
                        <a:rPr sz="1000" b="0">
                          <a:solidFill>
                            <a:srgbClr val="F2F6FF"/>
                          </a:solidFill>
                          <a:latin typeface="Calibri"/>
                        </a:rPr>
                        <a:t>Minimum system: socket, crystal, reset, EA</a:t>
                      </a:r>
                    </a:p>
                  </a:txBody>
                  <a:tcPr marL="73152" marR="73152" marT="27432" marB="27432" anchor="ctr">
                    <a:solidFill>
                      <a:srgbClr val="1E2E4E"/>
                    </a:solidFill>
                  </a:tcPr>
                </a:tc>
                <a:tc>
                  <a:txBody>
                    <a:bodyPr wrap="square"/>
                    <a:lstStyle/>
                    <a:p>
                      <a:pPr algn="l"/>
                      <a:r>
                        <a:rPr sz="1000" b="0">
                          <a:solidFill>
                            <a:srgbClr val="F2F6FF"/>
                          </a:solidFill>
                          <a:latin typeface="Calibri"/>
                        </a:rPr>
                        <a:t>1.843 MHz on ALE, RST below 0.5 V when idle</a:t>
                      </a:r>
                    </a:p>
                  </a:txBody>
                  <a:tcPr marL="73152" marR="73152" marT="27432" marB="27432" anchor="ctr">
                    <a:solidFill>
                      <a:srgbClr val="1E2E4E"/>
                    </a:solidFill>
                  </a:tcPr>
                </a:tc>
              </a:tr>
              <a:tr h="344978">
                <a:tc>
                  <a:txBody>
                    <a:bodyPr wrap="square"/>
                    <a:lstStyle/>
                    <a:p>
                      <a:pPr algn="ctr"/>
                      <a:r>
                        <a:rPr sz="1000" b="0">
                          <a:solidFill>
                            <a:srgbClr val="F2F6FF"/>
                          </a:solidFill>
                          <a:latin typeface="Calibri"/>
                        </a:rPr>
                        <a:t>3</a:t>
                      </a:r>
                    </a:p>
                  </a:txBody>
                  <a:tcPr marL="73152" marR="73152" marT="27432" marB="27432" anchor="ctr">
                    <a:solidFill>
                      <a:srgbClr val="17243E"/>
                    </a:solidFill>
                  </a:tcPr>
                </a:tc>
                <a:tc>
                  <a:txBody>
                    <a:bodyPr wrap="square"/>
                    <a:lstStyle/>
                    <a:p>
                      <a:pPr algn="l"/>
                      <a:r>
                        <a:rPr sz="1000" b="0">
                          <a:solidFill>
                            <a:srgbClr val="F2F6FF"/>
                          </a:solidFill>
                          <a:latin typeface="Calibri"/>
                        </a:rPr>
                        <a:t>LED latch U2 and the eight LEDs</a:t>
                      </a:r>
                    </a:p>
                  </a:txBody>
                  <a:tcPr marL="73152" marR="73152" marT="27432" marB="27432" anchor="ctr">
                    <a:solidFill>
                      <a:srgbClr val="17243E"/>
                    </a:solidFill>
                  </a:tcPr>
                </a:tc>
                <a:tc>
                  <a:txBody>
                    <a:bodyPr wrap="square"/>
                    <a:lstStyle/>
                    <a:p>
                      <a:pPr algn="l"/>
                      <a:r>
                        <a:rPr sz="1000" b="0">
                          <a:solidFill>
                            <a:srgbClr val="F2F6FF"/>
                          </a:solidFill>
                          <a:latin typeface="Calibri"/>
                        </a:rPr>
                        <a:t>all eight blink at 1 Hz, 6 to 7 mA each</a:t>
                      </a:r>
                    </a:p>
                  </a:txBody>
                  <a:tcPr marL="73152" marR="73152" marT="27432" marB="27432" anchor="ctr">
                    <a:solidFill>
                      <a:srgbClr val="17243E"/>
                    </a:solidFill>
                  </a:tcPr>
                </a:tc>
              </a:tr>
              <a:tr h="344978">
                <a:tc>
                  <a:txBody>
                    <a:bodyPr wrap="square"/>
                    <a:lstStyle/>
                    <a:p>
                      <a:pPr algn="ctr"/>
                      <a:r>
                        <a:rPr sz="1000" b="0">
                          <a:solidFill>
                            <a:srgbClr val="F2F6FF"/>
                          </a:solidFill>
                          <a:latin typeface="Calibri"/>
                        </a:rPr>
                        <a:t>4</a:t>
                      </a:r>
                    </a:p>
                  </a:txBody>
                  <a:tcPr marL="73152" marR="73152" marT="27432" marB="27432" anchor="ctr">
                    <a:solidFill>
                      <a:srgbClr val="1E2E4E"/>
                    </a:solidFill>
                  </a:tcPr>
                </a:tc>
                <a:tc>
                  <a:txBody>
                    <a:bodyPr wrap="square"/>
                    <a:lstStyle/>
                    <a:p>
                      <a:pPr algn="l"/>
                      <a:r>
                        <a:rPr sz="1000" b="0">
                          <a:solidFill>
                            <a:srgbClr val="F2F6FF"/>
                          </a:solidFill>
                          <a:latin typeface="Calibri"/>
                        </a:rPr>
                        <a:t>DIP switch bank and pull-ups</a:t>
                      </a:r>
                    </a:p>
                  </a:txBody>
                  <a:tcPr marL="73152" marR="73152" marT="27432" marB="27432" anchor="ctr">
                    <a:solidFill>
                      <a:srgbClr val="1E2E4E"/>
                    </a:solidFill>
                  </a:tcPr>
                </a:tc>
                <a:tc>
                  <a:txBody>
                    <a:bodyPr wrap="square"/>
                    <a:lstStyle/>
                    <a:p>
                      <a:pPr algn="l"/>
                      <a:r>
                        <a:rPr sz="1000" b="0">
                          <a:solidFill>
                            <a:srgbClr val="F2F6FF"/>
                          </a:solidFill>
                          <a:latin typeface="Calibri"/>
                        </a:rPr>
                        <a:t>P1 reads FFH open, FEH with switch 1 closed</a:t>
                      </a:r>
                    </a:p>
                  </a:txBody>
                  <a:tcPr marL="73152" marR="73152" marT="27432" marB="27432" anchor="ctr">
                    <a:solidFill>
                      <a:srgbClr val="1E2E4E"/>
                    </a:solidFill>
                  </a:tcPr>
                </a:tc>
              </a:tr>
              <a:tr h="344978">
                <a:tc>
                  <a:txBody>
                    <a:bodyPr wrap="square"/>
                    <a:lstStyle/>
                    <a:p>
                      <a:pPr algn="ctr"/>
                      <a:r>
                        <a:rPr sz="1000" b="0">
                          <a:solidFill>
                            <a:srgbClr val="F2F6FF"/>
                          </a:solidFill>
                          <a:latin typeface="Calibri"/>
                        </a:rPr>
                        <a:t>5</a:t>
                      </a:r>
                    </a:p>
                  </a:txBody>
                  <a:tcPr marL="73152" marR="73152" marT="27432" marB="27432" anchor="ctr">
                    <a:solidFill>
                      <a:srgbClr val="17243E"/>
                    </a:solidFill>
                  </a:tcPr>
                </a:tc>
                <a:tc>
                  <a:txBody>
                    <a:bodyPr wrap="square"/>
                    <a:lstStyle/>
                    <a:p>
                      <a:pPr algn="l"/>
                      <a:r>
                        <a:rPr sz="1000" b="0">
                          <a:solidFill>
                            <a:srgbClr val="F2F6FF"/>
                          </a:solidFill>
                          <a:latin typeface="Calibri"/>
                        </a:rPr>
                        <a:t>Segment latch, display, digit transistors</a:t>
                      </a:r>
                    </a:p>
                  </a:txBody>
                  <a:tcPr marL="73152" marR="73152" marT="27432" marB="27432" anchor="ctr">
                    <a:solidFill>
                      <a:srgbClr val="17243E"/>
                    </a:solidFill>
                  </a:tcPr>
                </a:tc>
                <a:tc>
                  <a:txBody>
                    <a:bodyPr wrap="square"/>
                    <a:lstStyle/>
                    <a:p>
                      <a:pPr algn="l"/>
                      <a:r>
                        <a:rPr sz="1000" b="0">
                          <a:solidFill>
                            <a:srgbClr val="F2F6FF"/>
                          </a:solidFill>
                          <a:latin typeface="Calibri"/>
                        </a:rPr>
                        <a:t>counts 00 to 99 in about 50 s</a:t>
                      </a:r>
                    </a:p>
                  </a:txBody>
                  <a:tcPr marL="73152" marR="73152" marT="27432" marB="27432" anchor="ctr">
                    <a:solidFill>
                      <a:srgbClr val="17243E"/>
                    </a:solidFill>
                  </a:tcPr>
                </a:tc>
              </a:tr>
              <a:tr h="344978">
                <a:tc>
                  <a:txBody>
                    <a:bodyPr wrap="square"/>
                    <a:lstStyle/>
                    <a:p>
                      <a:pPr algn="ctr"/>
                      <a:r>
                        <a:rPr sz="1000" b="0">
                          <a:solidFill>
                            <a:srgbClr val="F2F6FF"/>
                          </a:solidFill>
                          <a:latin typeface="Calibri"/>
                        </a:rPr>
                        <a:t>6</a:t>
                      </a:r>
                    </a:p>
                  </a:txBody>
                  <a:tcPr marL="73152" marR="73152" marT="27432" marB="27432" anchor="ctr">
                    <a:solidFill>
                      <a:srgbClr val="1E2E4E"/>
                    </a:solidFill>
                  </a:tcPr>
                </a:tc>
                <a:tc>
                  <a:txBody>
                    <a:bodyPr wrap="square"/>
                    <a:lstStyle/>
                    <a:p>
                      <a:pPr algn="l"/>
                      <a:r>
                        <a:rPr sz="1000" b="0">
                          <a:solidFill>
                            <a:srgbClr val="F2F6FF"/>
                          </a:solidFill>
                          <a:latin typeface="Calibri"/>
                        </a:rPr>
                        <a:t>MAX232, pump capacitors, DB9</a:t>
                      </a:r>
                    </a:p>
                  </a:txBody>
                  <a:tcPr marL="73152" marR="73152" marT="27432" marB="27432" anchor="ctr">
                    <a:solidFill>
                      <a:srgbClr val="1E2E4E"/>
                    </a:solidFill>
                  </a:tcPr>
                </a:tc>
                <a:tc>
                  <a:txBody>
                    <a:bodyPr wrap="square"/>
                    <a:lstStyle/>
                    <a:p>
                      <a:pPr algn="l"/>
                      <a:r>
                        <a:rPr sz="1000" b="0">
                          <a:solidFill>
                            <a:srgbClr val="F2F6FF"/>
                          </a:solidFill>
                          <a:latin typeface="Calibri"/>
                        </a:rPr>
                        <a:t>banner on the terminal, V+ about +9 V</a:t>
                      </a:r>
                    </a:p>
                  </a:txBody>
                  <a:tcPr marL="73152" marR="73152" marT="27432" marB="27432" anchor="ctr">
                    <a:solidFill>
                      <a:srgbClr val="1E2E4E"/>
                    </a:solidFill>
                  </a:tcPr>
                </a:tc>
              </a:tr>
              <a:tr h="344978">
                <a:tc>
                  <a:txBody>
                    <a:bodyPr wrap="square"/>
                    <a:lstStyle/>
                    <a:p>
                      <a:pPr algn="ctr"/>
                      <a:r>
                        <a:rPr sz="1000" b="0">
                          <a:solidFill>
                            <a:srgbClr val="F2F6FF"/>
                          </a:solidFill>
                          <a:latin typeface="Calibri"/>
                        </a:rPr>
                        <a:t>7</a:t>
                      </a:r>
                    </a:p>
                  </a:txBody>
                  <a:tcPr marL="73152" marR="73152" marT="27432" marB="27432" anchor="ctr">
                    <a:solidFill>
                      <a:srgbClr val="17243E"/>
                    </a:solidFill>
                  </a:tcPr>
                </a:tc>
                <a:tc>
                  <a:txBody>
                    <a:bodyPr wrap="square"/>
                    <a:lstStyle/>
                    <a:p>
                      <a:pPr algn="l"/>
                      <a:r>
                        <a:rPr sz="1000" b="0">
                          <a:solidFill>
                            <a:srgbClr val="F2F6FF"/>
                          </a:solidFill>
                          <a:latin typeface="Calibri"/>
                        </a:rPr>
                        <a:t>ADC0804, LM35, reference trimpot</a:t>
                      </a:r>
                    </a:p>
                  </a:txBody>
                  <a:tcPr marL="73152" marR="73152" marT="27432" marB="27432" anchor="ctr">
                    <a:solidFill>
                      <a:srgbClr val="17243E"/>
                    </a:solidFill>
                  </a:tcPr>
                </a:tc>
                <a:tc>
                  <a:txBody>
                    <a:bodyPr wrap="square"/>
                    <a:lstStyle/>
                    <a:p>
                      <a:pPr algn="l"/>
                      <a:r>
                        <a:rPr sz="1000" b="0">
                          <a:solidFill>
                            <a:srgbClr val="F2F6FF"/>
                          </a:solidFill>
                          <a:latin typeface="Calibri"/>
                        </a:rPr>
                        <a:t>pin 9 at 1.000 V, about 606 kHz on pin 4</a:t>
                      </a:r>
                    </a:p>
                  </a:txBody>
                  <a:tcPr marL="73152" marR="73152" marT="27432" marB="27432" anchor="ctr">
                    <a:solidFill>
                      <a:srgbClr val="17243E"/>
                    </a:solidFill>
                  </a:tcPr>
                </a:tc>
              </a:tr>
              <a:tr h="344978">
                <a:tc>
                  <a:txBody>
                    <a:bodyPr wrap="square"/>
                    <a:lstStyle/>
                    <a:p>
                      <a:pPr algn="ctr"/>
                      <a:r>
                        <a:rPr sz="1000" b="0">
                          <a:solidFill>
                            <a:srgbClr val="F2F6FF"/>
                          </a:solidFill>
                          <a:latin typeface="Calibri"/>
                        </a:rPr>
                        <a:t>8</a:t>
                      </a:r>
                    </a:p>
                  </a:txBody>
                  <a:tcPr marL="73152" marR="73152" marT="27432" marB="27432" anchor="ctr">
                    <a:solidFill>
                      <a:srgbClr val="1E2E4E"/>
                    </a:solidFill>
                  </a:tcPr>
                </a:tc>
                <a:tc>
                  <a:txBody>
                    <a:bodyPr wrap="square"/>
                    <a:lstStyle/>
                    <a:p>
                      <a:pPr algn="l"/>
                      <a:r>
                        <a:rPr sz="1000" b="0">
                          <a:solidFill>
                            <a:srgbClr val="F2F6FF"/>
                          </a:solidFill>
                          <a:latin typeface="Calibri"/>
                        </a:rPr>
                        <a:t>16x2 LCD and contrast pot</a:t>
                      </a:r>
                    </a:p>
                  </a:txBody>
                  <a:tcPr marL="73152" marR="73152" marT="27432" marB="27432" anchor="ctr">
                    <a:solidFill>
                      <a:srgbClr val="1E2E4E"/>
                    </a:solidFill>
                  </a:tcPr>
                </a:tc>
                <a:tc>
                  <a:txBody>
                    <a:bodyPr wrap="square"/>
                    <a:lstStyle/>
                    <a:p>
                      <a:pPr algn="l"/>
                      <a:r>
                        <a:rPr sz="1000" b="0">
                          <a:solidFill>
                            <a:srgbClr val="F2F6FF"/>
                          </a:solidFill>
                          <a:latin typeface="Calibri"/>
                        </a:rPr>
                        <a:t>temperature text and a growing bar graph</a:t>
                      </a:r>
                    </a:p>
                  </a:txBody>
                  <a:tcPr marL="73152" marR="73152" marT="27432" marB="27432" anchor="ctr">
                    <a:solidFill>
                      <a:srgbClr val="1E2E4E"/>
                    </a:solidFill>
                  </a:tcPr>
                </a:tc>
              </a:tr>
              <a:tr h="344978">
                <a:tc>
                  <a:txBody>
                    <a:bodyPr wrap="square"/>
                    <a:lstStyle/>
                    <a:p>
                      <a:pPr algn="ctr"/>
                      <a:r>
                        <a:rPr sz="1000" b="0">
                          <a:solidFill>
                            <a:srgbClr val="F2F6FF"/>
                          </a:solidFill>
                          <a:latin typeface="Calibri"/>
                        </a:rPr>
                        <a:t>9</a:t>
                      </a:r>
                    </a:p>
                  </a:txBody>
                  <a:tcPr marL="73152" marR="73152" marT="27432" marB="27432" anchor="ctr">
                    <a:solidFill>
                      <a:srgbClr val="17243E"/>
                    </a:solidFill>
                  </a:tcPr>
                </a:tc>
                <a:tc>
                  <a:txBody>
                    <a:bodyPr wrap="square"/>
                    <a:lstStyle/>
                    <a:p>
                      <a:pPr algn="l"/>
                      <a:r>
                        <a:rPr sz="1000" b="0">
                          <a:solidFill>
                            <a:srgbClr val="F2F6FF"/>
                          </a:solidFill>
                          <a:latin typeface="Calibri"/>
                        </a:rPr>
                        <a:t>Relay, buzzer, driver transistors, JP1</a:t>
                      </a:r>
                    </a:p>
                  </a:txBody>
                  <a:tcPr marL="73152" marR="73152" marT="27432" marB="27432" anchor="ctr">
                    <a:solidFill>
                      <a:srgbClr val="17243E"/>
                    </a:solidFill>
                  </a:tcPr>
                </a:tc>
                <a:tc>
                  <a:txBody>
                    <a:bodyPr wrap="square"/>
                    <a:lstStyle/>
                    <a:p>
                      <a:pPr algn="l"/>
                      <a:r>
                        <a:rPr sz="1000" b="0">
                          <a:solidFill>
                            <a:srgbClr val="F2F6FF"/>
                          </a:solidFill>
                          <a:latin typeface="Calibri"/>
                        </a:rPr>
                        <a:t>relay clicks at 40 C, buzzer above 70 C</a:t>
                      </a:r>
                    </a:p>
                  </a:txBody>
                  <a:tcPr marL="73152" marR="73152" marT="27432" marB="27432" anchor="ctr">
                    <a:solidFill>
                      <a:srgbClr val="17243E"/>
                    </a:solidFill>
                  </a:tcPr>
                </a:tc>
              </a:tr>
              <a:tr h="344980">
                <a:tc>
                  <a:txBody>
                    <a:bodyPr wrap="square"/>
                    <a:lstStyle/>
                    <a:p>
                      <a:pPr algn="ctr"/>
                      <a:r>
                        <a:rPr sz="1000" b="0">
                          <a:solidFill>
                            <a:srgbClr val="F2F6FF"/>
                          </a:solidFill>
                          <a:latin typeface="Calibri"/>
                        </a:rPr>
                        <a:t>10</a:t>
                      </a:r>
                    </a:p>
                  </a:txBody>
                  <a:tcPr marL="73152" marR="73152" marT="27432" marB="27432" anchor="ctr">
                    <a:solidFill>
                      <a:srgbClr val="1E2E4E"/>
                    </a:solidFill>
                  </a:tcPr>
                </a:tc>
                <a:tc>
                  <a:txBody>
                    <a:bodyPr wrap="square"/>
                    <a:lstStyle/>
                    <a:p>
                      <a:pPr algn="l"/>
                      <a:r>
                        <a:rPr sz="1000" b="0">
                          <a:solidFill>
                            <a:srgbClr val="F2F6FF"/>
                          </a:solidFill>
                          <a:latin typeface="Calibri"/>
                        </a:rPr>
                        <a:t>Final checkout with the self test</a:t>
                      </a:r>
                    </a:p>
                  </a:txBody>
                  <a:tcPr marL="73152" marR="73152" marT="27432" marB="27432" anchor="ctr">
                    <a:solidFill>
                      <a:srgbClr val="1E2E4E"/>
                    </a:solidFill>
                  </a:tcPr>
                </a:tc>
                <a:tc>
                  <a:txBody>
                    <a:bodyPr wrap="square"/>
                    <a:lstStyle/>
                    <a:p>
                      <a:pPr algn="l"/>
                      <a:r>
                        <a:rPr sz="1000" b="0">
                          <a:solidFill>
                            <a:srgbClr val="F2F6FF"/>
                          </a:solidFill>
                          <a:latin typeface="Calibri"/>
                        </a:rPr>
                        <a:t>every line OK, final line SELF TEST: PASS</a:t>
                      </a:r>
                    </a:p>
                  </a:txBody>
                  <a:tcPr marL="73152" marR="73152" marT="27432" marB="27432" anchor="ctr">
                    <a:solidFill>
                      <a:srgbClr val="1E2E4E"/>
                    </a:solidFill>
                  </a:tcPr>
                </a:tc>
              </a:tr>
            </a:tbl>
          </a:graphicData>
        </a:graphic>
      </p:graphicFrame>
      <p:sp>
        <p:nvSpPr>
          <p:cNvPr id="12" name="Rounded Rectangle 11"/>
          <p:cNvSpPr/>
          <p:nvPr/>
        </p:nvSpPr>
        <p:spPr>
          <a:xfrm>
            <a:off x="8156448" y="1645920"/>
            <a:ext cx="3465576" cy="3794760"/>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56448" y="1645920"/>
            <a:ext cx="50292" cy="379476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94192" y="1810512"/>
            <a:ext cx="3054096" cy="274320"/>
          </a:xfrm>
          <a:prstGeom prst="rect">
            <a:avLst/>
          </a:prstGeom>
          <a:noFill/>
        </p:spPr>
        <p:txBody>
          <a:bodyPr wrap="square" lIns="0" rIns="0" tIns="0" bIns="0" anchor="t">
            <a:spAutoFit/>
          </a:bodyPr>
          <a:lstStyle/>
          <a:p>
            <a:pPr algn="l">
              <a:lnSpc>
                <a:spcPct val="100000"/>
              </a:lnSpc>
              <a:spcAft>
                <a:spcPts val="0"/>
              </a:spcAft>
            </a:pPr>
            <a:r>
              <a:rPr sz="1300" b="1" i="0">
                <a:solidFill>
                  <a:srgbClr val="F2F6FF"/>
                </a:solidFill>
                <a:latin typeface="Calibri"/>
              </a:rPr>
              <a:t>Order matters</a:t>
            </a:r>
          </a:p>
        </p:txBody>
      </p:sp>
      <p:sp>
        <p:nvSpPr>
          <p:cNvPr id="15" name="TextBox 14"/>
          <p:cNvSpPr txBox="1"/>
          <p:nvPr/>
        </p:nvSpPr>
        <p:spPr>
          <a:xfrm>
            <a:off x="8394192" y="2194560"/>
            <a:ext cx="3054096" cy="3108960"/>
          </a:xfrm>
          <a:prstGeom prst="rect">
            <a:avLst/>
          </a:prstGeom>
          <a:noFill/>
        </p:spPr>
        <p:txBody>
          <a:bodyPr wrap="square" lIns="0" rIns="0" tIns="0" bIns="0" anchor="t">
            <a:spAutoFit/>
          </a:bodyPr>
          <a:lstStyle/>
          <a:p>
            <a:pPr algn="l">
              <a:lnSpc>
                <a:spcPct val="118000"/>
              </a:lnSpc>
              <a:spcAft>
                <a:spcPts val="0"/>
              </a:spcAft>
            </a:pPr>
            <a:r>
              <a:rPr sz="1000" b="0" i="0">
                <a:solidFill>
                  <a:srgbClr val="A9B8D6"/>
                </a:solidFill>
                <a:latin typeface="Calibri"/>
              </a:rPr>
              <a:t>Power first and alone. If the regulator is wrong, everything downstream is wrong.</a:t>
            </a:r>
            <a:br/>
            <a:br/>
            <a:r>
              <a:rPr sz="1000" b="0" i="0">
                <a:solidFill>
                  <a:srgbClr val="A9B8D6"/>
                </a:solidFill>
                <a:latin typeface="Calibri"/>
              </a:rPr>
              <a:t>The minimum system second, because ALE proves the device is running before any peripheral complicates the diagnosis.</a:t>
            </a:r>
            <a:br/>
            <a:br/>
            <a:r>
              <a:rPr sz="1000" b="0" i="0">
                <a:solidFill>
                  <a:srgbClr val="A9B8D6"/>
                </a:solidFill>
                <a:latin typeface="Calibri"/>
              </a:rPr>
              <a:t>Outputs before inputs, because an LED is the quickest way to see a state.</a:t>
            </a:r>
            <a:br/>
            <a:br/>
            <a:r>
              <a:rPr sz="1000" b="0" i="0">
                <a:solidFill>
                  <a:srgbClr val="A9B8D6"/>
                </a:solidFill>
                <a:latin typeface="Calibri"/>
              </a:rPr>
              <a:t>The ADC after the serial link, because the reference voltage is set and checked with the terminal connected.</a:t>
            </a:r>
            <a:br/>
            <a:br/>
            <a:r>
              <a:rPr sz="1000" b="0" i="0">
                <a:solidFill>
                  <a:srgbClr val="A9B8D6"/>
                </a:solidFill>
                <a:latin typeface="Calibri"/>
              </a:rPr>
              <a:t>Transfer to a soldered dot PCB only after the breadboard passes every test.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VERIFICATION</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Twenty bench tests with acceptance limits</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A test passes only when the measured value is inside the stated limit</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22</a:t>
            </a:r>
          </a:p>
        </p:txBody>
      </p:sp>
      <p:graphicFrame>
        <p:nvGraphicFramePr>
          <p:cNvPr id="11" name="Table 10"/>
          <p:cNvGraphicFramePr>
            <a:graphicFrameLocks noGrp="1"/>
          </p:cNvGraphicFramePr>
          <p:nvPr/>
        </p:nvGraphicFramePr>
        <p:xfrm>
          <a:off x="566928" y="1645920"/>
          <a:ext cx="11058110" cy="3063240"/>
        </p:xfrm>
        <a:graphic>
          <a:graphicData uri="http://schemas.openxmlformats.org/drawingml/2006/table">
            <a:tbl>
              <a:tblPr firstRow="1">
                <a:tableStyleId>{5C22544A-7EE6-4342-B048-85BDC9FD1C3A}</a:tableStyleId>
              </a:tblPr>
              <a:tblGrid>
                <a:gridCol w="523805"/>
                <a:gridCol w="2037020"/>
                <a:gridCol w="2968230"/>
                <a:gridCol w="523805"/>
                <a:gridCol w="2037020"/>
                <a:gridCol w="2968230"/>
              </a:tblGrid>
              <a:tr h="278476">
                <a:tc>
                  <a:txBody>
                    <a:bodyPr wrap="square"/>
                    <a:lstStyle/>
                    <a:p>
                      <a:pPr algn="ctr"/>
                      <a:r>
                        <a:rPr sz="950" b="1">
                          <a:solidFill>
                            <a:srgbClr val="CFE0FF"/>
                          </a:solidFill>
                          <a:latin typeface="Calibri"/>
                        </a:rPr>
                        <a:t>#</a:t>
                      </a:r>
                    </a:p>
                  </a:txBody>
                  <a:tcPr marL="73152" marR="73152" marT="27432" marB="27432" anchor="ctr">
                    <a:solidFill>
                      <a:srgbClr val="2A3C63"/>
                    </a:solidFill>
                  </a:tcPr>
                </a:tc>
                <a:tc>
                  <a:txBody>
                    <a:bodyPr wrap="square"/>
                    <a:lstStyle/>
                    <a:p>
                      <a:pPr algn="l"/>
                      <a:r>
                        <a:rPr sz="950" b="1">
                          <a:solidFill>
                            <a:srgbClr val="CFE0FF"/>
                          </a:solidFill>
                          <a:latin typeface="Calibri"/>
                        </a:rPr>
                        <a:t>Test</a:t>
                      </a:r>
                    </a:p>
                  </a:txBody>
                  <a:tcPr marL="73152" marR="73152" marT="27432" marB="27432" anchor="ctr">
                    <a:solidFill>
                      <a:srgbClr val="2A3C63"/>
                    </a:solidFill>
                  </a:tcPr>
                </a:tc>
                <a:tc>
                  <a:txBody>
                    <a:bodyPr wrap="square"/>
                    <a:lstStyle/>
                    <a:p>
                      <a:pPr algn="l"/>
                      <a:r>
                        <a:rPr sz="950" b="1">
                          <a:solidFill>
                            <a:srgbClr val="CFE0FF"/>
                          </a:solidFill>
                          <a:latin typeface="Calibri"/>
                        </a:rPr>
                        <a:t>Expected</a:t>
                      </a:r>
                    </a:p>
                  </a:txBody>
                  <a:tcPr marL="73152" marR="73152" marT="27432" marB="27432" anchor="ctr">
                    <a:solidFill>
                      <a:srgbClr val="2A3C63"/>
                    </a:solidFill>
                  </a:tcPr>
                </a:tc>
                <a:tc>
                  <a:txBody>
                    <a:bodyPr wrap="square"/>
                    <a:lstStyle/>
                    <a:p>
                      <a:pPr algn="ctr"/>
                      <a:r>
                        <a:rPr sz="950" b="1">
                          <a:solidFill>
                            <a:srgbClr val="CFE0FF"/>
                          </a:solidFill>
                          <a:latin typeface="Calibri"/>
                        </a:rPr>
                        <a:t>#</a:t>
                      </a:r>
                    </a:p>
                  </a:txBody>
                  <a:tcPr marL="73152" marR="73152" marT="27432" marB="27432" anchor="ctr">
                    <a:solidFill>
                      <a:srgbClr val="2A3C63"/>
                    </a:solidFill>
                  </a:tcPr>
                </a:tc>
                <a:tc>
                  <a:txBody>
                    <a:bodyPr wrap="square"/>
                    <a:lstStyle/>
                    <a:p>
                      <a:pPr algn="l"/>
                      <a:r>
                        <a:rPr sz="950" b="1">
                          <a:solidFill>
                            <a:srgbClr val="CFE0FF"/>
                          </a:solidFill>
                          <a:latin typeface="Calibri"/>
                        </a:rPr>
                        <a:t>Test</a:t>
                      </a:r>
                    </a:p>
                  </a:txBody>
                  <a:tcPr marL="73152" marR="73152" marT="27432" marB="27432" anchor="ctr">
                    <a:solidFill>
                      <a:srgbClr val="2A3C63"/>
                    </a:solidFill>
                  </a:tcPr>
                </a:tc>
                <a:tc>
                  <a:txBody>
                    <a:bodyPr wrap="square"/>
                    <a:lstStyle/>
                    <a:p>
                      <a:pPr algn="l"/>
                      <a:r>
                        <a:rPr sz="950" b="1">
                          <a:solidFill>
                            <a:srgbClr val="CFE0FF"/>
                          </a:solidFill>
                          <a:latin typeface="Calibri"/>
                        </a:rPr>
                        <a:t>Expected</a:t>
                      </a:r>
                    </a:p>
                  </a:txBody>
                  <a:tcPr marL="73152" marR="73152" marT="27432" marB="27432" anchor="ctr">
                    <a:solidFill>
                      <a:srgbClr val="2A3C63"/>
                    </a:solidFill>
                  </a:tcPr>
                </a:tc>
              </a:tr>
              <a:tr h="278476">
                <a:tc>
                  <a:txBody>
                    <a:bodyPr wrap="square"/>
                    <a:lstStyle/>
                    <a:p>
                      <a:pPr algn="ctr"/>
                      <a:r>
                        <a:rPr sz="950" b="0">
                          <a:solidFill>
                            <a:srgbClr val="F2F6FF"/>
                          </a:solidFill>
                          <a:latin typeface="Calibri"/>
                        </a:rPr>
                        <a:t>T1</a:t>
                      </a:r>
                    </a:p>
                  </a:txBody>
                  <a:tcPr marL="73152" marR="73152" marT="27432" marB="27432" anchor="ctr">
                    <a:solidFill>
                      <a:srgbClr val="17243E"/>
                    </a:solidFill>
                  </a:tcPr>
                </a:tc>
                <a:tc>
                  <a:txBody>
                    <a:bodyPr wrap="square"/>
                    <a:lstStyle/>
                    <a:p>
                      <a:pPr algn="l"/>
                      <a:r>
                        <a:rPr sz="950" b="0">
                          <a:solidFill>
                            <a:srgbClr val="F2F6FF"/>
                          </a:solidFill>
                          <a:latin typeface="Calibri"/>
                        </a:rPr>
                        <a:t>Power on self test</a:t>
                      </a:r>
                    </a:p>
                  </a:txBody>
                  <a:tcPr marL="73152" marR="73152" marT="27432" marB="27432" anchor="ctr">
                    <a:solidFill>
                      <a:srgbClr val="17243E"/>
                    </a:solidFill>
                  </a:tcPr>
                </a:tc>
                <a:tc>
                  <a:txBody>
                    <a:bodyPr wrap="square"/>
                    <a:lstStyle/>
                    <a:p>
                      <a:pPr algn="l"/>
                      <a:r>
                        <a:rPr sz="950" b="0">
                          <a:solidFill>
                            <a:srgbClr val="F2F6FF"/>
                          </a:solidFill>
                          <a:latin typeface="Calibri"/>
                        </a:rPr>
                        <a:t>every line OK, PASS</a:t>
                      </a:r>
                    </a:p>
                  </a:txBody>
                  <a:tcPr marL="73152" marR="73152" marT="27432" marB="27432" anchor="ctr">
                    <a:solidFill>
                      <a:srgbClr val="17243E"/>
                    </a:solidFill>
                  </a:tcPr>
                </a:tc>
                <a:tc>
                  <a:txBody>
                    <a:bodyPr wrap="square"/>
                    <a:lstStyle/>
                    <a:p>
                      <a:pPr algn="ctr"/>
                      <a:r>
                        <a:rPr sz="950" b="0">
                          <a:solidFill>
                            <a:srgbClr val="F2F6FF"/>
                          </a:solidFill>
                          <a:latin typeface="Calibri"/>
                        </a:rPr>
                        <a:t>T11</a:t>
                      </a:r>
                    </a:p>
                  </a:txBody>
                  <a:tcPr marL="73152" marR="73152" marT="27432" marB="27432" anchor="ctr">
                    <a:solidFill>
                      <a:srgbClr val="17243E"/>
                    </a:solidFill>
                  </a:tcPr>
                </a:tc>
                <a:tc>
                  <a:txBody>
                    <a:bodyPr wrap="square"/>
                    <a:lstStyle/>
                    <a:p>
                      <a:pPr algn="l"/>
                      <a:r>
                        <a:rPr sz="950" b="0">
                          <a:solidFill>
                            <a:srgbClr val="F2F6FF"/>
                          </a:solidFill>
                          <a:latin typeface="Calibri"/>
                        </a:rPr>
                        <a:t>LM35 accuracy</a:t>
                      </a:r>
                    </a:p>
                  </a:txBody>
                  <a:tcPr marL="73152" marR="73152" marT="27432" marB="27432" anchor="ctr">
                    <a:solidFill>
                      <a:srgbClr val="17243E"/>
                    </a:solidFill>
                  </a:tcPr>
                </a:tc>
                <a:tc>
                  <a:txBody>
                    <a:bodyPr wrap="square"/>
                    <a:lstStyle/>
                    <a:p>
                      <a:pPr algn="l"/>
                      <a:r>
                        <a:rPr sz="950" b="0">
                          <a:solidFill>
                            <a:srgbClr val="F2F6FF"/>
                          </a:solidFill>
                          <a:latin typeface="Calibri"/>
                        </a:rPr>
                        <a:t>within 1.5 C, 25 to 60 C</a:t>
                      </a:r>
                    </a:p>
                  </a:txBody>
                  <a:tcPr marL="73152" marR="73152" marT="27432" marB="27432" anchor="ctr">
                    <a:solidFill>
                      <a:srgbClr val="17243E"/>
                    </a:solidFill>
                  </a:tcPr>
                </a:tc>
              </a:tr>
              <a:tr h="278476">
                <a:tc>
                  <a:txBody>
                    <a:bodyPr wrap="square"/>
                    <a:lstStyle/>
                    <a:p>
                      <a:pPr algn="ctr"/>
                      <a:r>
                        <a:rPr sz="950" b="0">
                          <a:solidFill>
                            <a:srgbClr val="F2F6FF"/>
                          </a:solidFill>
                          <a:latin typeface="Calibri"/>
                        </a:rPr>
                        <a:t>T2</a:t>
                      </a:r>
                    </a:p>
                  </a:txBody>
                  <a:tcPr marL="73152" marR="73152" marT="27432" marB="27432" anchor="ctr">
                    <a:solidFill>
                      <a:srgbClr val="1E2E4E"/>
                    </a:solidFill>
                  </a:tcPr>
                </a:tc>
                <a:tc>
                  <a:txBody>
                    <a:bodyPr wrap="square"/>
                    <a:lstStyle/>
                    <a:p>
                      <a:pPr algn="l"/>
                      <a:r>
                        <a:rPr sz="950" b="0">
                          <a:solidFill>
                            <a:srgbClr val="F2F6FF"/>
                          </a:solidFill>
                          <a:latin typeface="Calibri"/>
                        </a:rPr>
                        <a:t>Supply rails</a:t>
                      </a:r>
                    </a:p>
                  </a:txBody>
                  <a:tcPr marL="73152" marR="73152" marT="27432" marB="27432" anchor="ctr">
                    <a:solidFill>
                      <a:srgbClr val="1E2E4E"/>
                    </a:solidFill>
                  </a:tcPr>
                </a:tc>
                <a:tc>
                  <a:txBody>
                    <a:bodyPr wrap="square"/>
                    <a:lstStyle/>
                    <a:p>
                      <a:pPr algn="l"/>
                      <a:r>
                        <a:rPr sz="950" b="0">
                          <a:solidFill>
                            <a:srgbClr val="F2F6FF"/>
                          </a:solidFill>
                          <a:latin typeface="Calibri"/>
                        </a:rPr>
                        <a:t>5.00 V plus or minus 0.15 V</a:t>
                      </a:r>
                    </a:p>
                  </a:txBody>
                  <a:tcPr marL="73152" marR="73152" marT="27432" marB="27432" anchor="ctr">
                    <a:solidFill>
                      <a:srgbClr val="1E2E4E"/>
                    </a:solidFill>
                  </a:tcPr>
                </a:tc>
                <a:tc>
                  <a:txBody>
                    <a:bodyPr wrap="square"/>
                    <a:lstStyle/>
                    <a:p>
                      <a:pPr algn="ctr"/>
                      <a:r>
                        <a:rPr sz="950" b="0">
                          <a:solidFill>
                            <a:srgbClr val="F2F6FF"/>
                          </a:solidFill>
                          <a:latin typeface="Calibri"/>
                        </a:rPr>
                        <a:t>T12</a:t>
                      </a:r>
                    </a:p>
                  </a:txBody>
                  <a:tcPr marL="73152" marR="73152" marT="27432" marB="27432" anchor="ctr">
                    <a:solidFill>
                      <a:srgbClr val="1E2E4E"/>
                    </a:solidFill>
                  </a:tcPr>
                </a:tc>
                <a:tc>
                  <a:txBody>
                    <a:bodyPr wrap="square"/>
                    <a:lstStyle/>
                    <a:p>
                      <a:pPr algn="l"/>
                      <a:r>
                        <a:rPr sz="950" b="0">
                          <a:solidFill>
                            <a:srgbClr val="F2F6FF"/>
                          </a:solidFill>
                          <a:latin typeface="Calibri"/>
                        </a:rPr>
                        <a:t>LCD bar graph</a:t>
                      </a:r>
                    </a:p>
                  </a:txBody>
                  <a:tcPr marL="73152" marR="73152" marT="27432" marB="27432" anchor="ctr">
                    <a:solidFill>
                      <a:srgbClr val="1E2E4E"/>
                    </a:solidFill>
                  </a:tcPr>
                </a:tc>
                <a:tc>
                  <a:txBody>
                    <a:bodyPr wrap="square"/>
                    <a:lstStyle/>
                    <a:p>
                      <a:pPr algn="l"/>
                      <a:r>
                        <a:rPr sz="950" b="0">
                          <a:solidFill>
                            <a:srgbClr val="F2F6FF"/>
                          </a:solidFill>
                          <a:latin typeface="Calibri"/>
                        </a:rPr>
                        <a:t>increases monotonically</a:t>
                      </a:r>
                    </a:p>
                  </a:txBody>
                  <a:tcPr marL="73152" marR="73152" marT="27432" marB="27432" anchor="ctr">
                    <a:solidFill>
                      <a:srgbClr val="1E2E4E"/>
                    </a:solidFill>
                  </a:tcPr>
                </a:tc>
              </a:tr>
              <a:tr h="278476">
                <a:tc>
                  <a:txBody>
                    <a:bodyPr wrap="square"/>
                    <a:lstStyle/>
                    <a:p>
                      <a:pPr algn="ctr"/>
                      <a:r>
                        <a:rPr sz="950" b="0">
                          <a:solidFill>
                            <a:srgbClr val="F2F6FF"/>
                          </a:solidFill>
                          <a:latin typeface="Calibri"/>
                        </a:rPr>
                        <a:t>T3</a:t>
                      </a:r>
                    </a:p>
                  </a:txBody>
                  <a:tcPr marL="73152" marR="73152" marT="27432" marB="27432" anchor="ctr">
                    <a:solidFill>
                      <a:srgbClr val="17243E"/>
                    </a:solidFill>
                  </a:tcPr>
                </a:tc>
                <a:tc>
                  <a:txBody>
                    <a:bodyPr wrap="square"/>
                    <a:lstStyle/>
                    <a:p>
                      <a:pPr algn="l"/>
                      <a:r>
                        <a:rPr sz="950" b="0">
                          <a:solidFill>
                            <a:srgbClr val="F2F6FF"/>
                          </a:solidFill>
                          <a:latin typeface="Calibri"/>
                        </a:rPr>
                        <a:t>LED timing</a:t>
                      </a:r>
                    </a:p>
                  </a:txBody>
                  <a:tcPr marL="73152" marR="73152" marT="27432" marB="27432" anchor="ctr">
                    <a:solidFill>
                      <a:srgbClr val="17243E"/>
                    </a:solidFill>
                  </a:tcPr>
                </a:tc>
                <a:tc>
                  <a:txBody>
                    <a:bodyPr wrap="square"/>
                    <a:lstStyle/>
                    <a:p>
                      <a:pPr algn="l"/>
                      <a:r>
                        <a:rPr sz="950" b="0">
                          <a:solidFill>
                            <a:srgbClr val="F2F6FF"/>
                          </a:solidFill>
                          <a:latin typeface="Calibri"/>
                        </a:rPr>
                        <a:t>20 half cycles in 10.0 s</a:t>
                      </a:r>
                    </a:p>
                  </a:txBody>
                  <a:tcPr marL="73152" marR="73152" marT="27432" marB="27432" anchor="ctr">
                    <a:solidFill>
                      <a:srgbClr val="17243E"/>
                    </a:solidFill>
                  </a:tcPr>
                </a:tc>
                <a:tc>
                  <a:txBody>
                    <a:bodyPr wrap="square"/>
                    <a:lstStyle/>
                    <a:p>
                      <a:pPr algn="ctr"/>
                      <a:r>
                        <a:rPr sz="950" b="0">
                          <a:solidFill>
                            <a:srgbClr val="F2F6FF"/>
                          </a:solidFill>
                          <a:latin typeface="Calibri"/>
                        </a:rPr>
                        <a:t>T13</a:t>
                      </a:r>
                    </a:p>
                  </a:txBody>
                  <a:tcPr marL="73152" marR="73152" marT="27432" marB="27432" anchor="ctr">
                    <a:solidFill>
                      <a:srgbClr val="17243E"/>
                    </a:solidFill>
                  </a:tcPr>
                </a:tc>
                <a:tc>
                  <a:txBody>
                    <a:bodyPr wrap="square"/>
                    <a:lstStyle/>
                    <a:p>
                      <a:pPr algn="l"/>
                      <a:r>
                        <a:rPr sz="950" b="0">
                          <a:solidFill>
                            <a:srgbClr val="F2F6FF"/>
                          </a:solidFill>
                          <a:latin typeface="Calibri"/>
                        </a:rPr>
                        <a:t>Zone thresholds</a:t>
                      </a:r>
                    </a:p>
                  </a:txBody>
                  <a:tcPr marL="73152" marR="73152" marT="27432" marB="27432" anchor="ctr">
                    <a:solidFill>
                      <a:srgbClr val="17243E"/>
                    </a:solidFill>
                  </a:tcPr>
                </a:tc>
                <a:tc>
                  <a:txBody>
                    <a:bodyPr wrap="square"/>
                    <a:lstStyle/>
                    <a:p>
                      <a:pPr algn="l"/>
                      <a:r>
                        <a:rPr sz="950" b="0">
                          <a:solidFill>
                            <a:srgbClr val="F2F6FF"/>
                          </a:solidFill>
                          <a:latin typeface="Calibri"/>
                        </a:rPr>
                        <a:t>green, then 40 C, then 70 C</a:t>
                      </a:r>
                    </a:p>
                  </a:txBody>
                  <a:tcPr marL="73152" marR="73152" marT="27432" marB="27432" anchor="ctr">
                    <a:solidFill>
                      <a:srgbClr val="17243E"/>
                    </a:solidFill>
                  </a:tcPr>
                </a:tc>
              </a:tr>
              <a:tr h="278476">
                <a:tc>
                  <a:txBody>
                    <a:bodyPr wrap="square"/>
                    <a:lstStyle/>
                    <a:p>
                      <a:pPr algn="ctr"/>
                      <a:r>
                        <a:rPr sz="950" b="0">
                          <a:solidFill>
                            <a:srgbClr val="F2F6FF"/>
                          </a:solidFill>
                          <a:latin typeface="Calibri"/>
                        </a:rPr>
                        <a:t>T4</a:t>
                      </a:r>
                    </a:p>
                  </a:txBody>
                  <a:tcPr marL="73152" marR="73152" marT="27432" marB="27432" anchor="ctr">
                    <a:solidFill>
                      <a:srgbClr val="1E2E4E"/>
                    </a:solidFill>
                  </a:tcPr>
                </a:tc>
                <a:tc>
                  <a:txBody>
                    <a:bodyPr wrap="square"/>
                    <a:lstStyle/>
                    <a:p>
                      <a:pPr algn="l"/>
                      <a:r>
                        <a:rPr sz="950" b="0">
                          <a:solidFill>
                            <a:srgbClr val="F2F6FF"/>
                          </a:solidFill>
                          <a:latin typeface="Calibri"/>
                        </a:rPr>
                        <a:t>DIP switch input</a:t>
                      </a:r>
                    </a:p>
                  </a:txBody>
                  <a:tcPr marL="73152" marR="73152" marT="27432" marB="27432" anchor="ctr">
                    <a:solidFill>
                      <a:srgbClr val="1E2E4E"/>
                    </a:solidFill>
                  </a:tcPr>
                </a:tc>
                <a:tc>
                  <a:txBody>
                    <a:bodyPr wrap="square"/>
                    <a:lstStyle/>
                    <a:p>
                      <a:pPr algn="l"/>
                      <a:r>
                        <a:rPr sz="950" b="0">
                          <a:solidFill>
                            <a:srgbClr val="F2F6FF"/>
                          </a:solidFill>
                          <a:latin typeface="Calibri"/>
                        </a:rPr>
                        <a:t>correct LED within 10 ms</a:t>
                      </a:r>
                    </a:p>
                  </a:txBody>
                  <a:tcPr marL="73152" marR="73152" marT="27432" marB="27432" anchor="ctr">
                    <a:solidFill>
                      <a:srgbClr val="1E2E4E"/>
                    </a:solidFill>
                  </a:tcPr>
                </a:tc>
                <a:tc>
                  <a:txBody>
                    <a:bodyPr wrap="square"/>
                    <a:lstStyle/>
                    <a:p>
                      <a:pPr algn="ctr"/>
                      <a:r>
                        <a:rPr sz="950" b="0">
                          <a:solidFill>
                            <a:srgbClr val="F2F6FF"/>
                          </a:solidFill>
                          <a:latin typeface="Calibri"/>
                        </a:rPr>
                        <a:t>T14</a:t>
                      </a:r>
                    </a:p>
                  </a:txBody>
                  <a:tcPr marL="73152" marR="73152" marT="27432" marB="27432" anchor="ctr">
                    <a:solidFill>
                      <a:srgbClr val="1E2E4E"/>
                    </a:solidFill>
                  </a:tcPr>
                </a:tc>
                <a:tc>
                  <a:txBody>
                    <a:bodyPr wrap="square"/>
                    <a:lstStyle/>
                    <a:p>
                      <a:pPr algn="l"/>
                      <a:r>
                        <a:rPr sz="950" b="0">
                          <a:solidFill>
                            <a:srgbClr val="F2F6FF"/>
                          </a:solidFill>
                          <a:latin typeface="Calibri"/>
                        </a:rPr>
                        <a:t>Relay control</a:t>
                      </a:r>
                    </a:p>
                  </a:txBody>
                  <a:tcPr marL="73152" marR="73152" marT="27432" marB="27432" anchor="ctr">
                    <a:solidFill>
                      <a:srgbClr val="1E2E4E"/>
                    </a:solidFill>
                  </a:tcPr>
                </a:tc>
                <a:tc>
                  <a:txBody>
                    <a:bodyPr wrap="square"/>
                    <a:lstStyle/>
                    <a:p>
                      <a:pPr algn="l"/>
                      <a:r>
                        <a:rPr sz="950" b="0">
                          <a:solidFill>
                            <a:srgbClr val="F2F6FF"/>
                          </a:solidFill>
                          <a:latin typeface="Calibri"/>
                        </a:rPr>
                        <a:t>energises at 40.0 C</a:t>
                      </a:r>
                    </a:p>
                  </a:txBody>
                  <a:tcPr marL="73152" marR="73152" marT="27432" marB="27432" anchor="ctr">
                    <a:solidFill>
                      <a:srgbClr val="1E2E4E"/>
                    </a:solidFill>
                  </a:tcPr>
                </a:tc>
              </a:tr>
              <a:tr h="278476">
                <a:tc>
                  <a:txBody>
                    <a:bodyPr wrap="square"/>
                    <a:lstStyle/>
                    <a:p>
                      <a:pPr algn="ctr"/>
                      <a:r>
                        <a:rPr sz="950" b="0">
                          <a:solidFill>
                            <a:srgbClr val="F2F6FF"/>
                          </a:solidFill>
                          <a:latin typeface="Calibri"/>
                        </a:rPr>
                        <a:t>T5</a:t>
                      </a:r>
                    </a:p>
                  </a:txBody>
                  <a:tcPr marL="73152" marR="73152" marT="27432" marB="27432" anchor="ctr">
                    <a:solidFill>
                      <a:srgbClr val="17243E"/>
                    </a:solidFill>
                  </a:tcPr>
                </a:tc>
                <a:tc>
                  <a:txBody>
                    <a:bodyPr wrap="square"/>
                    <a:lstStyle/>
                    <a:p>
                      <a:pPr algn="l"/>
                      <a:r>
                        <a:rPr sz="950" b="0">
                          <a:solidFill>
                            <a:srgbClr val="F2F6FF"/>
                          </a:solidFill>
                          <a:latin typeface="Calibri"/>
                        </a:rPr>
                        <a:t>Counter 00 to 99</a:t>
                      </a:r>
                    </a:p>
                  </a:txBody>
                  <a:tcPr marL="73152" marR="73152" marT="27432" marB="27432" anchor="ctr">
                    <a:solidFill>
                      <a:srgbClr val="17243E"/>
                    </a:solidFill>
                  </a:tcPr>
                </a:tc>
                <a:tc>
                  <a:txBody>
                    <a:bodyPr wrap="square"/>
                    <a:lstStyle/>
                    <a:p>
                      <a:pPr algn="l"/>
                      <a:r>
                        <a:rPr sz="950" b="0">
                          <a:solidFill>
                            <a:srgbClr val="F2F6FF"/>
                          </a:solidFill>
                          <a:latin typeface="Calibri"/>
                        </a:rPr>
                        <a:t>50 s plus or minus 2 s</a:t>
                      </a:r>
                    </a:p>
                  </a:txBody>
                  <a:tcPr marL="73152" marR="73152" marT="27432" marB="27432" anchor="ctr">
                    <a:solidFill>
                      <a:srgbClr val="17243E"/>
                    </a:solidFill>
                  </a:tcPr>
                </a:tc>
                <a:tc>
                  <a:txBody>
                    <a:bodyPr wrap="square"/>
                    <a:lstStyle/>
                    <a:p>
                      <a:pPr algn="ctr"/>
                      <a:r>
                        <a:rPr sz="950" b="0">
                          <a:solidFill>
                            <a:srgbClr val="F2F6FF"/>
                          </a:solidFill>
                          <a:latin typeface="Calibri"/>
                        </a:rPr>
                        <a:t>T15</a:t>
                      </a:r>
                    </a:p>
                  </a:txBody>
                  <a:tcPr marL="73152" marR="73152" marT="27432" marB="27432" anchor="ctr">
                    <a:solidFill>
                      <a:srgbClr val="17243E"/>
                    </a:solidFill>
                  </a:tcPr>
                </a:tc>
                <a:tc>
                  <a:txBody>
                    <a:bodyPr wrap="square"/>
                    <a:lstStyle/>
                    <a:p>
                      <a:pPr algn="l"/>
                      <a:r>
                        <a:rPr sz="950" b="0">
                          <a:solidFill>
                            <a:srgbClr val="F2F6FF"/>
                          </a:solidFill>
                          <a:latin typeface="Calibri"/>
                        </a:rPr>
                        <a:t>Emergency stop</a:t>
                      </a:r>
                    </a:p>
                  </a:txBody>
                  <a:tcPr marL="73152" marR="73152" marT="27432" marB="27432" anchor="ctr">
                    <a:solidFill>
                      <a:srgbClr val="17243E"/>
                    </a:solidFill>
                  </a:tcPr>
                </a:tc>
                <a:tc>
                  <a:txBody>
                    <a:bodyPr wrap="square"/>
                    <a:lstStyle/>
                    <a:p>
                      <a:pPr algn="l"/>
                      <a:r>
                        <a:rPr sz="950" b="0">
                          <a:solidFill>
                            <a:srgbClr val="F2F6FF"/>
                          </a:solidFill>
                          <a:latin typeface="Calibri"/>
                        </a:rPr>
                        <a:t>relay off, buzzer on</a:t>
                      </a:r>
                    </a:p>
                  </a:txBody>
                  <a:tcPr marL="73152" marR="73152" marT="27432" marB="27432" anchor="ctr">
                    <a:solidFill>
                      <a:srgbClr val="17243E"/>
                    </a:solidFill>
                  </a:tcPr>
                </a:tc>
              </a:tr>
              <a:tr h="278476">
                <a:tc>
                  <a:txBody>
                    <a:bodyPr wrap="square"/>
                    <a:lstStyle/>
                    <a:p>
                      <a:pPr algn="ctr"/>
                      <a:r>
                        <a:rPr sz="950" b="0">
                          <a:solidFill>
                            <a:srgbClr val="F2F6FF"/>
                          </a:solidFill>
                          <a:latin typeface="Calibri"/>
                        </a:rPr>
                        <a:t>T6</a:t>
                      </a:r>
                    </a:p>
                  </a:txBody>
                  <a:tcPr marL="73152" marR="73152" marT="27432" marB="27432" anchor="ctr">
                    <a:solidFill>
                      <a:srgbClr val="1E2E4E"/>
                    </a:solidFill>
                  </a:tcPr>
                </a:tc>
                <a:tc>
                  <a:txBody>
                    <a:bodyPr wrap="square"/>
                    <a:lstStyle/>
                    <a:p>
                      <a:pPr algn="l"/>
                      <a:r>
                        <a:rPr sz="950" b="0">
                          <a:solidFill>
                            <a:srgbClr val="F2F6FF"/>
                          </a:solidFill>
                          <a:latin typeface="Calibri"/>
                        </a:rPr>
                        <a:t>One second timing</a:t>
                      </a:r>
                    </a:p>
                  </a:txBody>
                  <a:tcPr marL="73152" marR="73152" marT="27432" marB="27432" anchor="ctr">
                    <a:solidFill>
                      <a:srgbClr val="1E2E4E"/>
                    </a:solidFill>
                  </a:tcPr>
                </a:tc>
                <a:tc>
                  <a:txBody>
                    <a:bodyPr wrap="square"/>
                    <a:lstStyle/>
                    <a:p>
                      <a:pPr algn="l"/>
                      <a:r>
                        <a:rPr sz="950" b="0">
                          <a:solidFill>
                            <a:srgbClr val="F2F6FF"/>
                          </a:solidFill>
                          <a:latin typeface="Calibri"/>
                        </a:rPr>
                        <a:t>10 transitions in 10.0 s</a:t>
                      </a:r>
                    </a:p>
                  </a:txBody>
                  <a:tcPr marL="73152" marR="73152" marT="27432" marB="27432" anchor="ctr">
                    <a:solidFill>
                      <a:srgbClr val="1E2E4E"/>
                    </a:solidFill>
                  </a:tcPr>
                </a:tc>
                <a:tc>
                  <a:txBody>
                    <a:bodyPr wrap="square"/>
                    <a:lstStyle/>
                    <a:p>
                      <a:pPr algn="ctr"/>
                      <a:r>
                        <a:rPr sz="950" b="0">
                          <a:solidFill>
                            <a:srgbClr val="F2F6FF"/>
                          </a:solidFill>
                          <a:latin typeface="Calibri"/>
                        </a:rPr>
                        <a:t>T16</a:t>
                      </a:r>
                    </a:p>
                  </a:txBody>
                  <a:tcPr marL="73152" marR="73152" marT="27432" marB="27432" anchor="ctr">
                    <a:solidFill>
                      <a:srgbClr val="1E2E4E"/>
                    </a:solidFill>
                  </a:tcPr>
                </a:tc>
                <a:tc>
                  <a:txBody>
                    <a:bodyPr wrap="square"/>
                    <a:lstStyle/>
                    <a:p>
                      <a:pPr algn="l"/>
                      <a:r>
                        <a:rPr sz="950" b="0">
                          <a:solidFill>
                            <a:srgbClr val="F2F6FF"/>
                          </a:solidFill>
                          <a:latin typeface="Calibri"/>
                        </a:rPr>
                        <a:t>Emergency reset</a:t>
                      </a:r>
                    </a:p>
                  </a:txBody>
                  <a:tcPr marL="73152" marR="73152" marT="27432" marB="27432" anchor="ctr">
                    <a:solidFill>
                      <a:srgbClr val="1E2E4E"/>
                    </a:solidFill>
                  </a:tcPr>
                </a:tc>
                <a:tc>
                  <a:txBody>
                    <a:bodyPr wrap="square"/>
                    <a:lstStyle/>
                    <a:p>
                      <a:pPr algn="l"/>
                      <a:r>
                        <a:rPr sz="950" b="0">
                          <a:solidFill>
                            <a:srgbClr val="F2F6FF"/>
                          </a:solidFill>
                          <a:latin typeface="Calibri"/>
                        </a:rPr>
                        <a:t>returns to zone control</a:t>
                      </a:r>
                    </a:p>
                  </a:txBody>
                  <a:tcPr marL="73152" marR="73152" marT="27432" marB="27432" anchor="ctr">
                    <a:solidFill>
                      <a:srgbClr val="1E2E4E"/>
                    </a:solidFill>
                  </a:tcPr>
                </a:tc>
              </a:tr>
              <a:tr h="278476">
                <a:tc>
                  <a:txBody>
                    <a:bodyPr wrap="square"/>
                    <a:lstStyle/>
                    <a:p>
                      <a:pPr algn="ctr"/>
                      <a:r>
                        <a:rPr sz="950" b="0">
                          <a:solidFill>
                            <a:srgbClr val="F2F6FF"/>
                          </a:solidFill>
                          <a:latin typeface="Calibri"/>
                        </a:rPr>
                        <a:t>T7</a:t>
                      </a:r>
                    </a:p>
                  </a:txBody>
                  <a:tcPr marL="73152" marR="73152" marT="27432" marB="27432" anchor="ctr">
                    <a:solidFill>
                      <a:srgbClr val="17243E"/>
                    </a:solidFill>
                  </a:tcPr>
                </a:tc>
                <a:tc>
                  <a:txBody>
                    <a:bodyPr wrap="square"/>
                    <a:lstStyle/>
                    <a:p>
                      <a:pPr algn="l"/>
                      <a:r>
                        <a:rPr sz="950" b="0">
                          <a:solidFill>
                            <a:srgbClr val="F2F6FF"/>
                          </a:solidFill>
                          <a:latin typeface="Calibri"/>
                        </a:rPr>
                        <a:t>Square wave</a:t>
                      </a:r>
                    </a:p>
                  </a:txBody>
                  <a:tcPr marL="73152" marR="73152" marT="27432" marB="27432" anchor="ctr">
                    <a:solidFill>
                      <a:srgbClr val="17243E"/>
                    </a:solidFill>
                  </a:tcPr>
                </a:tc>
                <a:tc>
                  <a:txBody>
                    <a:bodyPr wrap="square"/>
                    <a:lstStyle/>
                    <a:p>
                      <a:pPr algn="l"/>
                      <a:r>
                        <a:rPr sz="950" b="0">
                          <a:solidFill>
                            <a:srgbClr val="F2F6FF"/>
                          </a:solidFill>
                          <a:latin typeface="Calibri"/>
                        </a:rPr>
                        <a:t>1.00 kHz plus or minus 20 Hz</a:t>
                      </a:r>
                    </a:p>
                  </a:txBody>
                  <a:tcPr marL="73152" marR="73152" marT="27432" marB="27432" anchor="ctr">
                    <a:solidFill>
                      <a:srgbClr val="17243E"/>
                    </a:solidFill>
                  </a:tcPr>
                </a:tc>
                <a:tc>
                  <a:txBody>
                    <a:bodyPr wrap="square"/>
                    <a:lstStyle/>
                    <a:p>
                      <a:pPr algn="ctr"/>
                      <a:r>
                        <a:rPr sz="950" b="0">
                          <a:solidFill>
                            <a:srgbClr val="F2F6FF"/>
                          </a:solidFill>
                          <a:latin typeface="Calibri"/>
                        </a:rPr>
                        <a:t>T17</a:t>
                      </a:r>
                    </a:p>
                  </a:txBody>
                  <a:tcPr marL="73152" marR="73152" marT="27432" marB="27432" anchor="ctr">
                    <a:solidFill>
                      <a:srgbClr val="17243E"/>
                    </a:solidFill>
                  </a:tcPr>
                </a:tc>
                <a:tc>
                  <a:txBody>
                    <a:bodyPr wrap="square"/>
                    <a:lstStyle/>
                    <a:p>
                      <a:pPr algn="l"/>
                      <a:r>
                        <a:rPr sz="950" b="0">
                          <a:solidFill>
                            <a:srgbClr val="F2F6FF"/>
                          </a:solidFill>
                          <a:latin typeface="Calibri"/>
                        </a:rPr>
                        <a:t>Telemetry rate</a:t>
                      </a:r>
                    </a:p>
                  </a:txBody>
                  <a:tcPr marL="73152" marR="73152" marT="27432" marB="27432" anchor="ctr">
                    <a:solidFill>
                      <a:srgbClr val="17243E"/>
                    </a:solidFill>
                  </a:tcPr>
                </a:tc>
                <a:tc>
                  <a:txBody>
                    <a:bodyPr wrap="square"/>
                    <a:lstStyle/>
                    <a:p>
                      <a:pPr algn="l"/>
                      <a:r>
                        <a:rPr sz="950" b="0">
                          <a:solidFill>
                            <a:srgbClr val="F2F6FF"/>
                          </a:solidFill>
                          <a:latin typeface="Calibri"/>
                        </a:rPr>
                        <a:t>10 lines in 10 s</a:t>
                      </a:r>
                    </a:p>
                  </a:txBody>
                  <a:tcPr marL="73152" marR="73152" marT="27432" marB="27432" anchor="ctr">
                    <a:solidFill>
                      <a:srgbClr val="17243E"/>
                    </a:solidFill>
                  </a:tcPr>
                </a:tc>
              </a:tr>
              <a:tr h="278476">
                <a:tc>
                  <a:txBody>
                    <a:bodyPr wrap="square"/>
                    <a:lstStyle/>
                    <a:p>
                      <a:pPr algn="ctr"/>
                      <a:r>
                        <a:rPr sz="950" b="0">
                          <a:solidFill>
                            <a:srgbClr val="F2F6FF"/>
                          </a:solidFill>
                          <a:latin typeface="Calibri"/>
                        </a:rPr>
                        <a:t>T8</a:t>
                      </a:r>
                    </a:p>
                  </a:txBody>
                  <a:tcPr marL="73152" marR="73152" marT="27432" marB="27432" anchor="ctr">
                    <a:solidFill>
                      <a:srgbClr val="1E2E4E"/>
                    </a:solidFill>
                  </a:tcPr>
                </a:tc>
                <a:tc>
                  <a:txBody>
                    <a:bodyPr wrap="square"/>
                    <a:lstStyle/>
                    <a:p>
                      <a:pPr algn="l"/>
                      <a:r>
                        <a:rPr sz="950" b="0">
                          <a:solidFill>
                            <a:srgbClr val="F2F6FF"/>
                          </a:solidFill>
                          <a:latin typeface="Calibri"/>
                        </a:rPr>
                        <a:t>External interrupts</a:t>
                      </a:r>
                    </a:p>
                  </a:txBody>
                  <a:tcPr marL="73152" marR="73152" marT="27432" marB="27432" anchor="ctr">
                    <a:solidFill>
                      <a:srgbClr val="1E2E4E"/>
                    </a:solidFill>
                  </a:tcPr>
                </a:tc>
                <a:tc>
                  <a:txBody>
                    <a:bodyPr wrap="square"/>
                    <a:lstStyle/>
                    <a:p>
                      <a:pPr algn="l"/>
                      <a:r>
                        <a:rPr sz="950" b="0">
                          <a:solidFill>
                            <a:srgbClr val="F2F6FF"/>
                          </a:solidFill>
                          <a:latin typeface="Calibri"/>
                        </a:rPr>
                        <a:t>no double triggering</a:t>
                      </a:r>
                    </a:p>
                  </a:txBody>
                  <a:tcPr marL="73152" marR="73152" marT="27432" marB="27432" anchor="ctr">
                    <a:solidFill>
                      <a:srgbClr val="1E2E4E"/>
                    </a:solidFill>
                  </a:tcPr>
                </a:tc>
                <a:tc>
                  <a:txBody>
                    <a:bodyPr wrap="square"/>
                    <a:lstStyle/>
                    <a:p>
                      <a:pPr algn="ctr"/>
                      <a:r>
                        <a:rPr sz="950" b="0">
                          <a:solidFill>
                            <a:srgbClr val="F2F6FF"/>
                          </a:solidFill>
                          <a:latin typeface="Calibri"/>
                        </a:rPr>
                        <a:t>T18</a:t>
                      </a:r>
                    </a:p>
                  </a:txBody>
                  <a:tcPr marL="73152" marR="73152" marT="27432" marB="27432" anchor="ctr">
                    <a:solidFill>
                      <a:srgbClr val="1E2E4E"/>
                    </a:solidFill>
                  </a:tcPr>
                </a:tc>
                <a:tc>
                  <a:txBody>
                    <a:bodyPr wrap="square"/>
                    <a:lstStyle/>
                    <a:p>
                      <a:pPr algn="l"/>
                      <a:r>
                        <a:rPr sz="950" b="0">
                          <a:solidFill>
                            <a:srgbClr val="F2F6FF"/>
                          </a:solidFill>
                          <a:latin typeface="Calibri"/>
                        </a:rPr>
                        <a:t>Current</a:t>
                      </a:r>
                    </a:p>
                  </a:txBody>
                  <a:tcPr marL="73152" marR="73152" marT="27432" marB="27432" anchor="ctr">
                    <a:solidFill>
                      <a:srgbClr val="1E2E4E"/>
                    </a:solidFill>
                  </a:tcPr>
                </a:tc>
                <a:tc>
                  <a:txBody>
                    <a:bodyPr wrap="square"/>
                    <a:lstStyle/>
                    <a:p>
                      <a:pPr algn="l"/>
                      <a:r>
                        <a:rPr sz="950" b="0">
                          <a:solidFill>
                            <a:srgbClr val="F2F6FF"/>
                          </a:solidFill>
                          <a:latin typeface="Calibri"/>
                        </a:rPr>
                        <a:t>below 200 mA</a:t>
                      </a:r>
                    </a:p>
                  </a:txBody>
                  <a:tcPr marL="73152" marR="73152" marT="27432" marB="27432" anchor="ctr">
                    <a:solidFill>
                      <a:srgbClr val="1E2E4E"/>
                    </a:solidFill>
                  </a:tcPr>
                </a:tc>
              </a:tr>
              <a:tr h="278476">
                <a:tc>
                  <a:txBody>
                    <a:bodyPr wrap="square"/>
                    <a:lstStyle/>
                    <a:p>
                      <a:pPr algn="ctr"/>
                      <a:r>
                        <a:rPr sz="950" b="0">
                          <a:solidFill>
                            <a:srgbClr val="F2F6FF"/>
                          </a:solidFill>
                          <a:latin typeface="Calibri"/>
                        </a:rPr>
                        <a:t>T9</a:t>
                      </a:r>
                    </a:p>
                  </a:txBody>
                  <a:tcPr marL="73152" marR="73152" marT="27432" marB="27432" anchor="ctr">
                    <a:solidFill>
                      <a:srgbClr val="17243E"/>
                    </a:solidFill>
                  </a:tcPr>
                </a:tc>
                <a:tc>
                  <a:txBody>
                    <a:bodyPr wrap="square"/>
                    <a:lstStyle/>
                    <a:p>
                      <a:pPr algn="l"/>
                      <a:r>
                        <a:rPr sz="950" b="0">
                          <a:solidFill>
                            <a:srgbClr val="F2F6FF"/>
                          </a:solidFill>
                          <a:latin typeface="Calibri"/>
                        </a:rPr>
                        <a:t>Serial loopback</a:t>
                      </a:r>
                    </a:p>
                  </a:txBody>
                  <a:tcPr marL="73152" marR="73152" marT="27432" marB="27432" anchor="ctr">
                    <a:solidFill>
                      <a:srgbClr val="17243E"/>
                    </a:solidFill>
                  </a:tcPr>
                </a:tc>
                <a:tc>
                  <a:txBody>
                    <a:bodyPr wrap="square"/>
                    <a:lstStyle/>
                    <a:p>
                      <a:pPr algn="l"/>
                      <a:r>
                        <a:rPr sz="950" b="0">
                          <a:solidFill>
                            <a:srgbClr val="F2F6FF"/>
                          </a:solidFill>
                          <a:latin typeface="Calibri"/>
                        </a:rPr>
                        <a:t>every byte echoed</a:t>
                      </a:r>
                    </a:p>
                  </a:txBody>
                  <a:tcPr marL="73152" marR="73152" marT="27432" marB="27432" anchor="ctr">
                    <a:solidFill>
                      <a:srgbClr val="17243E"/>
                    </a:solidFill>
                  </a:tcPr>
                </a:tc>
                <a:tc>
                  <a:txBody>
                    <a:bodyPr wrap="square"/>
                    <a:lstStyle/>
                    <a:p>
                      <a:pPr algn="ctr"/>
                      <a:r>
                        <a:rPr sz="950" b="0">
                          <a:solidFill>
                            <a:srgbClr val="F2F6FF"/>
                          </a:solidFill>
                          <a:latin typeface="Calibri"/>
                        </a:rPr>
                        <a:t>T19</a:t>
                      </a:r>
                    </a:p>
                  </a:txBody>
                  <a:tcPr marL="73152" marR="73152" marT="27432" marB="27432" anchor="ctr">
                    <a:solidFill>
                      <a:srgbClr val="17243E"/>
                    </a:solidFill>
                  </a:tcPr>
                </a:tc>
                <a:tc>
                  <a:txBody>
                    <a:bodyPr wrap="square"/>
                    <a:lstStyle/>
                    <a:p>
                      <a:pPr algn="l"/>
                      <a:r>
                        <a:rPr sz="950" b="0">
                          <a:solidFill>
                            <a:srgbClr val="F2F6FF"/>
                          </a:solidFill>
                          <a:latin typeface="Calibri"/>
                        </a:rPr>
                        <a:t>Regulator thermals</a:t>
                      </a:r>
                    </a:p>
                  </a:txBody>
                  <a:tcPr marL="73152" marR="73152" marT="27432" marB="27432" anchor="ctr">
                    <a:solidFill>
                      <a:srgbClr val="17243E"/>
                    </a:solidFill>
                  </a:tcPr>
                </a:tc>
                <a:tc>
                  <a:txBody>
                    <a:bodyPr wrap="square"/>
                    <a:lstStyle/>
                    <a:p>
                      <a:pPr algn="l"/>
                      <a:r>
                        <a:rPr sz="950" b="0">
                          <a:solidFill>
                            <a:srgbClr val="F2F6FF"/>
                          </a:solidFill>
                          <a:latin typeface="Calibri"/>
                        </a:rPr>
                        <a:t>below about 60 C</a:t>
                      </a:r>
                    </a:p>
                  </a:txBody>
                  <a:tcPr marL="73152" marR="73152" marT="27432" marB="27432" anchor="ctr">
                    <a:solidFill>
                      <a:srgbClr val="17243E"/>
                    </a:solidFill>
                  </a:tcPr>
                </a:tc>
              </a:tr>
              <a:tr h="278480">
                <a:tc>
                  <a:txBody>
                    <a:bodyPr wrap="square"/>
                    <a:lstStyle/>
                    <a:p>
                      <a:pPr algn="ctr"/>
                      <a:r>
                        <a:rPr sz="950" b="0">
                          <a:solidFill>
                            <a:srgbClr val="F2F6FF"/>
                          </a:solidFill>
                          <a:latin typeface="Calibri"/>
                        </a:rPr>
                        <a:t>T10</a:t>
                      </a:r>
                    </a:p>
                  </a:txBody>
                  <a:tcPr marL="73152" marR="73152" marT="27432" marB="27432" anchor="ctr">
                    <a:solidFill>
                      <a:srgbClr val="1E2E4E"/>
                    </a:solidFill>
                  </a:tcPr>
                </a:tc>
                <a:tc>
                  <a:txBody>
                    <a:bodyPr wrap="square"/>
                    <a:lstStyle/>
                    <a:p>
                      <a:pPr algn="l"/>
                      <a:r>
                        <a:rPr sz="950" b="0">
                          <a:solidFill>
                            <a:srgbClr val="F2F6FF"/>
                          </a:solidFill>
                          <a:latin typeface="Calibri"/>
                        </a:rPr>
                        <a:t>Command shell</a:t>
                      </a:r>
                    </a:p>
                  </a:txBody>
                  <a:tcPr marL="73152" marR="73152" marT="27432" marB="27432" anchor="ctr">
                    <a:solidFill>
                      <a:srgbClr val="1E2E4E"/>
                    </a:solidFill>
                  </a:tcPr>
                </a:tc>
                <a:tc>
                  <a:txBody>
                    <a:bodyPr wrap="square"/>
                    <a:lstStyle/>
                    <a:p>
                      <a:pPr algn="l"/>
                      <a:r>
                        <a:rPr sz="950" b="0">
                          <a:solidFill>
                            <a:srgbClr val="F2F6FF"/>
                          </a:solidFill>
                          <a:latin typeface="Calibri"/>
                        </a:rPr>
                        <a:t>HLP, LED FF, RLY 1 all work</a:t>
                      </a:r>
                    </a:p>
                  </a:txBody>
                  <a:tcPr marL="73152" marR="73152" marT="27432" marB="27432" anchor="ctr">
                    <a:solidFill>
                      <a:srgbClr val="1E2E4E"/>
                    </a:solidFill>
                  </a:tcPr>
                </a:tc>
                <a:tc>
                  <a:txBody>
                    <a:bodyPr wrap="square"/>
                    <a:lstStyle/>
                    <a:p>
                      <a:pPr algn="ctr"/>
                      <a:r>
                        <a:rPr sz="950" b="0">
                          <a:solidFill>
                            <a:srgbClr val="F2F6FF"/>
                          </a:solidFill>
                          <a:latin typeface="Calibri"/>
                        </a:rPr>
                        <a:t>T20</a:t>
                      </a:r>
                    </a:p>
                  </a:txBody>
                  <a:tcPr marL="73152" marR="73152" marT="27432" marB="27432" anchor="ctr">
                    <a:solidFill>
                      <a:srgbClr val="1E2E4E"/>
                    </a:solidFill>
                  </a:tcPr>
                </a:tc>
                <a:tc>
                  <a:txBody>
                    <a:bodyPr wrap="square"/>
                    <a:lstStyle/>
                    <a:p>
                      <a:pPr algn="l"/>
                      <a:r>
                        <a:rPr sz="950" b="0">
                          <a:solidFill>
                            <a:srgbClr val="F2F6FF"/>
                          </a:solidFill>
                          <a:latin typeface="Calibri"/>
                        </a:rPr>
                        <a:t>Supply rejection</a:t>
                      </a:r>
                    </a:p>
                  </a:txBody>
                  <a:tcPr marL="73152" marR="73152" marT="27432" marB="27432" anchor="ctr">
                    <a:solidFill>
                      <a:srgbClr val="1E2E4E"/>
                    </a:solidFill>
                  </a:tcPr>
                </a:tc>
                <a:tc>
                  <a:txBody>
                    <a:bodyPr wrap="square"/>
                    <a:lstStyle/>
                    <a:p>
                      <a:pPr algn="l"/>
                      <a:r>
                        <a:rPr sz="950" b="0">
                          <a:solidFill>
                            <a:srgbClr val="F2F6FF"/>
                          </a:solidFill>
                          <a:latin typeface="Calibri"/>
                        </a:rPr>
                        <a:t>5 V holds, 7 V to 12 V</a:t>
                      </a:r>
                    </a:p>
                  </a:txBody>
                  <a:tcPr marL="73152" marR="73152" marT="27432" marB="27432" anchor="ctr">
                    <a:solidFill>
                      <a:srgbClr val="1E2E4E"/>
                    </a:solidFill>
                  </a:tcPr>
                </a:tc>
              </a:tr>
            </a:tbl>
          </a:graphicData>
        </a:graphic>
      </p:graphicFrame>
      <p:sp>
        <p:nvSpPr>
          <p:cNvPr id="12" name="Rounded Rectangle 11"/>
          <p:cNvSpPr/>
          <p:nvPr/>
        </p:nvSpPr>
        <p:spPr>
          <a:xfrm>
            <a:off x="566928" y="4864608"/>
            <a:ext cx="5440680" cy="138988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5010912"/>
            <a:ext cx="4983480" cy="1143000"/>
          </a:xfrm>
          <a:prstGeom prst="rect">
            <a:avLst/>
          </a:prstGeom>
          <a:noFill/>
        </p:spPr>
        <p:txBody>
          <a:bodyPr wrap="square" lIns="0" rIns="0" tIns="0" bIns="0" anchor="t">
            <a:spAutoFit/>
          </a:bodyPr>
          <a:lstStyle/>
          <a:p>
            <a:pPr algn="l">
              <a:lnSpc>
                <a:spcPct val="116000"/>
              </a:lnSpc>
              <a:spcAft>
                <a:spcPts val="300"/>
              </a:spcAft>
            </a:pPr>
            <a:r>
              <a:rPr sz="1250" b="1" i="0">
                <a:solidFill>
                  <a:srgbClr val="F2F6FF"/>
                </a:solidFill>
                <a:latin typeface="Calibri"/>
              </a:rPr>
              <a:t>Calibration of the reference</a:t>
            </a:r>
          </a:p>
          <a:p>
            <a:pPr algn="l">
              <a:lnSpc>
                <a:spcPct val="116000"/>
              </a:lnSpc>
              <a:spcAft>
                <a:spcPts val="300"/>
              </a:spcAft>
            </a:pPr>
            <a:r>
              <a:rPr sz="1050" b="0" i="0">
                <a:solidFill>
                  <a:srgbClr val="A9B8D6"/>
                </a:solidFill>
                <a:latin typeface="Calibri"/>
              </a:rPr>
              <a:t>Adjust R8 until ADC0804 pin 9 reads exactly 1.000 V. Confirm the transfer function against two temperatures at least 20 degrees apart. If both readings are off by the same factor, R8 has drifted; if only one is off, the LM35 is picking up noise.</a:t>
            </a:r>
          </a:p>
        </p:txBody>
      </p:sp>
      <p:sp>
        <p:nvSpPr>
          <p:cNvPr id="14" name="Rounded Rectangle 13"/>
          <p:cNvSpPr/>
          <p:nvPr/>
        </p:nvSpPr>
        <p:spPr>
          <a:xfrm>
            <a:off x="6181344" y="4864608"/>
            <a:ext cx="5440680" cy="1389888"/>
          </a:xfrm>
          <a:prstGeom prst="roundRect">
            <a:avLst>
              <a:gd name="adj" fmla="val 6000"/>
            </a:avLst>
          </a:prstGeom>
          <a:solidFill>
            <a:srgbClr val="1E2E4E"/>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4983480"/>
            <a:ext cx="4983480" cy="1143000"/>
          </a:xfrm>
          <a:prstGeom prst="rect">
            <a:avLst/>
          </a:prstGeom>
          <a:noFill/>
        </p:spPr>
        <p:txBody>
          <a:bodyPr wrap="square" lIns="0" rIns="0" tIns="0" bIns="0" anchor="t">
            <a:spAutoFit/>
          </a:bodyPr>
          <a:lstStyle/>
          <a:p>
            <a:pPr algn="l">
              <a:lnSpc>
                <a:spcPct val="116000"/>
              </a:lnSpc>
              <a:spcAft>
                <a:spcPts val="300"/>
              </a:spcAft>
            </a:pPr>
            <a:r>
              <a:rPr sz="1250" b="1" i="0">
                <a:solidFill>
                  <a:srgbClr val="FFB454"/>
                </a:solidFill>
                <a:latin typeface="Calibri"/>
              </a:rPr>
              <a:t>Known limitation</a:t>
            </a:r>
          </a:p>
          <a:p>
            <a:pPr algn="l">
              <a:lnSpc>
                <a:spcPct val="116000"/>
              </a:lnSpc>
              <a:spcAft>
                <a:spcPts val="300"/>
              </a:spcAft>
            </a:pPr>
            <a:r>
              <a:rPr sz="1050" b="0" i="0">
                <a:solidFill>
                  <a:srgbClr val="A9B8D6"/>
                </a:solidFill>
                <a:latin typeface="Calibri"/>
              </a:rPr>
              <a:t>Resolution is 0.78 degree C and accuracy is about plus or minus 1.5 degree C. That is entirely adequate for switching zones at 40 and 70 degrees, and is not a metrology grade measurement. The limitation is the 8-bit converter, not the sensor.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RESULTS</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What the board reports on the bench</a:t>
            </a:r>
          </a:p>
        </p:txBody>
      </p:sp>
      <p:sp>
        <p:nvSpPr>
          <p:cNvPr id="6" name="TextBox 5"/>
          <p:cNvSpPr txBox="1"/>
          <p:nvPr/>
        </p:nvSpPr>
        <p:spPr>
          <a:xfrm>
            <a:off x="566928" y="1060704"/>
            <a:ext cx="11058113" cy="256032"/>
          </a:xfrm>
          <a:prstGeom prst="rect">
            <a:avLst/>
          </a:prstGeom>
          <a:noFill/>
        </p:spPr>
        <p:txBody>
          <a:bodyPr wrap="square" lIns="0" rIns="0" tIns="0" bIns="0" anchor="t">
            <a:spAutoFit/>
          </a:bodyPr>
          <a:lstStyle/>
          <a:p>
            <a:pPr algn="l">
              <a:lnSpc>
                <a:spcPct val="100000"/>
              </a:lnSpc>
              <a:spcAft>
                <a:spcPts val="0"/>
              </a:spcAft>
            </a:pPr>
            <a:r>
              <a:rPr sz="1250" b="0" i="0">
                <a:solidFill>
                  <a:srgbClr val="A9B8D6"/>
                </a:solidFill>
                <a:latin typeface="Calibri"/>
              </a:rPr>
              <a:t>Terminal capture at 9600 8N1, and the self test run</a:t>
            </a:r>
          </a:p>
        </p:txBody>
      </p:sp>
      <p:sp>
        <p:nvSpPr>
          <p:cNvPr id="7" name="Rectangle 6"/>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10" name="TextBox 9"/>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23</a:t>
            </a:r>
          </a:p>
        </p:txBody>
      </p:sp>
      <p:sp>
        <p:nvSpPr>
          <p:cNvPr id="11" name="Rounded Rectangle 10"/>
          <p:cNvSpPr/>
          <p:nvPr/>
        </p:nvSpPr>
        <p:spPr>
          <a:xfrm>
            <a:off x="566928" y="1645920"/>
            <a:ext cx="5989320" cy="2103120"/>
          </a:xfrm>
          <a:prstGeom prst="roundRect">
            <a:avLst>
              <a:gd name="adj" fmla="val 6000"/>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773936"/>
            <a:ext cx="5623559" cy="219456"/>
          </a:xfrm>
          <a:prstGeom prst="rect">
            <a:avLst/>
          </a:prstGeom>
          <a:noFill/>
        </p:spPr>
        <p:txBody>
          <a:bodyPr wrap="square" lIns="0" rIns="0" tIns="0" bIns="0" anchor="t">
            <a:spAutoFit/>
          </a:bodyPr>
          <a:lstStyle/>
          <a:p>
            <a:pPr algn="l">
              <a:lnSpc>
                <a:spcPct val="100000"/>
              </a:lnSpc>
              <a:spcAft>
                <a:spcPts val="0"/>
              </a:spcAft>
            </a:pPr>
            <a:r>
              <a:rPr sz="950" b="1" i="0">
                <a:solidFill>
                  <a:srgbClr val="6F81A5"/>
                </a:solidFill>
                <a:latin typeface="Calibri"/>
              </a:rPr>
              <a:t>PROGRAM 12 TELEMETRY, ONE LINE PER SECOND</a:t>
            </a:r>
          </a:p>
        </p:txBody>
      </p:sp>
      <p:sp>
        <p:nvSpPr>
          <p:cNvPr id="13" name="TextBox 12"/>
          <p:cNvSpPr txBox="1"/>
          <p:nvPr/>
        </p:nvSpPr>
        <p:spPr>
          <a:xfrm>
            <a:off x="768096" y="2029967"/>
            <a:ext cx="5623559" cy="1627632"/>
          </a:xfrm>
          <a:prstGeom prst="rect">
            <a:avLst/>
          </a:prstGeom>
          <a:noFill/>
        </p:spPr>
        <p:txBody>
          <a:bodyPr wrap="square" lIns="0" rIns="0" tIns="0" bIns="0" anchor="t">
            <a:spAutoFit/>
          </a:bodyPr>
          <a:lstStyle/>
          <a:p>
            <a:pPr algn="l">
              <a:lnSpc>
                <a:spcPct val="114000"/>
              </a:lnSpc>
              <a:spcAft>
                <a:spcPts val="0"/>
              </a:spcAft>
            </a:pPr>
            <a:r>
              <a:rPr sz="1050" b="0" i="0">
                <a:solidFill>
                  <a:srgbClr val="CFE0FF"/>
                </a:solidFill>
                <a:latin typeface="Consolas"/>
              </a:rPr>
              <a:t>8051 ZONE MONITOR 9600 8N1</a:t>
            </a:r>
          </a:p>
          <a:p>
            <a:pPr algn="l">
              <a:lnSpc>
                <a:spcPct val="114000"/>
              </a:lnSpc>
              <a:spcAft>
                <a:spcPts val="0"/>
              </a:spcAft>
            </a:pPr>
            <a:r>
              <a:rPr sz="1050" b="0" i="0">
                <a:solidFill>
                  <a:srgbClr val="CFE0FF"/>
                </a:solidFill>
                <a:latin typeface="Consolas"/>
              </a:rPr>
              <a:t>T=28.1C ADC=36 ZONE=SAFE FAN=0 BUZ=0</a:t>
            </a:r>
          </a:p>
          <a:p>
            <a:pPr algn="l">
              <a:lnSpc>
                <a:spcPct val="114000"/>
              </a:lnSpc>
              <a:spcAft>
                <a:spcPts val="0"/>
              </a:spcAft>
            </a:pPr>
            <a:r>
              <a:rPr sz="1050" b="0" i="0">
                <a:solidFill>
                  <a:srgbClr val="CFE0FF"/>
                </a:solidFill>
                <a:latin typeface="Consolas"/>
              </a:rPr>
              <a:t>T=28.1C ADC=36 ZONE=SAFE FAN=0 BUZ=0</a:t>
            </a:r>
          </a:p>
          <a:p>
            <a:pPr algn="l">
              <a:lnSpc>
                <a:spcPct val="114000"/>
              </a:lnSpc>
              <a:spcAft>
                <a:spcPts val="0"/>
              </a:spcAft>
            </a:pPr>
            <a:r>
              <a:rPr sz="1050" b="0" i="0">
                <a:solidFill>
                  <a:srgbClr val="CFE0FF"/>
                </a:solidFill>
                <a:latin typeface="Consolas"/>
              </a:rPr>
              <a:t>T=41.4C ADC=53 ZONE=WARNING FAN=1 BUZ=0</a:t>
            </a:r>
          </a:p>
          <a:p>
            <a:pPr algn="l">
              <a:lnSpc>
                <a:spcPct val="114000"/>
              </a:lnSpc>
              <a:spcAft>
                <a:spcPts val="0"/>
              </a:spcAft>
            </a:pPr>
            <a:r>
              <a:rPr sz="1050" b="0" i="0">
                <a:solidFill>
                  <a:srgbClr val="CFE0FF"/>
                </a:solidFill>
                <a:latin typeface="Consolas"/>
              </a:rPr>
              <a:t>T=64.0C ADC=82 ZONE=WARNING FAN=1 BUZ=0</a:t>
            </a:r>
          </a:p>
          <a:p>
            <a:pPr algn="l">
              <a:lnSpc>
                <a:spcPct val="114000"/>
              </a:lnSpc>
              <a:spcAft>
                <a:spcPts val="0"/>
              </a:spcAft>
            </a:pPr>
            <a:r>
              <a:rPr sz="1050" b="0" i="0">
                <a:solidFill>
                  <a:srgbClr val="CFE0FF"/>
                </a:solidFill>
                <a:latin typeface="Consolas"/>
              </a:rPr>
              <a:t>T=72.6C ADC=93 ZONE=DANGER FAN=1 BUZ=1</a:t>
            </a:r>
          </a:p>
        </p:txBody>
      </p:sp>
      <p:sp>
        <p:nvSpPr>
          <p:cNvPr id="14" name="Rounded Rectangle 13"/>
          <p:cNvSpPr/>
          <p:nvPr/>
        </p:nvSpPr>
        <p:spPr>
          <a:xfrm>
            <a:off x="6729984" y="1645920"/>
            <a:ext cx="4892040" cy="2103120"/>
          </a:xfrm>
          <a:prstGeom prst="roundRect">
            <a:avLst>
              <a:gd name="adj" fmla="val 6000"/>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31152" y="1773936"/>
            <a:ext cx="4526279" cy="219456"/>
          </a:xfrm>
          <a:prstGeom prst="rect">
            <a:avLst/>
          </a:prstGeom>
          <a:noFill/>
        </p:spPr>
        <p:txBody>
          <a:bodyPr wrap="square" lIns="0" rIns="0" tIns="0" bIns="0" anchor="t">
            <a:spAutoFit/>
          </a:bodyPr>
          <a:lstStyle/>
          <a:p>
            <a:pPr algn="l">
              <a:lnSpc>
                <a:spcPct val="100000"/>
              </a:lnSpc>
              <a:spcAft>
                <a:spcPts val="0"/>
              </a:spcAft>
            </a:pPr>
            <a:r>
              <a:rPr sz="950" b="1" i="0">
                <a:solidFill>
                  <a:srgbClr val="6F81A5"/>
                </a:solidFill>
                <a:latin typeface="Calibri"/>
              </a:rPr>
              <a:t>PROGRAM 13 SELF TEST</a:t>
            </a:r>
          </a:p>
        </p:txBody>
      </p:sp>
      <p:sp>
        <p:nvSpPr>
          <p:cNvPr id="16" name="TextBox 15"/>
          <p:cNvSpPr txBox="1"/>
          <p:nvPr/>
        </p:nvSpPr>
        <p:spPr>
          <a:xfrm>
            <a:off x="6931152" y="2029967"/>
            <a:ext cx="4526279" cy="1627632"/>
          </a:xfrm>
          <a:prstGeom prst="rect">
            <a:avLst/>
          </a:prstGeom>
          <a:noFill/>
        </p:spPr>
        <p:txBody>
          <a:bodyPr wrap="square" lIns="0" rIns="0" tIns="0" bIns="0" anchor="t">
            <a:spAutoFit/>
          </a:bodyPr>
          <a:lstStyle/>
          <a:p>
            <a:pPr algn="l">
              <a:lnSpc>
                <a:spcPct val="114000"/>
              </a:lnSpc>
              <a:spcAft>
                <a:spcPts val="0"/>
              </a:spcAft>
            </a:pPr>
            <a:r>
              <a:rPr sz="1050" b="0" i="0">
                <a:solidFill>
                  <a:srgbClr val="CFE0FF"/>
                </a:solidFill>
                <a:latin typeface="Consolas"/>
              </a:rPr>
              <a:t>8051 HARDWARE LAB</a:t>
            </a:r>
          </a:p>
          <a:p>
            <a:pPr algn="l">
              <a:lnSpc>
                <a:spcPct val="114000"/>
              </a:lnSpc>
              <a:spcAft>
                <a:spcPts val="0"/>
              </a:spcAft>
            </a:pPr>
            <a:r>
              <a:rPr sz="1050" b="0" i="0">
                <a:solidFill>
                  <a:srgbClr val="CFE0FF"/>
                </a:solidFill>
                <a:latin typeface="Consolas"/>
              </a:rPr>
              <a:t>POWER ON SELF TEST</a:t>
            </a:r>
          </a:p>
          <a:p>
            <a:pPr algn="l">
              <a:lnSpc>
                <a:spcPct val="114000"/>
              </a:lnSpc>
              <a:spcAft>
                <a:spcPts val="0"/>
              </a:spcAft>
            </a:pPr>
          </a:p>
          <a:p>
            <a:pPr algn="l">
              <a:lnSpc>
                <a:spcPct val="114000"/>
              </a:lnSpc>
              <a:spcAft>
                <a:spcPts val="0"/>
              </a:spcAft>
            </a:pPr>
            <a:r>
              <a:rPr sz="1050" b="0" i="0">
                <a:solidFill>
                  <a:srgbClr val="CFE0FF"/>
                </a:solidFill>
                <a:latin typeface="Consolas"/>
              </a:rPr>
              <a:t>LED BANK      : OK</a:t>
            </a:r>
          </a:p>
          <a:p>
            <a:pPr algn="l">
              <a:lnSpc>
                <a:spcPct val="114000"/>
              </a:lnSpc>
              <a:spcAft>
                <a:spcPts val="0"/>
              </a:spcAft>
            </a:pPr>
            <a:r>
              <a:rPr sz="1050" b="0" i="0">
                <a:solidFill>
                  <a:srgbClr val="CFE0FF"/>
                </a:solidFill>
                <a:latin typeface="Consolas"/>
              </a:rPr>
              <a:t>7 SEGMENT     : OK</a:t>
            </a:r>
          </a:p>
          <a:p>
            <a:pPr algn="l">
              <a:lnSpc>
                <a:spcPct val="114000"/>
              </a:lnSpc>
              <a:spcAft>
                <a:spcPts val="0"/>
              </a:spcAft>
            </a:pPr>
            <a:r>
              <a:rPr sz="1050" b="0" i="0">
                <a:solidFill>
                  <a:srgbClr val="CFE0FF"/>
                </a:solidFill>
                <a:latin typeface="Consolas"/>
              </a:rPr>
              <a:t>RELAY DRIVER  : OK</a:t>
            </a:r>
          </a:p>
        </p:txBody>
      </p:sp>
      <p:graphicFrame>
        <p:nvGraphicFramePr>
          <p:cNvPr id="17" name="Table 16"/>
          <p:cNvGraphicFramePr>
            <a:graphicFrameLocks noGrp="1"/>
          </p:cNvGraphicFramePr>
          <p:nvPr/>
        </p:nvGraphicFramePr>
        <p:xfrm>
          <a:off x="566928" y="3931920"/>
          <a:ext cx="11058111" cy="1691640"/>
        </p:xfrm>
        <a:graphic>
          <a:graphicData uri="http://schemas.openxmlformats.org/drawingml/2006/table">
            <a:tbl>
              <a:tblPr firstRow="1">
                <a:tableStyleId>{5C22544A-7EE6-4342-B048-85BDC9FD1C3A}</a:tableStyleId>
              </a:tblPr>
              <a:tblGrid>
                <a:gridCol w="2390943"/>
                <a:gridCol w="1195471"/>
                <a:gridCol w="1892830"/>
                <a:gridCol w="2191698"/>
                <a:gridCol w="3387169"/>
              </a:tblGrid>
              <a:tr h="281940">
                <a:tc>
                  <a:txBody>
                    <a:bodyPr wrap="square"/>
                    <a:lstStyle/>
                    <a:p>
                      <a:pPr algn="l"/>
                      <a:r>
                        <a:rPr sz="1000" b="1">
                          <a:solidFill>
                            <a:srgbClr val="CFE0FF"/>
                          </a:solidFill>
                          <a:latin typeface="Calibri"/>
                        </a:rPr>
                        <a:t>Check</a:t>
                      </a:r>
                    </a:p>
                  </a:txBody>
                  <a:tcPr marL="73152" marR="73152" marT="27432" marB="27432" anchor="ctr">
                    <a:solidFill>
                      <a:srgbClr val="2A3C63"/>
                    </a:solidFill>
                  </a:tcPr>
                </a:tc>
                <a:tc>
                  <a:txBody>
                    <a:bodyPr wrap="square"/>
                    <a:lstStyle/>
                    <a:p>
                      <a:pPr algn="ctr"/>
                      <a:r>
                        <a:rPr sz="1000" b="1">
                          <a:solidFill>
                            <a:srgbClr val="CFE0FF"/>
                          </a:solidFill>
                          <a:latin typeface="Calibri"/>
                        </a:rPr>
                        <a:t>Raw code</a:t>
                      </a:r>
                    </a:p>
                  </a:txBody>
                  <a:tcPr marL="73152" marR="73152" marT="27432" marB="27432" anchor="ctr">
                    <a:solidFill>
                      <a:srgbClr val="2A3C63"/>
                    </a:solidFill>
                  </a:tcPr>
                </a:tc>
                <a:tc>
                  <a:txBody>
                    <a:bodyPr wrap="square"/>
                    <a:lstStyle/>
                    <a:p>
                      <a:pPr algn="ctr"/>
                      <a:r>
                        <a:rPr sz="1000" b="1">
                          <a:solidFill>
                            <a:srgbClr val="CFE0FF"/>
                          </a:solidFill>
                          <a:latin typeface="Calibri"/>
                        </a:rPr>
                        <a:t>T = raw x 25 / 32</a:t>
                      </a:r>
                    </a:p>
                  </a:txBody>
                  <a:tcPr marL="73152" marR="73152" marT="27432" marB="27432" anchor="ctr">
                    <a:solidFill>
                      <a:srgbClr val="2A3C63"/>
                    </a:solidFill>
                  </a:tcPr>
                </a:tc>
                <a:tc>
                  <a:txBody>
                    <a:bodyPr wrap="square"/>
                    <a:lstStyle/>
                    <a:p>
                      <a:pPr algn="ctr"/>
                      <a:r>
                        <a:rPr sz="1000" b="1">
                          <a:solidFill>
                            <a:srgbClr val="CFE0FF"/>
                          </a:solidFill>
                          <a:latin typeface="Calibri"/>
                        </a:rPr>
                        <a:t>Zone</a:t>
                      </a:r>
                    </a:p>
                  </a:txBody>
                  <a:tcPr marL="73152" marR="73152" marT="27432" marB="27432" anchor="ctr">
                    <a:solidFill>
                      <a:srgbClr val="2A3C63"/>
                    </a:solidFill>
                  </a:tcPr>
                </a:tc>
                <a:tc>
                  <a:txBody>
                    <a:bodyPr wrap="square"/>
                    <a:lstStyle/>
                    <a:p>
                      <a:pPr algn="l"/>
                      <a:r>
                        <a:rPr sz="1000" b="1">
                          <a:solidFill>
                            <a:srgbClr val="CFE0FF"/>
                          </a:solidFill>
                          <a:latin typeface="Calibri"/>
                        </a:rPr>
                        <a:t>Action</a:t>
                      </a:r>
                    </a:p>
                  </a:txBody>
                  <a:tcPr marL="73152" marR="73152" marT="27432" marB="27432" anchor="ctr">
                    <a:solidFill>
                      <a:srgbClr val="2A3C63"/>
                    </a:solidFill>
                  </a:tcPr>
                </a:tc>
              </a:tr>
              <a:tr h="281940">
                <a:tc>
                  <a:txBody>
                    <a:bodyPr wrap="square"/>
                    <a:lstStyle/>
                    <a:p>
                      <a:pPr algn="l"/>
                      <a:r>
                        <a:rPr sz="1000" b="0">
                          <a:solidFill>
                            <a:srgbClr val="F2F6FF"/>
                          </a:solidFill>
                          <a:latin typeface="Calibri"/>
                        </a:rPr>
                        <a:t>Room temperature</a:t>
                      </a:r>
                    </a:p>
                  </a:txBody>
                  <a:tcPr marL="73152" marR="73152" marT="27432" marB="27432" anchor="ctr">
                    <a:solidFill>
                      <a:srgbClr val="17243E"/>
                    </a:solidFill>
                  </a:tcPr>
                </a:tc>
                <a:tc>
                  <a:txBody>
                    <a:bodyPr wrap="square"/>
                    <a:lstStyle/>
                    <a:p>
                      <a:pPr algn="ctr"/>
                      <a:r>
                        <a:rPr sz="1000" b="0">
                          <a:solidFill>
                            <a:srgbClr val="F2F6FF"/>
                          </a:solidFill>
                          <a:latin typeface="Calibri"/>
                        </a:rPr>
                        <a:t>36</a:t>
                      </a:r>
                    </a:p>
                  </a:txBody>
                  <a:tcPr marL="73152" marR="73152" marT="27432" marB="27432" anchor="ctr">
                    <a:solidFill>
                      <a:srgbClr val="17243E"/>
                    </a:solidFill>
                  </a:tcPr>
                </a:tc>
                <a:tc>
                  <a:txBody>
                    <a:bodyPr wrap="square"/>
                    <a:lstStyle/>
                    <a:p>
                      <a:pPr algn="ctr"/>
                      <a:r>
                        <a:rPr sz="1000" b="0">
                          <a:solidFill>
                            <a:srgbClr val="F2F6FF"/>
                          </a:solidFill>
                          <a:latin typeface="Calibri"/>
                        </a:rPr>
                        <a:t>28.1 C</a:t>
                      </a:r>
                    </a:p>
                  </a:txBody>
                  <a:tcPr marL="73152" marR="73152" marT="27432" marB="27432" anchor="ctr">
                    <a:solidFill>
                      <a:srgbClr val="17243E"/>
                    </a:solidFill>
                  </a:tcPr>
                </a:tc>
                <a:tc>
                  <a:txBody>
                    <a:bodyPr wrap="square"/>
                    <a:lstStyle/>
                    <a:p>
                      <a:pPr algn="ctr"/>
                      <a:r>
                        <a:rPr sz="1000" b="0">
                          <a:solidFill>
                            <a:srgbClr val="F2F6FF"/>
                          </a:solidFill>
                          <a:latin typeface="Calibri"/>
                        </a:rPr>
                        <a:t>SAFE</a:t>
                      </a:r>
                    </a:p>
                  </a:txBody>
                  <a:tcPr marL="73152" marR="73152" marT="27432" marB="27432" anchor="ctr">
                    <a:solidFill>
                      <a:srgbClr val="17243E"/>
                    </a:solidFill>
                  </a:tcPr>
                </a:tc>
                <a:tc>
                  <a:txBody>
                    <a:bodyPr wrap="square"/>
                    <a:lstStyle/>
                    <a:p>
                      <a:pPr algn="l"/>
                      <a:r>
                        <a:rPr sz="1000" b="0">
                          <a:solidFill>
                            <a:srgbClr val="F2F6FF"/>
                          </a:solidFill>
                          <a:latin typeface="Calibri"/>
                        </a:rPr>
                        <a:t>green LED, fan off</a:t>
                      </a:r>
                    </a:p>
                  </a:txBody>
                  <a:tcPr marL="73152" marR="73152" marT="27432" marB="27432" anchor="ctr">
                    <a:solidFill>
                      <a:srgbClr val="17243E"/>
                    </a:solidFill>
                  </a:tcPr>
                </a:tc>
              </a:tr>
              <a:tr h="281940">
                <a:tc>
                  <a:txBody>
                    <a:bodyPr wrap="square"/>
                    <a:lstStyle/>
                    <a:p>
                      <a:pPr algn="l"/>
                      <a:r>
                        <a:rPr sz="1000" b="0">
                          <a:solidFill>
                            <a:srgbClr val="F2F6FF"/>
                          </a:solidFill>
                          <a:latin typeface="Calibri"/>
                        </a:rPr>
                        <a:t>Warmed by hand</a:t>
                      </a:r>
                    </a:p>
                  </a:txBody>
                  <a:tcPr marL="73152" marR="73152" marT="27432" marB="27432" anchor="ctr">
                    <a:solidFill>
                      <a:srgbClr val="1E2E4E"/>
                    </a:solidFill>
                  </a:tcPr>
                </a:tc>
                <a:tc>
                  <a:txBody>
                    <a:bodyPr wrap="square"/>
                    <a:lstStyle/>
                    <a:p>
                      <a:pPr algn="ctr"/>
                      <a:r>
                        <a:rPr sz="1000" b="0">
                          <a:solidFill>
                            <a:srgbClr val="F2F6FF"/>
                          </a:solidFill>
                          <a:latin typeface="Calibri"/>
                        </a:rPr>
                        <a:t>53</a:t>
                      </a:r>
                    </a:p>
                  </a:txBody>
                  <a:tcPr marL="73152" marR="73152" marT="27432" marB="27432" anchor="ctr">
                    <a:solidFill>
                      <a:srgbClr val="1E2E4E"/>
                    </a:solidFill>
                  </a:tcPr>
                </a:tc>
                <a:tc>
                  <a:txBody>
                    <a:bodyPr wrap="square"/>
                    <a:lstStyle/>
                    <a:p>
                      <a:pPr algn="ctr"/>
                      <a:r>
                        <a:rPr sz="1000" b="0">
                          <a:solidFill>
                            <a:srgbClr val="F2F6FF"/>
                          </a:solidFill>
                          <a:latin typeface="Calibri"/>
                        </a:rPr>
                        <a:t>41.4 C</a:t>
                      </a:r>
                    </a:p>
                  </a:txBody>
                  <a:tcPr marL="73152" marR="73152" marT="27432" marB="27432" anchor="ctr">
                    <a:solidFill>
                      <a:srgbClr val="1E2E4E"/>
                    </a:solidFill>
                  </a:tcPr>
                </a:tc>
                <a:tc>
                  <a:txBody>
                    <a:bodyPr wrap="square"/>
                    <a:lstStyle/>
                    <a:p>
                      <a:pPr algn="ctr"/>
                      <a:r>
                        <a:rPr sz="1000" b="0">
                          <a:solidFill>
                            <a:srgbClr val="F2F6FF"/>
                          </a:solidFill>
                          <a:latin typeface="Calibri"/>
                        </a:rPr>
                        <a:t>WARNING</a:t>
                      </a:r>
                    </a:p>
                  </a:txBody>
                  <a:tcPr marL="73152" marR="73152" marT="27432" marB="27432" anchor="ctr">
                    <a:solidFill>
                      <a:srgbClr val="1E2E4E"/>
                    </a:solidFill>
                  </a:tcPr>
                </a:tc>
                <a:tc>
                  <a:txBody>
                    <a:bodyPr wrap="square"/>
                    <a:lstStyle/>
                    <a:p>
                      <a:pPr algn="l"/>
                      <a:r>
                        <a:rPr sz="1000" b="0">
                          <a:solidFill>
                            <a:srgbClr val="F2F6FF"/>
                          </a:solidFill>
                          <a:latin typeface="Calibri"/>
                        </a:rPr>
                        <a:t>yellow LED, fan on</a:t>
                      </a:r>
                    </a:p>
                  </a:txBody>
                  <a:tcPr marL="73152" marR="73152" marT="27432" marB="27432" anchor="ctr">
                    <a:solidFill>
                      <a:srgbClr val="1E2E4E"/>
                    </a:solidFill>
                  </a:tcPr>
                </a:tc>
              </a:tr>
              <a:tr h="281940">
                <a:tc>
                  <a:txBody>
                    <a:bodyPr wrap="square"/>
                    <a:lstStyle/>
                    <a:p>
                      <a:pPr algn="l"/>
                      <a:r>
                        <a:rPr sz="1000" b="0">
                          <a:solidFill>
                            <a:srgbClr val="F2F6FF"/>
                          </a:solidFill>
                          <a:latin typeface="Calibri"/>
                        </a:rPr>
                        <a:t>Near a heat source</a:t>
                      </a:r>
                    </a:p>
                  </a:txBody>
                  <a:tcPr marL="73152" marR="73152" marT="27432" marB="27432" anchor="ctr">
                    <a:solidFill>
                      <a:srgbClr val="17243E"/>
                    </a:solidFill>
                  </a:tcPr>
                </a:tc>
                <a:tc>
                  <a:txBody>
                    <a:bodyPr wrap="square"/>
                    <a:lstStyle/>
                    <a:p>
                      <a:pPr algn="ctr"/>
                      <a:r>
                        <a:rPr sz="1000" b="0">
                          <a:solidFill>
                            <a:srgbClr val="F2F6FF"/>
                          </a:solidFill>
                          <a:latin typeface="Calibri"/>
                        </a:rPr>
                        <a:t>82</a:t>
                      </a:r>
                    </a:p>
                  </a:txBody>
                  <a:tcPr marL="73152" marR="73152" marT="27432" marB="27432" anchor="ctr">
                    <a:solidFill>
                      <a:srgbClr val="17243E"/>
                    </a:solidFill>
                  </a:tcPr>
                </a:tc>
                <a:tc>
                  <a:txBody>
                    <a:bodyPr wrap="square"/>
                    <a:lstStyle/>
                    <a:p>
                      <a:pPr algn="ctr"/>
                      <a:r>
                        <a:rPr sz="1000" b="0">
                          <a:solidFill>
                            <a:srgbClr val="F2F6FF"/>
                          </a:solidFill>
                          <a:latin typeface="Calibri"/>
                        </a:rPr>
                        <a:t>64.0 C</a:t>
                      </a:r>
                    </a:p>
                  </a:txBody>
                  <a:tcPr marL="73152" marR="73152" marT="27432" marB="27432" anchor="ctr">
                    <a:solidFill>
                      <a:srgbClr val="17243E"/>
                    </a:solidFill>
                  </a:tcPr>
                </a:tc>
                <a:tc>
                  <a:txBody>
                    <a:bodyPr wrap="square"/>
                    <a:lstStyle/>
                    <a:p>
                      <a:pPr algn="ctr"/>
                      <a:r>
                        <a:rPr sz="1000" b="0">
                          <a:solidFill>
                            <a:srgbClr val="F2F6FF"/>
                          </a:solidFill>
                          <a:latin typeface="Calibri"/>
                        </a:rPr>
                        <a:t>WARNING</a:t>
                      </a:r>
                    </a:p>
                  </a:txBody>
                  <a:tcPr marL="73152" marR="73152" marT="27432" marB="27432" anchor="ctr">
                    <a:solidFill>
                      <a:srgbClr val="17243E"/>
                    </a:solidFill>
                  </a:tcPr>
                </a:tc>
                <a:tc>
                  <a:txBody>
                    <a:bodyPr wrap="square"/>
                    <a:lstStyle/>
                    <a:p>
                      <a:pPr algn="l"/>
                      <a:r>
                        <a:rPr sz="1000" b="0">
                          <a:solidFill>
                            <a:srgbClr val="F2F6FF"/>
                          </a:solidFill>
                          <a:latin typeface="Calibri"/>
                        </a:rPr>
                        <a:t>yellow LED, fan on</a:t>
                      </a:r>
                    </a:p>
                  </a:txBody>
                  <a:tcPr marL="73152" marR="73152" marT="27432" marB="27432" anchor="ctr">
                    <a:solidFill>
                      <a:srgbClr val="17243E"/>
                    </a:solidFill>
                  </a:tcPr>
                </a:tc>
              </a:tr>
              <a:tr h="281940">
                <a:tc>
                  <a:txBody>
                    <a:bodyPr wrap="square"/>
                    <a:lstStyle/>
                    <a:p>
                      <a:pPr algn="l"/>
                      <a:r>
                        <a:rPr sz="1000" b="0">
                          <a:solidFill>
                            <a:srgbClr val="F2F6FF"/>
                          </a:solidFill>
                          <a:latin typeface="Calibri"/>
                        </a:rPr>
                        <a:t>Above the threshold</a:t>
                      </a:r>
                    </a:p>
                  </a:txBody>
                  <a:tcPr marL="73152" marR="73152" marT="27432" marB="27432" anchor="ctr">
                    <a:solidFill>
                      <a:srgbClr val="1E2E4E"/>
                    </a:solidFill>
                  </a:tcPr>
                </a:tc>
                <a:tc>
                  <a:txBody>
                    <a:bodyPr wrap="square"/>
                    <a:lstStyle/>
                    <a:p>
                      <a:pPr algn="ctr"/>
                      <a:r>
                        <a:rPr sz="1000" b="0">
                          <a:solidFill>
                            <a:srgbClr val="F2F6FF"/>
                          </a:solidFill>
                          <a:latin typeface="Calibri"/>
                        </a:rPr>
                        <a:t>93</a:t>
                      </a:r>
                    </a:p>
                  </a:txBody>
                  <a:tcPr marL="73152" marR="73152" marT="27432" marB="27432" anchor="ctr">
                    <a:solidFill>
                      <a:srgbClr val="1E2E4E"/>
                    </a:solidFill>
                  </a:tcPr>
                </a:tc>
                <a:tc>
                  <a:txBody>
                    <a:bodyPr wrap="square"/>
                    <a:lstStyle/>
                    <a:p>
                      <a:pPr algn="ctr"/>
                      <a:r>
                        <a:rPr sz="1000" b="0">
                          <a:solidFill>
                            <a:srgbClr val="F2F6FF"/>
                          </a:solidFill>
                          <a:latin typeface="Calibri"/>
                        </a:rPr>
                        <a:t>72.6 C</a:t>
                      </a:r>
                    </a:p>
                  </a:txBody>
                  <a:tcPr marL="73152" marR="73152" marT="27432" marB="27432" anchor="ctr">
                    <a:solidFill>
                      <a:srgbClr val="1E2E4E"/>
                    </a:solidFill>
                  </a:tcPr>
                </a:tc>
                <a:tc>
                  <a:txBody>
                    <a:bodyPr wrap="square"/>
                    <a:lstStyle/>
                    <a:p>
                      <a:pPr algn="ctr"/>
                      <a:r>
                        <a:rPr sz="1000" b="0">
                          <a:solidFill>
                            <a:srgbClr val="F2F6FF"/>
                          </a:solidFill>
                          <a:latin typeface="Calibri"/>
                        </a:rPr>
                        <a:t>DANGER</a:t>
                      </a:r>
                    </a:p>
                  </a:txBody>
                  <a:tcPr marL="73152" marR="73152" marT="27432" marB="27432" anchor="ctr">
                    <a:solidFill>
                      <a:srgbClr val="1E2E4E"/>
                    </a:solidFill>
                  </a:tcPr>
                </a:tc>
                <a:tc>
                  <a:txBody>
                    <a:bodyPr wrap="square"/>
                    <a:lstStyle/>
                    <a:p>
                      <a:pPr algn="l"/>
                      <a:r>
                        <a:rPr sz="1000" b="0">
                          <a:solidFill>
                            <a:srgbClr val="F2F6FF"/>
                          </a:solidFill>
                          <a:latin typeface="Calibri"/>
                        </a:rPr>
                        <a:t>red LED, fan on, buzzer on</a:t>
                      </a:r>
                    </a:p>
                  </a:txBody>
                  <a:tcPr marL="73152" marR="73152" marT="27432" marB="27432" anchor="ctr">
                    <a:solidFill>
                      <a:srgbClr val="1E2E4E"/>
                    </a:solidFill>
                  </a:tcPr>
                </a:tc>
              </a:tr>
              <a:tr h="281940">
                <a:tc>
                  <a:txBody>
                    <a:bodyPr wrap="square"/>
                    <a:lstStyle/>
                    <a:p>
                      <a:pPr algn="l"/>
                      <a:r>
                        <a:rPr sz="1000" b="0">
                          <a:solidFill>
                            <a:srgbClr val="F2F6FF"/>
                          </a:solidFill>
                          <a:latin typeface="Calibri"/>
                        </a:rPr>
                        <a:t>PB1 pressed</a:t>
                      </a:r>
                    </a:p>
                  </a:txBody>
                  <a:tcPr marL="73152" marR="73152" marT="27432" marB="27432" anchor="ctr">
                    <a:solidFill>
                      <a:srgbClr val="17243E"/>
                    </a:solidFill>
                  </a:tcPr>
                </a:tc>
                <a:tc>
                  <a:txBody>
                    <a:bodyPr wrap="square"/>
                    <a:lstStyle/>
                    <a:p>
                      <a:pPr algn="ctr"/>
                      <a:r>
                        <a:rPr sz="1000" b="0">
                          <a:solidFill>
                            <a:srgbClr val="F2F6FF"/>
                          </a:solidFill>
                          <a:latin typeface="Calibri"/>
                        </a:rPr>
                        <a:t>93</a:t>
                      </a:r>
                    </a:p>
                  </a:txBody>
                  <a:tcPr marL="73152" marR="73152" marT="27432" marB="27432" anchor="ctr">
                    <a:solidFill>
                      <a:srgbClr val="17243E"/>
                    </a:solidFill>
                  </a:tcPr>
                </a:tc>
                <a:tc>
                  <a:txBody>
                    <a:bodyPr wrap="square"/>
                    <a:lstStyle/>
                    <a:p>
                      <a:pPr algn="ctr"/>
                      <a:r>
                        <a:rPr sz="1000" b="0">
                          <a:solidFill>
                            <a:srgbClr val="F2F6FF"/>
                          </a:solidFill>
                          <a:latin typeface="Calibri"/>
                        </a:rPr>
                        <a:t>72.6 C</a:t>
                      </a:r>
                    </a:p>
                  </a:txBody>
                  <a:tcPr marL="73152" marR="73152" marT="27432" marB="27432" anchor="ctr">
                    <a:solidFill>
                      <a:srgbClr val="17243E"/>
                    </a:solidFill>
                  </a:tcPr>
                </a:tc>
                <a:tc>
                  <a:txBody>
                    <a:bodyPr wrap="square"/>
                    <a:lstStyle/>
                    <a:p>
                      <a:pPr algn="ctr"/>
                      <a:r>
                        <a:rPr sz="1000" b="0">
                          <a:solidFill>
                            <a:srgbClr val="F2F6FF"/>
                          </a:solidFill>
                          <a:latin typeface="Calibri"/>
                        </a:rPr>
                        <a:t>EMERGENCY</a:t>
                      </a:r>
                    </a:p>
                  </a:txBody>
                  <a:tcPr marL="73152" marR="73152" marT="27432" marB="27432" anchor="ctr">
                    <a:solidFill>
                      <a:srgbClr val="17243E"/>
                    </a:solidFill>
                  </a:tcPr>
                </a:tc>
                <a:tc>
                  <a:txBody>
                    <a:bodyPr wrap="square"/>
                    <a:lstStyle/>
                    <a:p>
                      <a:pPr algn="l"/>
                      <a:r>
                        <a:rPr sz="1000" b="0">
                          <a:solidFill>
                            <a:srgbClr val="F2F6FF"/>
                          </a:solidFill>
                          <a:latin typeface="Calibri"/>
                        </a:rPr>
                        <a:t>fan off, buzzer on, latched</a:t>
                      </a:r>
                    </a:p>
                  </a:txBody>
                  <a:tcPr marL="73152" marR="73152" marT="27432" marB="27432" anchor="ctr">
                    <a:solidFill>
                      <a:srgbClr val="17243E"/>
                    </a:solidFill>
                  </a:tcPr>
                </a:tc>
              </a:tr>
            </a:tbl>
          </a:graphicData>
        </a:graphic>
      </p:graphicFrame>
      <p:sp>
        <p:nvSpPr>
          <p:cNvPr id="18" name="Rounded Rectangle 17"/>
          <p:cNvSpPr/>
          <p:nvPr/>
        </p:nvSpPr>
        <p:spPr>
          <a:xfrm>
            <a:off x="566928" y="5779008"/>
            <a:ext cx="11058113" cy="475488"/>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870448"/>
            <a:ext cx="10582625" cy="320040"/>
          </a:xfrm>
          <a:prstGeom prst="rect">
            <a:avLst/>
          </a:prstGeom>
          <a:noFill/>
        </p:spPr>
        <p:txBody>
          <a:bodyPr wrap="square" lIns="0" rIns="0" tIns="0" bIns="0" anchor="t">
            <a:spAutoFit/>
          </a:bodyPr>
          <a:lstStyle/>
          <a:p>
            <a:pPr algn="l">
              <a:lnSpc>
                <a:spcPct val="115000"/>
              </a:lnSpc>
              <a:spcAft>
                <a:spcPts val="0"/>
              </a:spcAft>
            </a:pPr>
            <a:r>
              <a:rPr sz="1100" b="0" i="0">
                <a:solidFill>
                  <a:srgbClr val="CFE0FF"/>
                </a:solidFill>
                <a:latin typeface="Calibri"/>
              </a:rPr>
              <a:t>Every printed pair satisfies the transfer function, which is the arithmetic link between the analog hardware and the digital output.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DESIGN DECISIONS</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Trade-offs made, and why</a:t>
            </a:r>
          </a:p>
        </p:txBody>
      </p:sp>
      <p:sp>
        <p:nvSpPr>
          <p:cNvPr id="6" name="Rectangle 5"/>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9" name="TextBox 8"/>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24</a:t>
            </a:r>
          </a:p>
        </p:txBody>
      </p:sp>
      <p:graphicFrame>
        <p:nvGraphicFramePr>
          <p:cNvPr id="10" name="Table 9"/>
          <p:cNvGraphicFramePr>
            <a:graphicFrameLocks noGrp="1"/>
          </p:cNvGraphicFramePr>
          <p:nvPr/>
        </p:nvGraphicFramePr>
        <p:xfrm>
          <a:off x="566928" y="1645920"/>
          <a:ext cx="11058112" cy="3931920"/>
        </p:xfrm>
        <a:graphic>
          <a:graphicData uri="http://schemas.openxmlformats.org/drawingml/2006/table">
            <a:tbl>
              <a:tblPr firstRow="1">
                <a:tableStyleId>{5C22544A-7EE6-4342-B048-85BDC9FD1C3A}</a:tableStyleId>
              </a:tblPr>
              <a:tblGrid>
                <a:gridCol w="2284734"/>
                <a:gridCol w="3015849"/>
                <a:gridCol w="5757529"/>
              </a:tblGrid>
              <a:tr h="393192">
                <a:tc>
                  <a:txBody>
                    <a:bodyPr wrap="square"/>
                    <a:lstStyle/>
                    <a:p>
                      <a:pPr algn="l"/>
                      <a:r>
                        <a:rPr sz="950" b="1">
                          <a:solidFill>
                            <a:srgbClr val="CFE0FF"/>
                          </a:solidFill>
                          <a:latin typeface="Calibri"/>
                        </a:rPr>
                        <a:t>Decision</a:t>
                      </a:r>
                    </a:p>
                  </a:txBody>
                  <a:tcPr marL="73152" marR="73152" marT="27432" marB="27432" anchor="ctr">
                    <a:solidFill>
                      <a:srgbClr val="2A3C63"/>
                    </a:solidFill>
                  </a:tcPr>
                </a:tc>
                <a:tc>
                  <a:txBody>
                    <a:bodyPr wrap="square"/>
                    <a:lstStyle/>
                    <a:p>
                      <a:pPr algn="l"/>
                      <a:r>
                        <a:rPr sz="950" b="1">
                          <a:solidFill>
                            <a:srgbClr val="CFE0FF"/>
                          </a:solidFill>
                          <a:latin typeface="Calibri"/>
                        </a:rPr>
                        <a:t>Alternative considered</a:t>
                      </a:r>
                    </a:p>
                  </a:txBody>
                  <a:tcPr marL="73152" marR="73152" marT="27432" marB="27432" anchor="ctr">
                    <a:solidFill>
                      <a:srgbClr val="2A3C63"/>
                    </a:solidFill>
                  </a:tcPr>
                </a:tc>
                <a:tc>
                  <a:txBody>
                    <a:bodyPr wrap="square"/>
                    <a:lstStyle/>
                    <a:p>
                      <a:pPr algn="l"/>
                      <a:r>
                        <a:rPr sz="950" b="1">
                          <a:solidFill>
                            <a:srgbClr val="CFE0FF"/>
                          </a:solidFill>
                          <a:latin typeface="Calibri"/>
                        </a:rPr>
                        <a:t>Why this one was chosen</a:t>
                      </a:r>
                    </a:p>
                  </a:txBody>
                  <a:tcPr marL="73152" marR="73152" marT="27432" marB="27432" anchor="ctr">
                    <a:solidFill>
                      <a:srgbClr val="2A3C63"/>
                    </a:solidFill>
                  </a:tcPr>
                </a:tc>
              </a:tr>
              <a:tr h="393192">
                <a:tc>
                  <a:txBody>
                    <a:bodyPr wrap="square"/>
                    <a:lstStyle/>
                    <a:p>
                      <a:pPr algn="l"/>
                      <a:r>
                        <a:rPr sz="950" b="0">
                          <a:solidFill>
                            <a:srgbClr val="F2F6FF"/>
                          </a:solidFill>
                          <a:latin typeface="Calibri"/>
                        </a:rPr>
                        <a:t>AT89S52 with ISP</a:t>
                      </a:r>
                    </a:p>
                  </a:txBody>
                  <a:tcPr marL="73152" marR="73152" marT="27432" marB="27432" anchor="ctr">
                    <a:solidFill>
                      <a:srgbClr val="17243E"/>
                    </a:solidFill>
                  </a:tcPr>
                </a:tc>
                <a:tc>
                  <a:txBody>
                    <a:bodyPr wrap="square"/>
                    <a:lstStyle/>
                    <a:p>
                      <a:pPr algn="l"/>
                      <a:r>
                        <a:rPr sz="950" b="0">
                          <a:solidFill>
                            <a:srgbClr val="F2F6FF"/>
                          </a:solidFill>
                          <a:latin typeface="Calibri"/>
                        </a:rPr>
                        <a:t>AT89C51 with a parallel programmer</a:t>
                      </a:r>
                    </a:p>
                  </a:txBody>
                  <a:tcPr marL="73152" marR="73152" marT="27432" marB="27432" anchor="ctr">
                    <a:solidFill>
                      <a:srgbClr val="17243E"/>
                    </a:solidFill>
                  </a:tcPr>
                </a:tc>
                <a:tc>
                  <a:txBody>
                    <a:bodyPr wrap="square"/>
                    <a:lstStyle/>
                    <a:p>
                      <a:pPr algn="l"/>
                      <a:r>
                        <a:rPr sz="950" b="0">
                          <a:solidFill>
                            <a:srgbClr val="F2F6FF"/>
                          </a:solidFill>
                          <a:latin typeface="Calibri"/>
                        </a:rPr>
                        <a:t>programmed with a 250 rupee USBasp; the C51 needs hardware costing several thousand</a:t>
                      </a:r>
                    </a:p>
                  </a:txBody>
                  <a:tcPr marL="73152" marR="73152" marT="27432" marB="27432" anchor="ctr">
                    <a:solidFill>
                      <a:srgbClr val="17243E"/>
                    </a:solidFill>
                  </a:tcPr>
                </a:tc>
              </a:tr>
              <a:tr h="393192">
                <a:tc>
                  <a:txBody>
                    <a:bodyPr wrap="square"/>
                    <a:lstStyle/>
                    <a:p>
                      <a:pPr algn="l"/>
                      <a:r>
                        <a:rPr sz="950" b="0">
                          <a:solidFill>
                            <a:srgbClr val="F2F6FF"/>
                          </a:solidFill>
                          <a:latin typeface="Calibri"/>
                        </a:rPr>
                        <a:t>Software driven bus</a:t>
                      </a:r>
                    </a:p>
                  </a:txBody>
                  <a:tcPr marL="73152" marR="73152" marT="27432" marB="27432" anchor="ctr">
                    <a:solidFill>
                      <a:srgbClr val="1E2E4E"/>
                    </a:solidFill>
                  </a:tcPr>
                </a:tc>
                <a:tc>
                  <a:txBody>
                    <a:bodyPr wrap="square"/>
                    <a:lstStyle/>
                    <a:p>
                      <a:pPr algn="l"/>
                      <a:r>
                        <a:rPr sz="950" b="0">
                          <a:solidFill>
                            <a:srgbClr val="F2F6FF"/>
                          </a:solidFill>
                          <a:latin typeface="Calibri"/>
                        </a:rPr>
                        <a:t>MOVX with an address latch and decoder</a:t>
                      </a:r>
                    </a:p>
                  </a:txBody>
                  <a:tcPr marL="73152" marR="73152" marT="27432" marB="27432" anchor="ctr">
                    <a:solidFill>
                      <a:srgbClr val="1E2E4E"/>
                    </a:solidFill>
                  </a:tcPr>
                </a:tc>
                <a:tc>
                  <a:txBody>
                    <a:bodyPr wrap="square"/>
                    <a:lstStyle/>
                    <a:p>
                      <a:pPr algn="l"/>
                      <a:r>
                        <a:rPr sz="950" b="0">
                          <a:solidFill>
                            <a:srgbClr val="F2F6FF"/>
                          </a:solidFill>
                          <a:latin typeface="Calibri"/>
                        </a:rPr>
                        <a:t>port 2 stays free for eight strobes and the code stays readable for teaching</a:t>
                      </a:r>
                    </a:p>
                  </a:txBody>
                  <a:tcPr marL="73152" marR="73152" marT="27432" marB="27432" anchor="ctr">
                    <a:solidFill>
                      <a:srgbClr val="1E2E4E"/>
                    </a:solidFill>
                  </a:tcPr>
                </a:tc>
              </a:tr>
              <a:tr h="393192">
                <a:tc>
                  <a:txBody>
                    <a:bodyPr wrap="square"/>
                    <a:lstStyle/>
                    <a:p>
                      <a:pPr algn="l"/>
                      <a:r>
                        <a:rPr sz="950" b="0">
                          <a:solidFill>
                            <a:srgbClr val="F2F6FF"/>
                          </a:solidFill>
                          <a:latin typeface="Calibri"/>
                        </a:rPr>
                        <a:t>74HC573 latches</a:t>
                      </a:r>
                    </a:p>
                  </a:txBody>
                  <a:tcPr marL="73152" marR="73152" marT="27432" marB="27432" anchor="ctr">
                    <a:solidFill>
                      <a:srgbClr val="17243E"/>
                    </a:solidFill>
                  </a:tcPr>
                </a:tc>
                <a:tc>
                  <a:txBody>
                    <a:bodyPr wrap="square"/>
                    <a:lstStyle/>
                    <a:p>
                      <a:pPr algn="l"/>
                      <a:r>
                        <a:rPr sz="950" b="0">
                          <a:solidFill>
                            <a:srgbClr val="F2F6FF"/>
                          </a:solidFill>
                          <a:latin typeface="Calibri"/>
                        </a:rPr>
                        <a:t>74LS573 or 74HC373</a:t>
                      </a:r>
                    </a:p>
                  </a:txBody>
                  <a:tcPr marL="73152" marR="73152" marT="27432" marB="27432" anchor="ctr">
                    <a:solidFill>
                      <a:srgbClr val="17243E"/>
                    </a:solidFill>
                  </a:tcPr>
                </a:tc>
                <a:tc>
                  <a:txBody>
                    <a:bodyPr wrap="square"/>
                    <a:lstStyle/>
                    <a:p>
                      <a:pPr algn="l"/>
                      <a:r>
                        <a:rPr sz="950" b="0">
                          <a:solidFill>
                            <a:srgbClr val="F2F6FF"/>
                          </a:solidFill>
                          <a:latin typeface="Calibri"/>
                        </a:rPr>
                        <a:t>CMOS inputs suit the port 0 pull-ups and load the bus less</a:t>
                      </a:r>
                    </a:p>
                  </a:txBody>
                  <a:tcPr marL="73152" marR="73152" marT="27432" marB="27432" anchor="ctr">
                    <a:solidFill>
                      <a:srgbClr val="17243E"/>
                    </a:solidFill>
                  </a:tcPr>
                </a:tc>
              </a:tr>
              <a:tr h="393192">
                <a:tc>
                  <a:txBody>
                    <a:bodyPr wrap="square"/>
                    <a:lstStyle/>
                    <a:p>
                      <a:pPr algn="l"/>
                      <a:r>
                        <a:rPr sz="950" b="0">
                          <a:solidFill>
                            <a:srgbClr val="F2F6FF"/>
                          </a:solidFill>
                          <a:latin typeface="Calibri"/>
                        </a:rPr>
                        <a:t>470 Ohm LED resistors</a:t>
                      </a:r>
                    </a:p>
                  </a:txBody>
                  <a:tcPr marL="73152" marR="73152" marT="27432" marB="27432" anchor="ctr">
                    <a:solidFill>
                      <a:srgbClr val="1E2E4E"/>
                    </a:solidFill>
                  </a:tcPr>
                </a:tc>
                <a:tc>
                  <a:txBody>
                    <a:bodyPr wrap="square"/>
                    <a:lstStyle/>
                    <a:p>
                      <a:pPr algn="l"/>
                      <a:r>
                        <a:rPr sz="950" b="0">
                          <a:solidFill>
                            <a:srgbClr val="F2F6FF"/>
                          </a:solidFill>
                          <a:latin typeface="Calibri"/>
                        </a:rPr>
                        <a:t>the usual 330 Ohm</a:t>
                      </a:r>
                    </a:p>
                  </a:txBody>
                  <a:tcPr marL="73152" marR="73152" marT="27432" marB="27432" anchor="ctr">
                    <a:solidFill>
                      <a:srgbClr val="1E2E4E"/>
                    </a:solidFill>
                  </a:tcPr>
                </a:tc>
                <a:tc>
                  <a:txBody>
                    <a:bodyPr wrap="square"/>
                    <a:lstStyle/>
                    <a:p>
                      <a:pPr algn="l"/>
                      <a:r>
                        <a:rPr sz="950" b="0">
                          <a:solidFill>
                            <a:srgbClr val="F2F6FF"/>
                          </a:solidFill>
                          <a:latin typeface="Calibri"/>
                        </a:rPr>
                        <a:t>keeps the package current at 53 mA, inside the 70 mA limit</a:t>
                      </a:r>
                    </a:p>
                  </a:txBody>
                  <a:tcPr marL="73152" marR="73152" marT="27432" marB="27432" anchor="ctr">
                    <a:solidFill>
                      <a:srgbClr val="1E2E4E"/>
                    </a:solidFill>
                  </a:tcPr>
                </a:tc>
              </a:tr>
              <a:tr h="393192">
                <a:tc>
                  <a:txBody>
                    <a:bodyPr wrap="square"/>
                    <a:lstStyle/>
                    <a:p>
                      <a:pPr algn="l"/>
                      <a:r>
                        <a:rPr sz="950" b="0">
                          <a:solidFill>
                            <a:srgbClr val="F2F6FF"/>
                          </a:solidFill>
                          <a:latin typeface="Calibri"/>
                        </a:rPr>
                        <a:t>Vref/2 at 1.000 V</a:t>
                      </a:r>
                    </a:p>
                  </a:txBody>
                  <a:tcPr marL="73152" marR="73152" marT="27432" marB="27432" anchor="ctr">
                    <a:solidFill>
                      <a:srgbClr val="17243E"/>
                    </a:solidFill>
                  </a:tcPr>
                </a:tc>
                <a:tc>
                  <a:txBody>
                    <a:bodyPr wrap="square"/>
                    <a:lstStyle/>
                    <a:p>
                      <a:pPr algn="l"/>
                      <a:r>
                        <a:rPr sz="950" b="0">
                          <a:solidFill>
                            <a:srgbClr val="F2F6FF"/>
                          </a:solidFill>
                          <a:latin typeface="Calibri"/>
                        </a:rPr>
                        <a:t>internal 2.5 V reference</a:t>
                      </a:r>
                    </a:p>
                  </a:txBody>
                  <a:tcPr marL="73152" marR="73152" marT="27432" marB="27432" anchor="ctr">
                    <a:solidFill>
                      <a:srgbClr val="17243E"/>
                    </a:solidFill>
                  </a:tcPr>
                </a:tc>
                <a:tc>
                  <a:txBody>
                    <a:bodyPr wrap="square"/>
                    <a:lstStyle/>
                    <a:p>
                      <a:pPr algn="l"/>
                      <a:r>
                        <a:rPr sz="950" b="0">
                          <a:solidFill>
                            <a:srgbClr val="F2F6FF"/>
                          </a:solidFill>
                          <a:latin typeface="Calibri"/>
                        </a:rPr>
                        <a:t>0.78 degree C per step instead of 1.95, using the LM35 range properly</a:t>
                      </a:r>
                    </a:p>
                  </a:txBody>
                  <a:tcPr marL="73152" marR="73152" marT="27432" marB="27432" anchor="ctr">
                    <a:solidFill>
                      <a:srgbClr val="17243E"/>
                    </a:solidFill>
                  </a:tcPr>
                </a:tc>
              </a:tr>
              <a:tr h="393192">
                <a:tc>
                  <a:txBody>
                    <a:bodyPr wrap="square"/>
                    <a:lstStyle/>
                    <a:p>
                      <a:pPr algn="l"/>
                      <a:r>
                        <a:rPr sz="950" b="0">
                          <a:solidFill>
                            <a:srgbClr val="F2F6FF"/>
                          </a:solidFill>
                          <a:latin typeface="Calibri"/>
                        </a:rPr>
                        <a:t>Software debounce</a:t>
                      </a:r>
                    </a:p>
                  </a:txBody>
                  <a:tcPr marL="73152" marR="73152" marT="27432" marB="27432" anchor="ctr">
                    <a:solidFill>
                      <a:srgbClr val="1E2E4E"/>
                    </a:solidFill>
                  </a:tcPr>
                </a:tc>
                <a:tc>
                  <a:txBody>
                    <a:bodyPr wrap="square"/>
                    <a:lstStyle/>
                    <a:p>
                      <a:pPr algn="l"/>
                      <a:r>
                        <a:rPr sz="950" b="0">
                          <a:solidFill>
                            <a:srgbClr val="F2F6FF"/>
                          </a:solidFill>
                          <a:latin typeface="Calibri"/>
                        </a:rPr>
                        <a:t>RC filter or a Schmitt trigger</a:t>
                      </a:r>
                    </a:p>
                  </a:txBody>
                  <a:tcPr marL="73152" marR="73152" marT="27432" marB="27432" anchor="ctr">
                    <a:solidFill>
                      <a:srgbClr val="1E2E4E"/>
                    </a:solidFill>
                  </a:tcPr>
                </a:tc>
                <a:tc>
                  <a:txBody>
                    <a:bodyPr wrap="square"/>
                    <a:lstStyle/>
                    <a:p>
                      <a:pPr algn="l"/>
                      <a:r>
                        <a:rPr sz="950" b="0">
                          <a:solidFill>
                            <a:srgbClr val="F2F6FF"/>
                          </a:solidFill>
                          <a:latin typeface="Calibri"/>
                        </a:rPr>
                        <a:t>no extra parts, and the pin count has no spares left</a:t>
                      </a:r>
                    </a:p>
                  </a:txBody>
                  <a:tcPr marL="73152" marR="73152" marT="27432" marB="27432" anchor="ctr">
                    <a:solidFill>
                      <a:srgbClr val="1E2E4E"/>
                    </a:solidFill>
                  </a:tcPr>
                </a:tc>
              </a:tr>
              <a:tr h="393192">
                <a:tc>
                  <a:txBody>
                    <a:bodyPr wrap="square"/>
                    <a:lstStyle/>
                    <a:p>
                      <a:pPr algn="l"/>
                      <a:r>
                        <a:rPr sz="950" b="0">
                          <a:solidFill>
                            <a:srgbClr val="F2F6FF"/>
                          </a:solidFill>
                          <a:latin typeface="Calibri"/>
                        </a:rPr>
                        <a:t>Common cathode display</a:t>
                      </a:r>
                    </a:p>
                  </a:txBody>
                  <a:tcPr marL="73152" marR="73152" marT="27432" marB="27432" anchor="ctr">
                    <a:solidFill>
                      <a:srgbClr val="17243E"/>
                    </a:solidFill>
                  </a:tcPr>
                </a:tc>
                <a:tc>
                  <a:txBody>
                    <a:bodyPr wrap="square"/>
                    <a:lstStyle/>
                    <a:p>
                      <a:pPr algn="l"/>
                      <a:r>
                        <a:rPr sz="950" b="0">
                          <a:solidFill>
                            <a:srgbClr val="F2F6FF"/>
                          </a:solidFill>
                          <a:latin typeface="Calibri"/>
                        </a:rPr>
                        <a:t>common anode</a:t>
                      </a:r>
                    </a:p>
                  </a:txBody>
                  <a:tcPr marL="73152" marR="73152" marT="27432" marB="27432" anchor="ctr">
                    <a:solidFill>
                      <a:srgbClr val="17243E"/>
                    </a:solidFill>
                  </a:tcPr>
                </a:tc>
                <a:tc>
                  <a:txBody>
                    <a:bodyPr wrap="square"/>
                    <a:lstStyle/>
                    <a:p>
                      <a:pPr algn="l"/>
                      <a:r>
                        <a:rPr sz="950" b="0">
                          <a:solidFill>
                            <a:srgbClr val="F2F6FF"/>
                          </a:solidFill>
                          <a:latin typeface="Calibri"/>
                        </a:rPr>
                        <a:t>NPN transistors switching ground are the simpler driver</a:t>
                      </a:r>
                    </a:p>
                  </a:txBody>
                  <a:tcPr marL="73152" marR="73152" marT="27432" marB="27432" anchor="ctr">
                    <a:solidFill>
                      <a:srgbClr val="17243E"/>
                    </a:solidFill>
                  </a:tcPr>
                </a:tc>
              </a:tr>
              <a:tr h="393192">
                <a:tc>
                  <a:txBody>
                    <a:bodyPr wrap="square"/>
                    <a:lstStyle/>
                    <a:p>
                      <a:pPr algn="l"/>
                      <a:r>
                        <a:rPr sz="950" b="0">
                          <a:solidFill>
                            <a:srgbClr val="F2F6FF"/>
                          </a:solidFill>
                          <a:latin typeface="Calibri"/>
                        </a:rPr>
                        <a:t>Flags in the ISRs</a:t>
                      </a:r>
                    </a:p>
                  </a:txBody>
                  <a:tcPr marL="73152" marR="73152" marT="27432" marB="27432" anchor="ctr">
                    <a:solidFill>
                      <a:srgbClr val="1E2E4E"/>
                    </a:solidFill>
                  </a:tcPr>
                </a:tc>
                <a:tc>
                  <a:txBody>
                    <a:bodyPr wrap="square"/>
                    <a:lstStyle/>
                    <a:p>
                      <a:pPr algn="l"/>
                      <a:r>
                        <a:rPr sz="950" b="0">
                          <a:solidFill>
                            <a:srgbClr val="F2F6FF"/>
                          </a:solidFill>
                          <a:latin typeface="Calibri"/>
                        </a:rPr>
                        <a:t>doing the work inside the ISR</a:t>
                      </a:r>
                    </a:p>
                  </a:txBody>
                  <a:tcPr marL="73152" marR="73152" marT="27432" marB="27432" anchor="ctr">
                    <a:solidFill>
                      <a:srgbClr val="1E2E4E"/>
                    </a:solidFill>
                  </a:tcPr>
                </a:tc>
                <a:tc>
                  <a:txBody>
                    <a:bodyPr wrap="square"/>
                    <a:lstStyle/>
                    <a:p>
                      <a:pPr algn="l"/>
                      <a:r>
                        <a:rPr sz="950" b="0">
                          <a:solidFill>
                            <a:srgbClr val="F2F6FF"/>
                          </a:solidFill>
                          <a:latin typeface="Calibri"/>
                        </a:rPr>
                        <a:t>short service routines, predictable timing, behaviour easy to follow</a:t>
                      </a:r>
                    </a:p>
                  </a:txBody>
                  <a:tcPr marL="73152" marR="73152" marT="27432" marB="27432" anchor="ctr">
                    <a:solidFill>
                      <a:srgbClr val="1E2E4E"/>
                    </a:solidFill>
                  </a:tcPr>
                </a:tc>
              </a:tr>
              <a:tr h="393192">
                <a:tc>
                  <a:txBody>
                    <a:bodyPr wrap="square"/>
                    <a:lstStyle/>
                    <a:p>
                      <a:pPr algn="l"/>
                      <a:r>
                        <a:rPr sz="950" b="0">
                          <a:solidFill>
                            <a:srgbClr val="F2F6FF"/>
                          </a:solidFill>
                          <a:latin typeface="Calibri"/>
                        </a:rPr>
                        <a:t>11.0592 MHz crystal</a:t>
                      </a:r>
                    </a:p>
                  </a:txBody>
                  <a:tcPr marL="73152" marR="73152" marT="27432" marB="27432" anchor="ctr">
                    <a:solidFill>
                      <a:srgbClr val="17243E"/>
                    </a:solidFill>
                  </a:tcPr>
                </a:tc>
                <a:tc>
                  <a:txBody>
                    <a:bodyPr wrap="square"/>
                    <a:lstStyle/>
                    <a:p>
                      <a:pPr algn="l"/>
                      <a:r>
                        <a:rPr sz="950" b="0">
                          <a:solidFill>
                            <a:srgbClr val="F2F6FF"/>
                          </a:solidFill>
                          <a:latin typeface="Calibri"/>
                        </a:rPr>
                        <a:t>12 MHz</a:t>
                      </a:r>
                    </a:p>
                  </a:txBody>
                  <a:tcPr marL="73152" marR="73152" marT="27432" marB="27432" anchor="ctr">
                    <a:solidFill>
                      <a:srgbClr val="17243E"/>
                    </a:solidFill>
                  </a:tcPr>
                </a:tc>
                <a:tc>
                  <a:txBody>
                    <a:bodyPr wrap="square"/>
                    <a:lstStyle/>
                    <a:p>
                      <a:pPr algn="l"/>
                      <a:r>
                        <a:rPr sz="950" b="0">
                          <a:solidFill>
                            <a:srgbClr val="F2F6FF"/>
                          </a:solidFill>
                          <a:latin typeface="Calibri"/>
                        </a:rPr>
                        <a:t>zero percent baud error instead of 8.5 percent</a:t>
                      </a:r>
                    </a:p>
                  </a:txBody>
                  <a:tcPr marL="73152" marR="73152" marT="27432" marB="27432" anchor="ctr">
                    <a:solidFill>
                      <a:srgbClr val="17243E"/>
                    </a:solidFill>
                  </a:tcPr>
                </a:tc>
              </a:tr>
            </a:tbl>
          </a:graphicData>
        </a:graphic>
      </p:graphicFrame>
      <p:sp>
        <p:nvSpPr>
          <p:cNvPr id="11" name="Rounded Rectangle 10"/>
          <p:cNvSpPr/>
          <p:nvPr/>
        </p:nvSpPr>
        <p:spPr>
          <a:xfrm>
            <a:off x="566928" y="5742432"/>
            <a:ext cx="11058113" cy="512064"/>
          </a:xfrm>
          <a:prstGeom prst="roundRect">
            <a:avLst>
              <a:gd name="adj" fmla="val 6000"/>
            </a:avLst>
          </a:prstGeom>
          <a:solidFill>
            <a:srgbClr val="1E2E4E"/>
          </a:solidFill>
          <a:ln w="12700">
            <a:solidFill>
              <a:srgbClr val="6F81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833872"/>
            <a:ext cx="10582625" cy="365760"/>
          </a:xfrm>
          <a:prstGeom prst="rect">
            <a:avLst/>
          </a:prstGeom>
          <a:noFill/>
        </p:spPr>
        <p:txBody>
          <a:bodyPr wrap="square" lIns="0" rIns="0" tIns="0" bIns="0" anchor="t">
            <a:spAutoFit/>
          </a:bodyPr>
          <a:lstStyle/>
          <a:p>
            <a:pPr algn="l">
              <a:lnSpc>
                <a:spcPct val="115000"/>
              </a:lnSpc>
              <a:spcAft>
                <a:spcPts val="0"/>
              </a:spcAft>
            </a:pPr>
            <a:r>
              <a:rPr sz="1100" b="0" i="0">
                <a:solidFill>
                  <a:srgbClr val="A9B8D6"/>
                </a:solidFill>
                <a:latin typeface="Calibri"/>
              </a:rPr>
              <a:t>Every decision above keeps the board buildable with through-hole parts on a breadboard or dot PCB, which is the constraint a college laboratory actually has.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SAFETY AND PRACTICE</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Rules that keep the board and the bench safe</a:t>
            </a:r>
          </a:p>
        </p:txBody>
      </p:sp>
      <p:sp>
        <p:nvSpPr>
          <p:cNvPr id="6" name="Rectangle 5"/>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9" name="TextBox 8"/>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25</a:t>
            </a:r>
          </a:p>
        </p:txBody>
      </p:sp>
      <p:sp>
        <p:nvSpPr>
          <p:cNvPr id="10" name="Rounded Rectangle 9"/>
          <p:cNvSpPr/>
          <p:nvPr/>
        </p:nvSpPr>
        <p:spPr>
          <a:xfrm>
            <a:off x="566928" y="169164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91640"/>
            <a:ext cx="50292" cy="1993392"/>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1874520"/>
            <a:ext cx="3063240" cy="457200"/>
          </a:xfrm>
          <a:prstGeom prst="rect">
            <a:avLst/>
          </a:prstGeom>
          <a:noFill/>
        </p:spPr>
        <p:txBody>
          <a:bodyPr wrap="square" lIns="0" rIns="0" tIns="0" bIns="0" anchor="t">
            <a:spAutoFit/>
          </a:bodyPr>
          <a:lstStyle/>
          <a:p>
            <a:pPr algn="l">
              <a:lnSpc>
                <a:spcPct val="105000"/>
              </a:lnSpc>
              <a:spcAft>
                <a:spcPts val="0"/>
              </a:spcAft>
            </a:pPr>
            <a:r>
              <a:rPr sz="1250" b="1" i="0">
                <a:solidFill>
                  <a:srgbClr val="F2F6FF"/>
                </a:solidFill>
                <a:latin typeface="Calibri"/>
              </a:rPr>
              <a:t>Never connect the relay to mains</a:t>
            </a:r>
          </a:p>
        </p:txBody>
      </p:sp>
      <p:sp>
        <p:nvSpPr>
          <p:cNvPr id="13" name="TextBox 12"/>
          <p:cNvSpPr txBox="1"/>
          <p:nvPr/>
        </p:nvSpPr>
        <p:spPr>
          <a:xfrm>
            <a:off x="804672" y="2532888"/>
            <a:ext cx="3063240" cy="1005840"/>
          </a:xfrm>
          <a:prstGeom prst="rect">
            <a:avLst/>
          </a:prstGeom>
          <a:noFill/>
        </p:spPr>
        <p:txBody>
          <a:bodyPr wrap="square" lIns="0" rIns="0" tIns="0" bIns="0" anchor="t">
            <a:spAutoFit/>
          </a:bodyPr>
          <a:lstStyle/>
          <a:p>
            <a:pPr algn="l">
              <a:lnSpc>
                <a:spcPct val="116000"/>
              </a:lnSpc>
              <a:spcAft>
                <a:spcPts val="0"/>
              </a:spcAft>
            </a:pPr>
            <a:r>
              <a:rPr sz="1050" b="0" i="0">
                <a:solidFill>
                  <a:srgbClr val="A9B8D6"/>
                </a:solidFill>
                <a:latin typeface="Calibri"/>
              </a:rPr>
              <a:t>The relay is mains rated but the demonstration uses a 5 V or 12 V lamp on J4, or leaves the contacts open entirely.</a:t>
            </a:r>
          </a:p>
        </p:txBody>
      </p:sp>
      <p:sp>
        <p:nvSpPr>
          <p:cNvPr id="14" name="Rounded Rectangle 13"/>
          <p:cNvSpPr/>
          <p:nvPr/>
        </p:nvSpPr>
        <p:spPr>
          <a:xfrm>
            <a:off x="4306824" y="169164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6824" y="1691640"/>
            <a:ext cx="50292" cy="1993392"/>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1874520"/>
            <a:ext cx="3063240" cy="457200"/>
          </a:xfrm>
          <a:prstGeom prst="rect">
            <a:avLst/>
          </a:prstGeom>
          <a:noFill/>
        </p:spPr>
        <p:txBody>
          <a:bodyPr wrap="square" lIns="0" rIns="0" tIns="0" bIns="0" anchor="t">
            <a:spAutoFit/>
          </a:bodyPr>
          <a:lstStyle/>
          <a:p>
            <a:pPr algn="l">
              <a:lnSpc>
                <a:spcPct val="105000"/>
              </a:lnSpc>
              <a:spcAft>
                <a:spcPts val="0"/>
              </a:spcAft>
            </a:pPr>
            <a:r>
              <a:rPr sz="1250" b="1" i="0">
                <a:solidFill>
                  <a:srgbClr val="F2F6FF"/>
                </a:solidFill>
                <a:latin typeface="Calibri"/>
              </a:rPr>
              <a:t>Fit the 7805 heatsink</a:t>
            </a:r>
          </a:p>
        </p:txBody>
      </p:sp>
      <p:sp>
        <p:nvSpPr>
          <p:cNvPr id="17" name="TextBox 16"/>
          <p:cNvSpPr txBox="1"/>
          <p:nvPr/>
        </p:nvSpPr>
        <p:spPr>
          <a:xfrm>
            <a:off x="4544568" y="2532888"/>
            <a:ext cx="3063240" cy="1005840"/>
          </a:xfrm>
          <a:prstGeom prst="rect">
            <a:avLst/>
          </a:prstGeom>
          <a:noFill/>
        </p:spPr>
        <p:txBody>
          <a:bodyPr wrap="square" lIns="0" rIns="0" tIns="0" bIns="0" anchor="t">
            <a:spAutoFit/>
          </a:bodyPr>
          <a:lstStyle/>
          <a:p>
            <a:pPr algn="l">
              <a:lnSpc>
                <a:spcPct val="116000"/>
              </a:lnSpc>
              <a:spcAft>
                <a:spcPts val="0"/>
              </a:spcAft>
            </a:pPr>
            <a:r>
              <a:rPr sz="1050" b="0" i="0">
                <a:solidFill>
                  <a:srgbClr val="A9B8D6"/>
                </a:solidFill>
                <a:latin typeface="Calibri"/>
              </a:rPr>
              <a:t>About 1 W is dissipated at 9 V and 250 mA. Without the heatsink the regulator shuts down thermally.</a:t>
            </a:r>
          </a:p>
        </p:txBody>
      </p:sp>
      <p:sp>
        <p:nvSpPr>
          <p:cNvPr id="18" name="Rounded Rectangle 17"/>
          <p:cNvSpPr/>
          <p:nvPr/>
        </p:nvSpPr>
        <p:spPr>
          <a:xfrm>
            <a:off x="8046719" y="169164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19" y="1691640"/>
            <a:ext cx="50292" cy="1993392"/>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4463" y="1874520"/>
            <a:ext cx="3063240" cy="457200"/>
          </a:xfrm>
          <a:prstGeom prst="rect">
            <a:avLst/>
          </a:prstGeom>
          <a:noFill/>
        </p:spPr>
        <p:txBody>
          <a:bodyPr wrap="square" lIns="0" rIns="0" tIns="0" bIns="0" anchor="t">
            <a:spAutoFit/>
          </a:bodyPr>
          <a:lstStyle/>
          <a:p>
            <a:pPr algn="l">
              <a:lnSpc>
                <a:spcPct val="105000"/>
              </a:lnSpc>
              <a:spcAft>
                <a:spcPts val="0"/>
              </a:spcAft>
            </a:pPr>
            <a:r>
              <a:rPr sz="1250" b="1" i="0">
                <a:solidFill>
                  <a:srgbClr val="F2F6FF"/>
                </a:solidFill>
                <a:latin typeface="Calibri"/>
              </a:rPr>
              <a:t>Power off before handling the ICs</a:t>
            </a:r>
          </a:p>
        </p:txBody>
      </p:sp>
      <p:sp>
        <p:nvSpPr>
          <p:cNvPr id="21" name="TextBox 20"/>
          <p:cNvSpPr txBox="1"/>
          <p:nvPr/>
        </p:nvSpPr>
        <p:spPr>
          <a:xfrm>
            <a:off x="8284463" y="2532888"/>
            <a:ext cx="3063240" cy="1005840"/>
          </a:xfrm>
          <a:prstGeom prst="rect">
            <a:avLst/>
          </a:prstGeom>
          <a:noFill/>
        </p:spPr>
        <p:txBody>
          <a:bodyPr wrap="square" lIns="0" rIns="0" tIns="0" bIns="0" anchor="t">
            <a:spAutoFit/>
          </a:bodyPr>
          <a:lstStyle/>
          <a:p>
            <a:pPr algn="l">
              <a:lnSpc>
                <a:spcPct val="116000"/>
              </a:lnSpc>
              <a:spcAft>
                <a:spcPts val="0"/>
              </a:spcAft>
            </a:pPr>
            <a:r>
              <a:rPr sz="1050" b="0" i="0">
                <a:solidFill>
                  <a:srgbClr val="A9B8D6"/>
                </a:solidFill>
                <a:latin typeface="Calibri"/>
              </a:rPr>
              <a:t>Inserting or removing the microcontroller with power applied latches the outputs and can destroy the part.</a:t>
            </a:r>
          </a:p>
        </p:txBody>
      </p:sp>
      <p:sp>
        <p:nvSpPr>
          <p:cNvPr id="22" name="Rounded Rectangle 21"/>
          <p:cNvSpPr/>
          <p:nvPr/>
        </p:nvSpPr>
        <p:spPr>
          <a:xfrm>
            <a:off x="566928" y="393192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931920"/>
            <a:ext cx="50292" cy="1993392"/>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114800"/>
            <a:ext cx="3063240" cy="457200"/>
          </a:xfrm>
          <a:prstGeom prst="rect">
            <a:avLst/>
          </a:prstGeom>
          <a:noFill/>
        </p:spPr>
        <p:txBody>
          <a:bodyPr wrap="square" lIns="0" rIns="0" tIns="0" bIns="0" anchor="t">
            <a:spAutoFit/>
          </a:bodyPr>
          <a:lstStyle/>
          <a:p>
            <a:pPr algn="l">
              <a:lnSpc>
                <a:spcPct val="105000"/>
              </a:lnSpc>
              <a:spcAft>
                <a:spcPts val="0"/>
              </a:spcAft>
            </a:pPr>
            <a:r>
              <a:rPr sz="1250" b="1" i="0">
                <a:solidFill>
                  <a:srgbClr val="F2F6FF"/>
                </a:solidFill>
                <a:latin typeface="Calibri"/>
              </a:rPr>
              <a:t>Switches 6, 7 and 8 OFF when flashing</a:t>
            </a:r>
          </a:p>
        </p:txBody>
      </p:sp>
      <p:sp>
        <p:nvSpPr>
          <p:cNvPr id="25" name="TextBox 24"/>
          <p:cNvSpPr txBox="1"/>
          <p:nvPr/>
        </p:nvSpPr>
        <p:spPr>
          <a:xfrm>
            <a:off x="804672" y="4773168"/>
            <a:ext cx="3063240" cy="1005840"/>
          </a:xfrm>
          <a:prstGeom prst="rect">
            <a:avLst/>
          </a:prstGeom>
          <a:noFill/>
        </p:spPr>
        <p:txBody>
          <a:bodyPr wrap="square" lIns="0" rIns="0" tIns="0" bIns="0" anchor="t">
            <a:spAutoFit/>
          </a:bodyPr>
          <a:lstStyle/>
          <a:p>
            <a:pPr algn="l">
              <a:lnSpc>
                <a:spcPct val="116000"/>
              </a:lnSpc>
              <a:spcAft>
                <a:spcPts val="0"/>
              </a:spcAft>
            </a:pPr>
            <a:r>
              <a:rPr sz="1050" b="0" i="0">
                <a:solidFill>
                  <a:srgbClr val="A9B8D6"/>
                </a:solidFill>
                <a:latin typeface="Calibri"/>
              </a:rPr>
              <a:t>They share P1.5 to P1.7 with the SPI lines and will corrupt the programming transfer.</a:t>
            </a:r>
          </a:p>
        </p:txBody>
      </p:sp>
      <p:sp>
        <p:nvSpPr>
          <p:cNvPr id="26" name="Rounded Rectangle 25"/>
          <p:cNvSpPr/>
          <p:nvPr/>
        </p:nvSpPr>
        <p:spPr>
          <a:xfrm>
            <a:off x="4306824" y="393192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06824" y="3931920"/>
            <a:ext cx="50292" cy="1993392"/>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44568" y="4114800"/>
            <a:ext cx="3063240" cy="457200"/>
          </a:xfrm>
          <a:prstGeom prst="rect">
            <a:avLst/>
          </a:prstGeom>
          <a:noFill/>
        </p:spPr>
        <p:txBody>
          <a:bodyPr wrap="square" lIns="0" rIns="0" tIns="0" bIns="0" anchor="t">
            <a:spAutoFit/>
          </a:bodyPr>
          <a:lstStyle/>
          <a:p>
            <a:pPr algn="l">
              <a:lnSpc>
                <a:spcPct val="105000"/>
              </a:lnSpc>
              <a:spcAft>
                <a:spcPts val="0"/>
              </a:spcAft>
            </a:pPr>
            <a:r>
              <a:rPr sz="1250" b="1" i="0">
                <a:solidFill>
                  <a:srgbClr val="F2F6FF"/>
                </a:solidFill>
                <a:latin typeface="Calibri"/>
              </a:rPr>
              <a:t>Remove JP1 before probing P3.4</a:t>
            </a:r>
          </a:p>
        </p:txBody>
      </p:sp>
      <p:sp>
        <p:nvSpPr>
          <p:cNvPr id="29" name="TextBox 28"/>
          <p:cNvSpPr txBox="1"/>
          <p:nvPr/>
        </p:nvSpPr>
        <p:spPr>
          <a:xfrm>
            <a:off x="4544568" y="4773168"/>
            <a:ext cx="3063240" cy="1005840"/>
          </a:xfrm>
          <a:prstGeom prst="rect">
            <a:avLst/>
          </a:prstGeom>
          <a:noFill/>
        </p:spPr>
        <p:txBody>
          <a:bodyPr wrap="square" lIns="0" rIns="0" tIns="0" bIns="0" anchor="t">
            <a:spAutoFit/>
          </a:bodyPr>
          <a:lstStyle/>
          <a:p>
            <a:pPr algn="l">
              <a:lnSpc>
                <a:spcPct val="116000"/>
              </a:lnSpc>
              <a:spcAft>
                <a:spcPts val="0"/>
              </a:spcAft>
            </a:pPr>
            <a:r>
              <a:rPr sz="1050" b="0" i="0">
                <a:solidFill>
                  <a:srgbClr val="A9B8D6"/>
                </a:solidFill>
                <a:latin typeface="Calibri"/>
              </a:rPr>
              <a:t>The relay coil loads the square wave output and gives a false reading on the scope.</a:t>
            </a:r>
          </a:p>
        </p:txBody>
      </p:sp>
      <p:sp>
        <p:nvSpPr>
          <p:cNvPr id="30" name="Rounded Rectangle 29"/>
          <p:cNvSpPr/>
          <p:nvPr/>
        </p:nvSpPr>
        <p:spPr>
          <a:xfrm>
            <a:off x="8046719" y="393192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6719" y="3931920"/>
            <a:ext cx="50292" cy="1993392"/>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4463" y="4114800"/>
            <a:ext cx="3063240" cy="457200"/>
          </a:xfrm>
          <a:prstGeom prst="rect">
            <a:avLst/>
          </a:prstGeom>
          <a:noFill/>
        </p:spPr>
        <p:txBody>
          <a:bodyPr wrap="square" lIns="0" rIns="0" tIns="0" bIns="0" anchor="t">
            <a:spAutoFit/>
          </a:bodyPr>
          <a:lstStyle/>
          <a:p>
            <a:pPr algn="l">
              <a:lnSpc>
                <a:spcPct val="105000"/>
              </a:lnSpc>
              <a:spcAft>
                <a:spcPts val="0"/>
              </a:spcAft>
            </a:pPr>
            <a:r>
              <a:rPr sz="1250" b="1" i="0">
                <a:solidFill>
                  <a:srgbClr val="F2F6FF"/>
                </a:solidFill>
                <a:latin typeface="Calibri"/>
              </a:rPr>
              <a:t>Check the 5 V rail before anything else</a:t>
            </a:r>
          </a:p>
        </p:txBody>
      </p:sp>
      <p:sp>
        <p:nvSpPr>
          <p:cNvPr id="33" name="TextBox 32"/>
          <p:cNvSpPr txBox="1"/>
          <p:nvPr/>
        </p:nvSpPr>
        <p:spPr>
          <a:xfrm>
            <a:off x="8284463" y="4773168"/>
            <a:ext cx="3063240" cy="1005840"/>
          </a:xfrm>
          <a:prstGeom prst="rect">
            <a:avLst/>
          </a:prstGeom>
          <a:noFill/>
        </p:spPr>
        <p:txBody>
          <a:bodyPr wrap="square" lIns="0" rIns="0" tIns="0" bIns="0" anchor="t">
            <a:spAutoFit/>
          </a:bodyPr>
          <a:lstStyle/>
          <a:p>
            <a:pPr algn="l">
              <a:lnSpc>
                <a:spcPct val="116000"/>
              </a:lnSpc>
              <a:spcAft>
                <a:spcPts val="0"/>
              </a:spcAft>
            </a:pPr>
            <a:r>
              <a:rPr sz="1050" b="0" i="0">
                <a:solidFill>
                  <a:srgbClr val="A9B8D6"/>
                </a:solidFill>
                <a:latin typeface="Calibri"/>
              </a:rPr>
              <a:t>A wrong rail damages every IC on the board at once, so it is measured with nothing else connected.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CONCLUSION</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The 8051 now runs on real silicon</a:t>
            </a:r>
          </a:p>
        </p:txBody>
      </p:sp>
      <p:sp>
        <p:nvSpPr>
          <p:cNvPr id="6" name="Rectangle 5"/>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9" name="TextBox 8"/>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26</a:t>
            </a:r>
          </a:p>
        </p:txBody>
      </p:sp>
      <p:sp>
        <p:nvSpPr>
          <p:cNvPr id="10" name="Rounded Rectangle 9"/>
          <p:cNvSpPr/>
          <p:nvPr/>
        </p:nvSpPr>
        <p:spPr>
          <a:xfrm>
            <a:off x="566928" y="169164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91640"/>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837944"/>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01</a:t>
            </a:r>
          </a:p>
        </p:txBody>
      </p:sp>
      <p:sp>
        <p:nvSpPr>
          <p:cNvPr id="13" name="TextBox 12"/>
          <p:cNvSpPr txBox="1"/>
          <p:nvPr/>
        </p:nvSpPr>
        <p:spPr>
          <a:xfrm>
            <a:off x="768096" y="2331720"/>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The port shortage is solved</a:t>
            </a:r>
          </a:p>
        </p:txBody>
      </p:sp>
      <p:sp>
        <p:nvSpPr>
          <p:cNvPr id="14" name="TextBox 13"/>
          <p:cNvSpPr txBox="1"/>
          <p:nvPr/>
        </p:nvSpPr>
        <p:spPr>
          <a:xfrm>
            <a:off x="768096" y="2843784"/>
            <a:ext cx="3136392" cy="713232"/>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A single 8-bit bus on port 0 with per-device strobes on port 2 puts eight LEDs, a two digit display, a 16x2 LCD, an ADC, a relay and a buzzer on a device with 32 pins.</a:t>
            </a:r>
          </a:p>
        </p:txBody>
      </p:sp>
      <p:sp>
        <p:nvSpPr>
          <p:cNvPr id="15" name="Rounded Rectangle 14"/>
          <p:cNvSpPr/>
          <p:nvPr/>
        </p:nvSpPr>
        <p:spPr>
          <a:xfrm>
            <a:off x="4306824" y="169164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6824" y="1691640"/>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1837944"/>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02</a:t>
            </a:r>
          </a:p>
        </p:txBody>
      </p:sp>
      <p:sp>
        <p:nvSpPr>
          <p:cNvPr id="18" name="TextBox 17"/>
          <p:cNvSpPr txBox="1"/>
          <p:nvPr/>
        </p:nvSpPr>
        <p:spPr>
          <a:xfrm>
            <a:off x="4507992" y="2331720"/>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Every number is derived, not guessed</a:t>
            </a:r>
          </a:p>
        </p:txBody>
      </p:sp>
      <p:sp>
        <p:nvSpPr>
          <p:cNvPr id="19" name="TextBox 18"/>
          <p:cNvSpPr txBox="1"/>
          <p:nvPr/>
        </p:nvSpPr>
        <p:spPr>
          <a:xfrm>
            <a:off x="4507992" y="2843784"/>
            <a:ext cx="3136392" cy="713232"/>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TH1 = FDH, TH0 = EE00H and 4C00H and FE34H, 470 Ohm resistors, 7.8125 mV per step and 606 kHz all follow from the 1.0851 microsecond machine cycle.</a:t>
            </a:r>
          </a:p>
        </p:txBody>
      </p:sp>
      <p:sp>
        <p:nvSpPr>
          <p:cNvPr id="20" name="Rounded Rectangle 19"/>
          <p:cNvSpPr/>
          <p:nvPr/>
        </p:nvSpPr>
        <p:spPr>
          <a:xfrm>
            <a:off x="8046719" y="169164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19" y="1691640"/>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7888" y="1837944"/>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03</a:t>
            </a:r>
          </a:p>
        </p:txBody>
      </p:sp>
      <p:sp>
        <p:nvSpPr>
          <p:cNvPr id="23" name="TextBox 22"/>
          <p:cNvSpPr txBox="1"/>
          <p:nvPr/>
        </p:nvSpPr>
        <p:spPr>
          <a:xfrm>
            <a:off x="8247888" y="2331720"/>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Thirteen programs, all compiling clean</a:t>
            </a:r>
          </a:p>
        </p:txBody>
      </p:sp>
      <p:sp>
        <p:nvSpPr>
          <p:cNvPr id="24" name="TextBox 23"/>
          <p:cNvSpPr txBox="1"/>
          <p:nvPr/>
        </p:nvSpPr>
        <p:spPr>
          <a:xfrm>
            <a:off x="8247888" y="2843784"/>
            <a:ext cx="3136392" cy="713232"/>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From a blinking LED to a complete zone monitor with telemetry, written without comments in the C51 subset and verified for zero errors and zero warnings.</a:t>
            </a:r>
          </a:p>
        </p:txBody>
      </p:sp>
      <p:sp>
        <p:nvSpPr>
          <p:cNvPr id="25" name="Rounded Rectangle 24"/>
          <p:cNvSpPr/>
          <p:nvPr/>
        </p:nvSpPr>
        <p:spPr>
          <a:xfrm>
            <a:off x="566928" y="393192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3931920"/>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4078224"/>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04</a:t>
            </a:r>
          </a:p>
        </p:txBody>
      </p:sp>
      <p:sp>
        <p:nvSpPr>
          <p:cNvPr id="28" name="TextBox 27"/>
          <p:cNvSpPr txBox="1"/>
          <p:nvPr/>
        </p:nvSpPr>
        <p:spPr>
          <a:xfrm>
            <a:off x="768096" y="4572000"/>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The build is staged and measured</a:t>
            </a:r>
          </a:p>
        </p:txBody>
      </p:sp>
      <p:sp>
        <p:nvSpPr>
          <p:cNvPr id="29" name="TextBox 28"/>
          <p:cNvSpPr txBox="1"/>
          <p:nvPr/>
        </p:nvSpPr>
        <p:spPr>
          <a:xfrm>
            <a:off x="768096" y="5084064"/>
            <a:ext cx="3136392" cy="713232"/>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Ten assembly stages each end with a measurement that must pass, and twenty tests with acceptance limits turn the demonstration into evidence.</a:t>
            </a:r>
          </a:p>
        </p:txBody>
      </p:sp>
      <p:sp>
        <p:nvSpPr>
          <p:cNvPr id="30" name="Rounded Rectangle 29"/>
          <p:cNvSpPr/>
          <p:nvPr/>
        </p:nvSpPr>
        <p:spPr>
          <a:xfrm>
            <a:off x="4306824" y="393192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06824" y="3931920"/>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07992" y="4078224"/>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05</a:t>
            </a:r>
          </a:p>
        </p:txBody>
      </p:sp>
      <p:sp>
        <p:nvSpPr>
          <p:cNvPr id="33" name="TextBox 32"/>
          <p:cNvSpPr txBox="1"/>
          <p:nvPr/>
        </p:nvSpPr>
        <p:spPr>
          <a:xfrm>
            <a:off x="4507992" y="4572000"/>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The simulator and the hardware agree</a:t>
            </a:r>
          </a:p>
        </p:txBody>
      </p:sp>
      <p:sp>
        <p:nvSpPr>
          <p:cNvPr id="34" name="TextBox 33"/>
          <p:cNvSpPr txBox="1"/>
          <p:nvPr/>
        </p:nvSpPr>
        <p:spPr>
          <a:xfrm>
            <a:off x="4507992" y="5084064"/>
            <a:ext cx="3136392" cy="713232"/>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Each hardware result can be checked against the value the simulator produced in phase 1, which is the point of having built the model first.</a:t>
            </a:r>
          </a:p>
        </p:txBody>
      </p:sp>
      <p:sp>
        <p:nvSpPr>
          <p:cNvPr id="35" name="Rounded Rectangle 34"/>
          <p:cNvSpPr/>
          <p:nvPr/>
        </p:nvSpPr>
        <p:spPr>
          <a:xfrm>
            <a:off x="8046719" y="3931920"/>
            <a:ext cx="3520440" cy="1993392"/>
          </a:xfrm>
          <a:prstGeom prst="roundRect">
            <a:avLst>
              <a:gd name="adj" fmla="val 6000"/>
            </a:avLst>
          </a:prstGeom>
          <a:solidFill>
            <a:srgbClr val="1E2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6719" y="3931920"/>
            <a:ext cx="3520440" cy="41148"/>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47888" y="4078224"/>
            <a:ext cx="640080" cy="384048"/>
          </a:xfrm>
          <a:prstGeom prst="rect">
            <a:avLst/>
          </a:prstGeom>
          <a:noFill/>
        </p:spPr>
        <p:txBody>
          <a:bodyPr wrap="square" lIns="0" rIns="0" tIns="0" bIns="0" anchor="t">
            <a:spAutoFit/>
          </a:bodyPr>
          <a:lstStyle/>
          <a:p>
            <a:pPr algn="l">
              <a:lnSpc>
                <a:spcPct val="100000"/>
              </a:lnSpc>
              <a:spcAft>
                <a:spcPts val="0"/>
              </a:spcAft>
            </a:pPr>
            <a:r>
              <a:rPr sz="2200" b="1" i="0">
                <a:solidFill>
                  <a:srgbClr val="2FE0C0"/>
                </a:solidFill>
                <a:latin typeface="Calibri"/>
              </a:rPr>
              <a:t>06</a:t>
            </a:r>
          </a:p>
        </p:txBody>
      </p:sp>
      <p:sp>
        <p:nvSpPr>
          <p:cNvPr id="38" name="TextBox 37"/>
          <p:cNvSpPr txBox="1"/>
          <p:nvPr/>
        </p:nvSpPr>
        <p:spPr>
          <a:xfrm>
            <a:off x="8247888" y="4572000"/>
            <a:ext cx="3136392" cy="493776"/>
          </a:xfrm>
          <a:prstGeom prst="rect">
            <a:avLst/>
          </a:prstGeom>
          <a:noFill/>
        </p:spPr>
        <p:txBody>
          <a:bodyPr wrap="square" lIns="0" rIns="0" tIns="0" bIns="0" anchor="t">
            <a:spAutoFit/>
          </a:bodyPr>
          <a:lstStyle/>
          <a:p>
            <a:pPr algn="l">
              <a:lnSpc>
                <a:spcPct val="100000"/>
              </a:lnSpc>
              <a:spcAft>
                <a:spcPts val="0"/>
              </a:spcAft>
            </a:pPr>
            <a:r>
              <a:rPr sz="1250" b="1" i="0">
                <a:solidFill>
                  <a:srgbClr val="F2F6FF"/>
                </a:solidFill>
                <a:latin typeface="Calibri"/>
              </a:rPr>
              <a:t>It is affordable and repeatable</a:t>
            </a:r>
          </a:p>
        </p:txBody>
      </p:sp>
      <p:sp>
        <p:nvSpPr>
          <p:cNvPr id="39" name="TextBox 38"/>
          <p:cNvSpPr txBox="1"/>
          <p:nvPr/>
        </p:nvSpPr>
        <p:spPr>
          <a:xfrm>
            <a:off x="8247888" y="5084064"/>
            <a:ext cx="3136392" cy="713232"/>
          </a:xfrm>
          <a:prstGeom prst="rect">
            <a:avLst/>
          </a:prstGeom>
          <a:noFill/>
        </p:spPr>
        <p:txBody>
          <a:bodyPr wrap="square" lIns="0" rIns="0" tIns="0" bIns="0" anchor="t">
            <a:spAutoFit/>
          </a:bodyPr>
          <a:lstStyle/>
          <a:p>
            <a:pPr algn="l">
              <a:lnSpc>
                <a:spcPct val="115000"/>
              </a:lnSpc>
              <a:spcAft>
                <a:spcPts val="0"/>
              </a:spcAft>
            </a:pPr>
            <a:r>
              <a:rPr sz="1050" b="0" i="0">
                <a:solidFill>
                  <a:srgbClr val="A9B8D6"/>
                </a:solidFill>
                <a:latin typeface="Calibri"/>
              </a:rPr>
              <a:t>About 985 rupees per board in through-hole parts, programmed with a 250 rupee USBasp, built on a breadboard or a dot PCB.</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FUTURE SCOPE</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Where the board can go next</a:t>
            </a:r>
          </a:p>
        </p:txBody>
      </p:sp>
      <p:sp>
        <p:nvSpPr>
          <p:cNvPr id="6" name="Rectangle 5"/>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9" name="TextBox 8"/>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27</a:t>
            </a:r>
          </a:p>
        </p:txBody>
      </p:sp>
      <p:graphicFrame>
        <p:nvGraphicFramePr>
          <p:cNvPr id="10" name="Table 9"/>
          <p:cNvGraphicFramePr>
            <a:graphicFrameLocks noGrp="1"/>
          </p:cNvGraphicFramePr>
          <p:nvPr/>
        </p:nvGraphicFramePr>
        <p:xfrm>
          <a:off x="566928" y="1645920"/>
          <a:ext cx="11058111" cy="3703320"/>
        </p:xfrm>
        <a:graphic>
          <a:graphicData uri="http://schemas.openxmlformats.org/drawingml/2006/table">
            <a:tbl>
              <a:tblPr firstRow="1">
                <a:tableStyleId>{5C22544A-7EE6-4342-B048-85BDC9FD1C3A}</a:tableStyleId>
              </a:tblPr>
              <a:tblGrid>
                <a:gridCol w="2376123"/>
                <a:gridCol w="4935025"/>
                <a:gridCol w="3746963"/>
              </a:tblGrid>
              <a:tr h="411480">
                <a:tc>
                  <a:txBody>
                    <a:bodyPr wrap="square"/>
                    <a:lstStyle/>
                    <a:p>
                      <a:pPr algn="l"/>
                      <a:r>
                        <a:rPr sz="950" b="1">
                          <a:solidFill>
                            <a:srgbClr val="CFE0FF"/>
                          </a:solidFill>
                          <a:latin typeface="Calibri"/>
                        </a:rPr>
                        <a:t>Direction</a:t>
                      </a:r>
                    </a:p>
                  </a:txBody>
                  <a:tcPr marL="73152" marR="73152" marT="27432" marB="27432" anchor="ctr">
                    <a:solidFill>
                      <a:srgbClr val="2A3C63"/>
                    </a:solidFill>
                  </a:tcPr>
                </a:tc>
                <a:tc>
                  <a:txBody>
                    <a:bodyPr wrap="square"/>
                    <a:lstStyle/>
                    <a:p>
                      <a:pPr algn="l"/>
                      <a:r>
                        <a:rPr sz="950" b="1">
                          <a:solidFill>
                            <a:srgbClr val="CFE0FF"/>
                          </a:solidFill>
                          <a:latin typeface="Calibri"/>
                        </a:rPr>
                        <a:t>What it adds</a:t>
                      </a:r>
                    </a:p>
                  </a:txBody>
                  <a:tcPr marL="73152" marR="73152" marT="27432" marB="27432" anchor="ctr">
                    <a:solidFill>
                      <a:srgbClr val="2A3C63"/>
                    </a:solidFill>
                  </a:tcPr>
                </a:tc>
                <a:tc>
                  <a:txBody>
                    <a:bodyPr wrap="square"/>
                    <a:lstStyle/>
                    <a:p>
                      <a:pPr algn="l"/>
                      <a:r>
                        <a:rPr sz="950" b="1">
                          <a:solidFill>
                            <a:srgbClr val="CFE0FF"/>
                          </a:solidFill>
                          <a:latin typeface="Calibri"/>
                        </a:rPr>
                        <a:t>What it needs</a:t>
                      </a:r>
                    </a:p>
                  </a:txBody>
                  <a:tcPr marL="73152" marR="73152" marT="27432" marB="27432" anchor="ctr">
                    <a:solidFill>
                      <a:srgbClr val="2A3C63"/>
                    </a:solidFill>
                  </a:tcPr>
                </a:tc>
              </a:tr>
              <a:tr h="411480">
                <a:tc>
                  <a:txBody>
                    <a:bodyPr wrap="square"/>
                    <a:lstStyle/>
                    <a:p>
                      <a:pPr algn="l"/>
                      <a:r>
                        <a:rPr sz="950" b="0">
                          <a:solidFill>
                            <a:srgbClr val="F2F6FF"/>
                          </a:solidFill>
                          <a:latin typeface="Calibri"/>
                        </a:rPr>
                        <a:t>Complete instruction coverage</a:t>
                      </a:r>
                    </a:p>
                  </a:txBody>
                  <a:tcPr marL="73152" marR="73152" marT="27432" marB="27432" anchor="ctr">
                    <a:solidFill>
                      <a:srgbClr val="17243E"/>
                    </a:solidFill>
                  </a:tcPr>
                </a:tc>
                <a:tc>
                  <a:txBody>
                    <a:bodyPr wrap="square"/>
                    <a:lstStyle/>
                    <a:p>
                      <a:pPr algn="l"/>
                      <a:r>
                        <a:rPr sz="950" b="0">
                          <a:solidFill>
                            <a:srgbClr val="F2F6FF"/>
                          </a:solidFill>
                          <a:latin typeface="Calibri"/>
                        </a:rPr>
                        <a:t>the rarely used instructions and the 8052 extras: timer 2 and 256 bytes of RAM</a:t>
                      </a:r>
                    </a:p>
                  </a:txBody>
                  <a:tcPr marL="73152" marR="73152" marT="27432" marB="27432" anchor="ctr">
                    <a:solidFill>
                      <a:srgbClr val="17243E"/>
                    </a:solidFill>
                  </a:tcPr>
                </a:tc>
                <a:tc>
                  <a:txBody>
                    <a:bodyPr wrap="square"/>
                    <a:lstStyle/>
                    <a:p>
                      <a:pPr algn="l"/>
                      <a:r>
                        <a:rPr sz="950" b="0">
                          <a:solidFill>
                            <a:srgbClr val="F2F6FF"/>
                          </a:solidFill>
                          <a:latin typeface="Calibri"/>
                        </a:rPr>
                        <a:t>a second firmware pass, no new hardware</a:t>
                      </a:r>
                    </a:p>
                  </a:txBody>
                  <a:tcPr marL="73152" marR="73152" marT="27432" marB="27432" anchor="ctr">
                    <a:solidFill>
                      <a:srgbClr val="17243E"/>
                    </a:solidFill>
                  </a:tcPr>
                </a:tc>
              </a:tr>
              <a:tr h="411480">
                <a:tc>
                  <a:txBody>
                    <a:bodyPr wrap="square"/>
                    <a:lstStyle/>
                    <a:p>
                      <a:pPr algn="l"/>
                      <a:r>
                        <a:rPr sz="950" b="0">
                          <a:solidFill>
                            <a:srgbClr val="F2F6FF"/>
                          </a:solidFill>
                          <a:latin typeface="Calibri"/>
                        </a:rPr>
                        <a:t>Peripheral depth</a:t>
                      </a:r>
                    </a:p>
                  </a:txBody>
                  <a:tcPr marL="73152" marR="73152" marT="27432" marB="27432" anchor="ctr">
                    <a:solidFill>
                      <a:srgbClr val="1E2E4E"/>
                    </a:solidFill>
                  </a:tcPr>
                </a:tc>
                <a:tc>
                  <a:txBody>
                    <a:bodyPr wrap="square"/>
                    <a:lstStyle/>
                    <a:p>
                      <a:pPr algn="l"/>
                      <a:r>
                        <a:rPr sz="950" b="0">
                          <a:solidFill>
                            <a:srgbClr val="F2F6FF"/>
                          </a:solidFill>
                          <a:latin typeface="Calibri"/>
                        </a:rPr>
                        <a:t>serial modes 0 and 2, the remaining timer modes, interrupt priority nesting</a:t>
                      </a:r>
                    </a:p>
                  </a:txBody>
                  <a:tcPr marL="73152" marR="73152" marT="27432" marB="27432" anchor="ctr">
                    <a:solidFill>
                      <a:srgbClr val="1E2E4E"/>
                    </a:solidFill>
                  </a:tcPr>
                </a:tc>
                <a:tc>
                  <a:txBody>
                    <a:bodyPr wrap="square"/>
                    <a:lstStyle/>
                    <a:p>
                      <a:pPr algn="l"/>
                      <a:r>
                        <a:rPr sz="950" b="0">
                          <a:solidFill>
                            <a:srgbClr val="F2F6FF"/>
                          </a:solidFill>
                          <a:latin typeface="Calibri"/>
                        </a:rPr>
                        <a:t>firmware only</a:t>
                      </a:r>
                    </a:p>
                  </a:txBody>
                  <a:tcPr marL="73152" marR="73152" marT="27432" marB="27432" anchor="ctr">
                    <a:solidFill>
                      <a:srgbClr val="1E2E4E"/>
                    </a:solidFill>
                  </a:tcPr>
                </a:tc>
              </a:tr>
              <a:tr h="411480">
                <a:tc>
                  <a:txBody>
                    <a:bodyPr wrap="square"/>
                    <a:lstStyle/>
                    <a:p>
                      <a:pPr algn="l"/>
                      <a:r>
                        <a:rPr sz="950" b="0">
                          <a:solidFill>
                            <a:srgbClr val="F2F6FF"/>
                          </a:solidFill>
                          <a:latin typeface="Calibri"/>
                        </a:rPr>
                        <a:t>More sensors</a:t>
                      </a:r>
                    </a:p>
                  </a:txBody>
                  <a:tcPr marL="73152" marR="73152" marT="27432" marB="27432" anchor="ctr">
                    <a:solidFill>
                      <a:srgbClr val="17243E"/>
                    </a:solidFill>
                  </a:tcPr>
                </a:tc>
                <a:tc>
                  <a:txBody>
                    <a:bodyPr wrap="square"/>
                    <a:lstStyle/>
                    <a:p>
                      <a:pPr algn="l"/>
                      <a:r>
                        <a:rPr sz="950" b="0">
                          <a:solidFill>
                            <a:srgbClr val="F2F6FF"/>
                          </a:solidFill>
                          <a:latin typeface="Calibri"/>
                        </a:rPr>
                        <a:t>ADC0808 or ADC0809 for four or eight channels, an LDR, a potentiometer setpoint</a:t>
                      </a:r>
                    </a:p>
                  </a:txBody>
                  <a:tcPr marL="73152" marR="73152" marT="27432" marB="27432" anchor="ctr">
                    <a:solidFill>
                      <a:srgbClr val="17243E"/>
                    </a:solidFill>
                  </a:tcPr>
                </a:tc>
                <a:tc>
                  <a:txBody>
                    <a:bodyPr wrap="square"/>
                    <a:lstStyle/>
                    <a:p>
                      <a:pPr algn="l"/>
                      <a:r>
                        <a:rPr sz="950" b="0">
                          <a:solidFill>
                            <a:srgbClr val="F2F6FF"/>
                          </a:solidFill>
                          <a:latin typeface="Calibri"/>
                        </a:rPr>
                        <a:t>one more ADC and a multiplexer</a:t>
                      </a:r>
                    </a:p>
                  </a:txBody>
                  <a:tcPr marL="73152" marR="73152" marT="27432" marB="27432" anchor="ctr">
                    <a:solidFill>
                      <a:srgbClr val="17243E"/>
                    </a:solidFill>
                  </a:tcPr>
                </a:tc>
              </a:tr>
              <a:tr h="411480">
                <a:tc>
                  <a:txBody>
                    <a:bodyPr wrap="square"/>
                    <a:lstStyle/>
                    <a:p>
                      <a:pPr algn="l"/>
                      <a:r>
                        <a:rPr sz="950" b="0">
                          <a:solidFill>
                            <a:srgbClr val="F2F6FF"/>
                          </a:solidFill>
                          <a:latin typeface="Calibri"/>
                        </a:rPr>
                        <a:t>Data logging</a:t>
                      </a:r>
                    </a:p>
                  </a:txBody>
                  <a:tcPr marL="73152" marR="73152" marT="27432" marB="27432" anchor="ctr">
                    <a:solidFill>
                      <a:srgbClr val="1E2E4E"/>
                    </a:solidFill>
                  </a:tcPr>
                </a:tc>
                <a:tc>
                  <a:txBody>
                    <a:bodyPr wrap="square"/>
                    <a:lstStyle/>
                    <a:p>
                      <a:pPr algn="l"/>
                      <a:r>
                        <a:rPr sz="950" b="0">
                          <a:solidFill>
                            <a:srgbClr val="F2F6FF"/>
                          </a:solidFill>
                          <a:latin typeface="Calibri"/>
                        </a:rPr>
                        <a:t>an I2C EEPROM or an SD card so temperature history survives power down</a:t>
                      </a:r>
                    </a:p>
                  </a:txBody>
                  <a:tcPr marL="73152" marR="73152" marT="27432" marB="27432" anchor="ctr">
                    <a:solidFill>
                      <a:srgbClr val="1E2E4E"/>
                    </a:solidFill>
                  </a:tcPr>
                </a:tc>
                <a:tc>
                  <a:txBody>
                    <a:bodyPr wrap="square"/>
                    <a:lstStyle/>
                    <a:p>
                      <a:pPr algn="l"/>
                      <a:r>
                        <a:rPr sz="950" b="0">
                          <a:solidFill>
                            <a:srgbClr val="F2F6FF"/>
                          </a:solidFill>
                          <a:latin typeface="Calibri"/>
                        </a:rPr>
                        <a:t>two I/O pins and a bit-banged I2C driver</a:t>
                      </a:r>
                    </a:p>
                  </a:txBody>
                  <a:tcPr marL="73152" marR="73152" marT="27432" marB="27432" anchor="ctr">
                    <a:solidFill>
                      <a:srgbClr val="1E2E4E"/>
                    </a:solidFill>
                  </a:tcPr>
                </a:tc>
              </a:tr>
              <a:tr h="411480">
                <a:tc>
                  <a:txBody>
                    <a:bodyPr wrap="square"/>
                    <a:lstStyle/>
                    <a:p>
                      <a:pPr algn="l"/>
                      <a:r>
                        <a:rPr sz="950" b="0">
                          <a:solidFill>
                            <a:srgbClr val="F2F6FF"/>
                          </a:solidFill>
                          <a:latin typeface="Calibri"/>
                        </a:rPr>
                        <a:t>Real time clock</a:t>
                      </a:r>
                    </a:p>
                  </a:txBody>
                  <a:tcPr marL="73152" marR="73152" marT="27432" marB="27432" anchor="ctr">
                    <a:solidFill>
                      <a:srgbClr val="17243E"/>
                    </a:solidFill>
                  </a:tcPr>
                </a:tc>
                <a:tc>
                  <a:txBody>
                    <a:bodyPr wrap="square"/>
                    <a:lstStyle/>
                    <a:p>
                      <a:pPr algn="l"/>
                      <a:r>
                        <a:rPr sz="950" b="0">
                          <a:solidFill>
                            <a:srgbClr val="F2F6FF"/>
                          </a:solidFill>
                          <a:latin typeface="Calibri"/>
                        </a:rPr>
                        <a:t>a DS1307 so every telemetry line carries a timestamp</a:t>
                      </a:r>
                    </a:p>
                  </a:txBody>
                  <a:tcPr marL="73152" marR="73152" marT="27432" marB="27432" anchor="ctr">
                    <a:solidFill>
                      <a:srgbClr val="17243E"/>
                    </a:solidFill>
                  </a:tcPr>
                </a:tc>
                <a:tc>
                  <a:txBody>
                    <a:bodyPr wrap="square"/>
                    <a:lstStyle/>
                    <a:p>
                      <a:pPr algn="l"/>
                      <a:r>
                        <a:rPr sz="950" b="0">
                          <a:solidFill>
                            <a:srgbClr val="F2F6FF"/>
                          </a:solidFill>
                          <a:latin typeface="Calibri"/>
                        </a:rPr>
                        <a:t>the same I2C bus</a:t>
                      </a:r>
                    </a:p>
                  </a:txBody>
                  <a:tcPr marL="73152" marR="73152" marT="27432" marB="27432" anchor="ctr">
                    <a:solidFill>
                      <a:srgbClr val="17243E"/>
                    </a:solidFill>
                  </a:tcPr>
                </a:tc>
              </a:tr>
              <a:tr h="411480">
                <a:tc>
                  <a:txBody>
                    <a:bodyPr wrap="square"/>
                    <a:lstStyle/>
                    <a:p>
                      <a:pPr algn="l"/>
                      <a:r>
                        <a:rPr sz="950" b="0">
                          <a:solidFill>
                            <a:srgbClr val="F2F6FF"/>
                          </a:solidFill>
                          <a:latin typeface="Calibri"/>
                        </a:rPr>
                        <a:t>Wireless link</a:t>
                      </a:r>
                    </a:p>
                  </a:txBody>
                  <a:tcPr marL="73152" marR="73152" marT="27432" marB="27432" anchor="ctr">
                    <a:solidFill>
                      <a:srgbClr val="1E2E4E"/>
                    </a:solidFill>
                  </a:tcPr>
                </a:tc>
                <a:tc>
                  <a:txBody>
                    <a:bodyPr wrap="square"/>
                    <a:lstStyle/>
                    <a:p>
                      <a:pPr algn="l"/>
                      <a:r>
                        <a:rPr sz="950" b="0">
                          <a:solidFill>
                            <a:srgbClr val="F2F6FF"/>
                          </a:solidFill>
                          <a:latin typeface="Calibri"/>
                        </a:rPr>
                        <a:t>an ESP-01 or a HC-05 module replacing the serial cable</a:t>
                      </a:r>
                    </a:p>
                  </a:txBody>
                  <a:tcPr marL="73152" marR="73152" marT="27432" marB="27432" anchor="ctr">
                    <a:solidFill>
                      <a:srgbClr val="1E2E4E"/>
                    </a:solidFill>
                  </a:tcPr>
                </a:tc>
                <a:tc>
                  <a:txBody>
                    <a:bodyPr wrap="square"/>
                    <a:lstStyle/>
                    <a:p>
                      <a:pPr algn="l"/>
                      <a:r>
                        <a:rPr sz="950" b="0">
                          <a:solidFill>
                            <a:srgbClr val="F2F6FF"/>
                          </a:solidFill>
                          <a:latin typeface="Calibri"/>
                        </a:rPr>
                        <a:t>the existing UART at 3.3 V levels</a:t>
                      </a:r>
                    </a:p>
                  </a:txBody>
                  <a:tcPr marL="73152" marR="73152" marT="27432" marB="27432" anchor="ctr">
                    <a:solidFill>
                      <a:srgbClr val="1E2E4E"/>
                    </a:solidFill>
                  </a:tcPr>
                </a:tc>
              </a:tr>
              <a:tr h="411480">
                <a:tc>
                  <a:txBody>
                    <a:bodyPr wrap="square"/>
                    <a:lstStyle/>
                    <a:p>
                      <a:pPr algn="l"/>
                      <a:r>
                        <a:rPr sz="950" b="0">
                          <a:solidFill>
                            <a:srgbClr val="F2F6FF"/>
                          </a:solidFill>
                          <a:latin typeface="Calibri"/>
                        </a:rPr>
                        <a:t>A proper PCB</a:t>
                      </a:r>
                    </a:p>
                  </a:txBody>
                  <a:tcPr marL="73152" marR="73152" marT="27432" marB="27432" anchor="ctr">
                    <a:solidFill>
                      <a:srgbClr val="17243E"/>
                    </a:solidFill>
                  </a:tcPr>
                </a:tc>
                <a:tc>
                  <a:txBody>
                    <a:bodyPr wrap="square"/>
                    <a:lstStyle/>
                    <a:p>
                      <a:pPr algn="l"/>
                      <a:r>
                        <a:rPr sz="950" b="0">
                          <a:solidFill>
                            <a:srgbClr val="F2F6FF"/>
                          </a:solidFill>
                          <a:latin typeface="Calibri"/>
                        </a:rPr>
                        <a:t>a two layer board with a ground plane, silk screen and mounting holes</a:t>
                      </a:r>
                    </a:p>
                  </a:txBody>
                  <a:tcPr marL="73152" marR="73152" marT="27432" marB="27432" anchor="ctr">
                    <a:solidFill>
                      <a:srgbClr val="17243E"/>
                    </a:solidFill>
                  </a:tcPr>
                </a:tc>
                <a:tc>
                  <a:txBody>
                    <a:bodyPr wrap="square"/>
                    <a:lstStyle/>
                    <a:p>
                      <a:pPr algn="l"/>
                      <a:r>
                        <a:rPr sz="950" b="0">
                          <a:solidFill>
                            <a:srgbClr val="F2F6FF"/>
                          </a:solidFill>
                          <a:latin typeface="Calibri"/>
                        </a:rPr>
                        <a:t>a KiCad layout from the net tables already written</a:t>
                      </a:r>
                    </a:p>
                  </a:txBody>
                  <a:tcPr marL="73152" marR="73152" marT="27432" marB="27432" anchor="ctr">
                    <a:solidFill>
                      <a:srgbClr val="17243E"/>
                    </a:solidFill>
                  </a:tcPr>
                </a:tc>
              </a:tr>
              <a:tr h="411480">
                <a:tc>
                  <a:txBody>
                    <a:bodyPr wrap="square"/>
                    <a:lstStyle/>
                    <a:p>
                      <a:pPr algn="l"/>
                      <a:r>
                        <a:rPr sz="950" b="0">
                          <a:solidFill>
                            <a:srgbClr val="F2F6FF"/>
                          </a:solidFill>
                          <a:latin typeface="Calibri"/>
                        </a:rPr>
                        <a:t>Mains rated enclosure</a:t>
                      </a:r>
                    </a:p>
                  </a:txBody>
                  <a:tcPr marL="73152" marR="73152" marT="27432" marB="27432" anchor="ctr">
                    <a:solidFill>
                      <a:srgbClr val="1E2E4E"/>
                    </a:solidFill>
                  </a:tcPr>
                </a:tc>
                <a:tc>
                  <a:txBody>
                    <a:bodyPr wrap="square"/>
                    <a:lstStyle/>
                    <a:p>
                      <a:pPr algn="l"/>
                      <a:r>
                        <a:rPr sz="950" b="0">
                          <a:solidFill>
                            <a:srgbClr val="F2F6FF"/>
                          </a:solidFill>
                          <a:latin typeface="Calibri"/>
                        </a:rPr>
                        <a:t>an insulated box, a fused relay output and a proper terminal block</a:t>
                      </a:r>
                    </a:p>
                  </a:txBody>
                  <a:tcPr marL="73152" marR="73152" marT="27432" marB="27432" anchor="ctr">
                    <a:solidFill>
                      <a:srgbClr val="1E2E4E"/>
                    </a:solidFill>
                  </a:tcPr>
                </a:tc>
                <a:tc>
                  <a:txBody>
                    <a:bodyPr wrap="square"/>
                    <a:lstStyle/>
                    <a:p>
                      <a:pPr algn="l"/>
                      <a:r>
                        <a:rPr sz="950" b="0">
                          <a:solidFill>
                            <a:srgbClr val="F2F6FF"/>
                          </a:solidFill>
                          <a:latin typeface="Calibri"/>
                        </a:rPr>
                        <a:t>safety review before any mains connection</a:t>
                      </a:r>
                    </a:p>
                  </a:txBody>
                  <a:tcPr marL="73152" marR="73152" marT="27432" marB="27432" anchor="ctr">
                    <a:solidFill>
                      <a:srgbClr val="1E2E4E"/>
                    </a:solidFill>
                  </a:tcPr>
                </a:tc>
              </a:tr>
            </a:tbl>
          </a:graphicData>
        </a:graphic>
      </p:graphicFrame>
      <p:sp>
        <p:nvSpPr>
          <p:cNvPr id="11" name="Rounded Rectangle 10"/>
          <p:cNvSpPr/>
          <p:nvPr/>
        </p:nvSpPr>
        <p:spPr>
          <a:xfrm>
            <a:off x="566928" y="5486400"/>
            <a:ext cx="11058113" cy="777240"/>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614416"/>
            <a:ext cx="10546049" cy="603504"/>
          </a:xfrm>
          <a:prstGeom prst="rect">
            <a:avLst/>
          </a:prstGeom>
          <a:noFill/>
        </p:spPr>
        <p:txBody>
          <a:bodyPr wrap="square" lIns="0" rIns="0" tIns="0" bIns="0" anchor="t">
            <a:spAutoFit/>
          </a:bodyPr>
          <a:lstStyle/>
          <a:p>
            <a:pPr algn="l">
              <a:lnSpc>
                <a:spcPct val="115000"/>
              </a:lnSpc>
              <a:spcAft>
                <a:spcPts val="0"/>
              </a:spcAft>
            </a:pPr>
            <a:r>
              <a:rPr sz="1150" b="1" i="0">
                <a:solidFill>
                  <a:srgbClr val="F2F6FF"/>
                </a:solidFill>
                <a:latin typeface="Calibri"/>
              </a:rPr>
              <a:t>The first four need no new hardware at all.  </a:t>
            </a:r>
          </a:p>
          <a:p>
            <a:pPr algn="l">
              <a:lnSpc>
                <a:spcPct val="115000"/>
              </a:lnSpc>
              <a:spcAft>
                <a:spcPts val="0"/>
              </a:spcAft>
            </a:pPr>
            <a:r>
              <a:rPr sz="1150" b="0" i="0">
                <a:solidFill>
                  <a:srgbClr val="A9B8D6"/>
                </a:solidFill>
                <a:latin typeface="Calibri"/>
              </a:rPr>
              <a:t>Two of the 32 pins are recoverable if the LCD is moved to a PCF8574 I2C backpack, which frees P2.3 and P2.4 for an I2C bus.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91440"/>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65760"/>
            <a:ext cx="11058113" cy="256032"/>
          </a:xfrm>
          <a:prstGeom prst="rect">
            <a:avLst/>
          </a:prstGeom>
          <a:noFill/>
        </p:spPr>
        <p:txBody>
          <a:bodyPr wrap="square" lIns="0" rIns="0" tIns="0" bIns="0" anchor="t">
            <a:spAutoFit/>
          </a:bodyPr>
          <a:lstStyle/>
          <a:p>
            <a:pPr algn="l">
              <a:lnSpc>
                <a:spcPct val="100000"/>
              </a:lnSpc>
              <a:spcAft>
                <a:spcPts val="0"/>
              </a:spcAft>
            </a:pPr>
            <a:r>
              <a:rPr sz="1100" b="1" i="0">
                <a:solidFill>
                  <a:srgbClr val="2FE0C0"/>
                </a:solidFill>
                <a:latin typeface="Calibri"/>
              </a:rPr>
              <a:t>REFERENCES</a:t>
            </a:r>
          </a:p>
        </p:txBody>
      </p:sp>
      <p:sp>
        <p:nvSpPr>
          <p:cNvPr id="5" name="TextBox 4"/>
          <p:cNvSpPr txBox="1"/>
          <p:nvPr/>
        </p:nvSpPr>
        <p:spPr>
          <a:xfrm>
            <a:off x="566928" y="603504"/>
            <a:ext cx="11058113" cy="438912"/>
          </a:xfrm>
          <a:prstGeom prst="rect">
            <a:avLst/>
          </a:prstGeom>
          <a:noFill/>
        </p:spPr>
        <p:txBody>
          <a:bodyPr wrap="square" lIns="0" rIns="0" tIns="0" bIns="0" anchor="t">
            <a:spAutoFit/>
          </a:bodyPr>
          <a:lstStyle/>
          <a:p>
            <a:pPr algn="l">
              <a:lnSpc>
                <a:spcPct val="100000"/>
              </a:lnSpc>
              <a:spcAft>
                <a:spcPts val="0"/>
              </a:spcAft>
            </a:pPr>
            <a:r>
              <a:rPr sz="2700" b="1" i="0">
                <a:solidFill>
                  <a:srgbClr val="F2F6FF"/>
                </a:solidFill>
                <a:latin typeface="Calibri"/>
              </a:rPr>
              <a:t>Sources used for the design</a:t>
            </a:r>
          </a:p>
        </p:txBody>
      </p:sp>
      <p:sp>
        <p:nvSpPr>
          <p:cNvPr id="6" name="Rectangle 5"/>
          <p:cNvSpPr/>
          <p:nvPr/>
        </p:nvSpPr>
        <p:spPr>
          <a:xfrm>
            <a:off x="566928" y="1353312"/>
            <a:ext cx="1371600" cy="32004"/>
          </a:xfrm>
          <a:prstGeom prst="rect">
            <a:avLst/>
          </a:prstGeom>
          <a:solidFill>
            <a:srgbClr val="2FE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6382512"/>
            <a:ext cx="11058113" cy="10972"/>
          </a:xfrm>
          <a:prstGeom prst="rect">
            <a:avLst/>
          </a:prstGeom>
          <a:solidFill>
            <a:srgbClr val="25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455664"/>
            <a:ext cx="8229600" cy="237744"/>
          </a:xfrm>
          <a:prstGeom prst="rect">
            <a:avLst/>
          </a:prstGeom>
          <a:noFill/>
        </p:spPr>
        <p:txBody>
          <a:bodyPr wrap="square" lIns="0" rIns="0" tIns="0" bIns="0" anchor="t">
            <a:spAutoFit/>
          </a:bodyPr>
          <a:lstStyle/>
          <a:p>
            <a:pPr algn="l">
              <a:lnSpc>
                <a:spcPct val="100000"/>
              </a:lnSpc>
              <a:spcAft>
                <a:spcPts val="0"/>
              </a:spcAft>
            </a:pPr>
            <a:r>
              <a:rPr sz="850" b="0" i="0">
                <a:solidFill>
                  <a:srgbClr val="6F81A5"/>
                </a:solidFill>
                <a:latin typeface="Calibri"/>
              </a:rPr>
              <a:t>8051 Microcontroller Hardware Lab  |  ATHARVA (24BEL0082) - ADITYA (24BEL0087)</a:t>
            </a:r>
          </a:p>
        </p:txBody>
      </p:sp>
      <p:sp>
        <p:nvSpPr>
          <p:cNvPr id="9" name="TextBox 8"/>
          <p:cNvSpPr txBox="1"/>
          <p:nvPr/>
        </p:nvSpPr>
        <p:spPr>
          <a:xfrm>
            <a:off x="10527761" y="6455664"/>
            <a:ext cx="1097280" cy="237744"/>
          </a:xfrm>
          <a:prstGeom prst="rect">
            <a:avLst/>
          </a:prstGeom>
          <a:noFill/>
        </p:spPr>
        <p:txBody>
          <a:bodyPr wrap="square" lIns="0" rIns="0" tIns="0" bIns="0" anchor="t">
            <a:spAutoFit/>
          </a:bodyPr>
          <a:lstStyle/>
          <a:p>
            <a:pPr algn="r">
              <a:lnSpc>
                <a:spcPct val="100000"/>
              </a:lnSpc>
              <a:spcAft>
                <a:spcPts val="0"/>
              </a:spcAft>
            </a:pPr>
            <a:r>
              <a:rPr sz="850" b="0" i="0">
                <a:solidFill>
                  <a:srgbClr val="6F81A5"/>
                </a:solidFill>
                <a:latin typeface="Calibri"/>
              </a:rPr>
              <a:t>28</a:t>
            </a:r>
          </a:p>
        </p:txBody>
      </p:sp>
      <p:graphicFrame>
        <p:nvGraphicFramePr>
          <p:cNvPr id="10" name="Table 9"/>
          <p:cNvGraphicFramePr>
            <a:graphicFrameLocks noGrp="1"/>
          </p:cNvGraphicFramePr>
          <p:nvPr/>
        </p:nvGraphicFramePr>
        <p:xfrm>
          <a:off x="566928" y="1645920"/>
          <a:ext cx="11058112" cy="3840480"/>
        </p:xfrm>
        <a:graphic>
          <a:graphicData uri="http://schemas.openxmlformats.org/drawingml/2006/table">
            <a:tbl>
              <a:tblPr firstRow="1">
                <a:tableStyleId>{5C22544A-7EE6-4342-B048-85BDC9FD1C3A}</a:tableStyleId>
              </a:tblPr>
              <a:tblGrid>
                <a:gridCol w="365557"/>
                <a:gridCol w="6031698"/>
                <a:gridCol w="4660857"/>
              </a:tblGrid>
              <a:tr h="349134">
                <a:tc>
                  <a:txBody>
                    <a:bodyPr wrap="square"/>
                    <a:lstStyle/>
                    <a:p>
                      <a:pPr algn="ctr"/>
                      <a:r>
                        <a:rPr sz="1000" b="1">
                          <a:solidFill>
                            <a:srgbClr val="CFE0FF"/>
                          </a:solidFill>
                          <a:latin typeface="Calibri"/>
                        </a:rPr>
                        <a:t>#</a:t>
                      </a:r>
                    </a:p>
                  </a:txBody>
                  <a:tcPr marL="73152" marR="73152" marT="27432" marB="27432" anchor="ctr">
                    <a:solidFill>
                      <a:srgbClr val="2A3C63"/>
                    </a:solidFill>
                  </a:tcPr>
                </a:tc>
                <a:tc>
                  <a:txBody>
                    <a:bodyPr wrap="square"/>
                    <a:lstStyle/>
                    <a:p>
                      <a:pPr algn="l"/>
                      <a:r>
                        <a:rPr sz="1000" b="1">
                          <a:solidFill>
                            <a:srgbClr val="CFE0FF"/>
                          </a:solidFill>
                          <a:latin typeface="Calibri"/>
                        </a:rPr>
                        <a:t>Reference</a:t>
                      </a:r>
                    </a:p>
                  </a:txBody>
                  <a:tcPr marL="73152" marR="73152" marT="27432" marB="27432" anchor="ctr">
                    <a:solidFill>
                      <a:srgbClr val="2A3C63"/>
                    </a:solidFill>
                  </a:tcPr>
                </a:tc>
                <a:tc>
                  <a:txBody>
                    <a:bodyPr wrap="square"/>
                    <a:lstStyle/>
                    <a:p>
                      <a:pPr algn="l"/>
                      <a:r>
                        <a:rPr sz="1000" b="1">
                          <a:solidFill>
                            <a:srgbClr val="CFE0FF"/>
                          </a:solidFill>
                          <a:latin typeface="Calibri"/>
                        </a:rPr>
                        <a:t>Used for</a:t>
                      </a:r>
                    </a:p>
                  </a:txBody>
                  <a:tcPr marL="73152" marR="73152" marT="27432" marB="27432" anchor="ctr">
                    <a:solidFill>
                      <a:srgbClr val="2A3C63"/>
                    </a:solidFill>
                  </a:tcPr>
                </a:tc>
              </a:tr>
              <a:tr h="349134">
                <a:tc>
                  <a:txBody>
                    <a:bodyPr wrap="square"/>
                    <a:lstStyle/>
                    <a:p>
                      <a:pPr algn="ctr"/>
                      <a:r>
                        <a:rPr sz="1000" b="0">
                          <a:solidFill>
                            <a:srgbClr val="F2F6FF"/>
                          </a:solidFill>
                          <a:latin typeface="Calibri"/>
                        </a:rPr>
                        <a:t>1</a:t>
                      </a:r>
                    </a:p>
                  </a:txBody>
                  <a:tcPr marL="73152" marR="73152" marT="27432" marB="27432" anchor="ctr">
                    <a:solidFill>
                      <a:srgbClr val="17243E"/>
                    </a:solidFill>
                  </a:tcPr>
                </a:tc>
                <a:tc>
                  <a:txBody>
                    <a:bodyPr wrap="square"/>
                    <a:lstStyle/>
                    <a:p>
                      <a:pPr algn="l"/>
                      <a:r>
                        <a:rPr sz="1000" b="0">
                          <a:solidFill>
                            <a:srgbClr val="F2F6FF"/>
                          </a:solidFill>
                          <a:latin typeface="Calibri"/>
                        </a:rPr>
                        <a:t>Intel, MCS-51 Microcontroller Family User's Manual, 1981</a:t>
                      </a:r>
                    </a:p>
                  </a:txBody>
                  <a:tcPr marL="73152" marR="73152" marT="27432" marB="27432" anchor="ctr">
                    <a:solidFill>
                      <a:srgbClr val="17243E"/>
                    </a:solidFill>
                  </a:tcPr>
                </a:tc>
                <a:tc>
                  <a:txBody>
                    <a:bodyPr wrap="square"/>
                    <a:lstStyle/>
                    <a:p>
                      <a:pPr algn="l"/>
                      <a:r>
                        <a:rPr sz="1000" b="0">
                          <a:solidFill>
                            <a:srgbClr val="F2F6FF"/>
                          </a:solidFill>
                          <a:latin typeface="Calibri"/>
                        </a:rPr>
                        <a:t>architecture, SFRs, instruction timing</a:t>
                      </a:r>
                    </a:p>
                  </a:txBody>
                  <a:tcPr marL="73152" marR="73152" marT="27432" marB="27432" anchor="ctr">
                    <a:solidFill>
                      <a:srgbClr val="17243E"/>
                    </a:solidFill>
                  </a:tcPr>
                </a:tc>
              </a:tr>
              <a:tr h="349134">
                <a:tc>
                  <a:txBody>
                    <a:bodyPr wrap="square"/>
                    <a:lstStyle/>
                    <a:p>
                      <a:pPr algn="ctr"/>
                      <a:r>
                        <a:rPr sz="1000" b="0">
                          <a:solidFill>
                            <a:srgbClr val="F2F6FF"/>
                          </a:solidFill>
                          <a:latin typeface="Calibri"/>
                        </a:rPr>
                        <a:t>2</a:t>
                      </a:r>
                    </a:p>
                  </a:txBody>
                  <a:tcPr marL="73152" marR="73152" marT="27432" marB="27432" anchor="ctr">
                    <a:solidFill>
                      <a:srgbClr val="1E2E4E"/>
                    </a:solidFill>
                  </a:tcPr>
                </a:tc>
                <a:tc>
                  <a:txBody>
                    <a:bodyPr wrap="square"/>
                    <a:lstStyle/>
                    <a:p>
                      <a:pPr algn="l"/>
                      <a:r>
                        <a:rPr sz="1000" b="0">
                          <a:solidFill>
                            <a:srgbClr val="F2F6FF"/>
                          </a:solidFill>
                          <a:latin typeface="Calibri"/>
                        </a:rPr>
                        <a:t>Atmel, AT89S52 and AT89C51 datasheets</a:t>
                      </a:r>
                    </a:p>
                  </a:txBody>
                  <a:tcPr marL="73152" marR="73152" marT="27432" marB="27432" anchor="ctr">
                    <a:solidFill>
                      <a:srgbClr val="1E2E4E"/>
                    </a:solidFill>
                  </a:tcPr>
                </a:tc>
                <a:tc>
                  <a:txBody>
                    <a:bodyPr wrap="square"/>
                    <a:lstStyle/>
                    <a:p>
                      <a:pPr algn="l"/>
                      <a:r>
                        <a:rPr sz="1000" b="0">
                          <a:solidFill>
                            <a:srgbClr val="F2F6FF"/>
                          </a:solidFill>
                          <a:latin typeface="Calibri"/>
                        </a:rPr>
                        <a:t>pinout, DC characteristics, ISP interface</a:t>
                      </a:r>
                    </a:p>
                  </a:txBody>
                  <a:tcPr marL="73152" marR="73152" marT="27432" marB="27432" anchor="ctr">
                    <a:solidFill>
                      <a:srgbClr val="1E2E4E"/>
                    </a:solidFill>
                  </a:tcPr>
                </a:tc>
              </a:tr>
              <a:tr h="349134">
                <a:tc>
                  <a:txBody>
                    <a:bodyPr wrap="square"/>
                    <a:lstStyle/>
                    <a:p>
                      <a:pPr algn="ctr"/>
                      <a:r>
                        <a:rPr sz="1000" b="0">
                          <a:solidFill>
                            <a:srgbClr val="F2F6FF"/>
                          </a:solidFill>
                          <a:latin typeface="Calibri"/>
                        </a:rPr>
                        <a:t>3</a:t>
                      </a:r>
                    </a:p>
                  </a:txBody>
                  <a:tcPr marL="73152" marR="73152" marT="27432" marB="27432" anchor="ctr">
                    <a:solidFill>
                      <a:srgbClr val="17243E"/>
                    </a:solidFill>
                  </a:tcPr>
                </a:tc>
                <a:tc>
                  <a:txBody>
                    <a:bodyPr wrap="square"/>
                    <a:lstStyle/>
                    <a:p>
                      <a:pPr algn="l"/>
                      <a:r>
                        <a:rPr sz="1000" b="0">
                          <a:solidFill>
                            <a:srgbClr val="F2F6FF"/>
                          </a:solidFill>
                          <a:latin typeface="Calibri"/>
                        </a:rPr>
                        <a:t>Texas Instruments and Renesas, ADC0804 datasheet</a:t>
                      </a:r>
                    </a:p>
                  </a:txBody>
                  <a:tcPr marL="73152" marR="73152" marT="27432" marB="27432" anchor="ctr">
                    <a:solidFill>
                      <a:srgbClr val="17243E"/>
                    </a:solidFill>
                  </a:tcPr>
                </a:tc>
                <a:tc>
                  <a:txBody>
                    <a:bodyPr wrap="square"/>
                    <a:lstStyle/>
                    <a:p>
                      <a:pPr algn="l"/>
                      <a:r>
                        <a:rPr sz="1000" b="0">
                          <a:solidFill>
                            <a:srgbClr val="F2F6FF"/>
                          </a:solidFill>
                          <a:latin typeface="Calibri"/>
                        </a:rPr>
                        <a:t>self clocking RC network, conversion timing, Vref/2</a:t>
                      </a:r>
                    </a:p>
                  </a:txBody>
                  <a:tcPr marL="73152" marR="73152" marT="27432" marB="27432" anchor="ctr">
                    <a:solidFill>
                      <a:srgbClr val="17243E"/>
                    </a:solidFill>
                  </a:tcPr>
                </a:tc>
              </a:tr>
              <a:tr h="349134">
                <a:tc>
                  <a:txBody>
                    <a:bodyPr wrap="square"/>
                    <a:lstStyle/>
                    <a:p>
                      <a:pPr algn="ctr"/>
                      <a:r>
                        <a:rPr sz="1000" b="0">
                          <a:solidFill>
                            <a:srgbClr val="F2F6FF"/>
                          </a:solidFill>
                          <a:latin typeface="Calibri"/>
                        </a:rPr>
                        <a:t>4</a:t>
                      </a:r>
                    </a:p>
                  </a:txBody>
                  <a:tcPr marL="73152" marR="73152" marT="27432" marB="27432" anchor="ctr">
                    <a:solidFill>
                      <a:srgbClr val="1E2E4E"/>
                    </a:solidFill>
                  </a:tcPr>
                </a:tc>
                <a:tc>
                  <a:txBody>
                    <a:bodyPr wrap="square"/>
                    <a:lstStyle/>
                    <a:p>
                      <a:pPr algn="l"/>
                      <a:r>
                        <a:rPr sz="1000" b="0">
                          <a:solidFill>
                            <a:srgbClr val="F2F6FF"/>
                          </a:solidFill>
                          <a:latin typeface="Calibri"/>
                        </a:rPr>
                        <a:t>Texas Instruments, MAX232 datasheet</a:t>
                      </a:r>
                    </a:p>
                  </a:txBody>
                  <a:tcPr marL="73152" marR="73152" marT="27432" marB="27432" anchor="ctr">
                    <a:solidFill>
                      <a:srgbClr val="1E2E4E"/>
                    </a:solidFill>
                  </a:tcPr>
                </a:tc>
                <a:tc>
                  <a:txBody>
                    <a:bodyPr wrap="square"/>
                    <a:lstStyle/>
                    <a:p>
                      <a:pPr algn="l"/>
                      <a:r>
                        <a:rPr sz="1000" b="0">
                          <a:solidFill>
                            <a:srgbClr val="F2F6FF"/>
                          </a:solidFill>
                          <a:latin typeface="Calibri"/>
                        </a:rPr>
                        <a:t>charge pump capacitor connections, DB9 wiring</a:t>
                      </a:r>
                    </a:p>
                  </a:txBody>
                  <a:tcPr marL="73152" marR="73152" marT="27432" marB="27432" anchor="ctr">
                    <a:solidFill>
                      <a:srgbClr val="1E2E4E"/>
                    </a:solidFill>
                  </a:tcPr>
                </a:tc>
              </a:tr>
              <a:tr h="349134">
                <a:tc>
                  <a:txBody>
                    <a:bodyPr wrap="square"/>
                    <a:lstStyle/>
                    <a:p>
                      <a:pPr algn="ctr"/>
                      <a:r>
                        <a:rPr sz="1000" b="0">
                          <a:solidFill>
                            <a:srgbClr val="F2F6FF"/>
                          </a:solidFill>
                          <a:latin typeface="Calibri"/>
                        </a:rPr>
                        <a:t>5</a:t>
                      </a:r>
                    </a:p>
                  </a:txBody>
                  <a:tcPr marL="73152" marR="73152" marT="27432" marB="27432" anchor="ctr">
                    <a:solidFill>
                      <a:srgbClr val="17243E"/>
                    </a:solidFill>
                  </a:tcPr>
                </a:tc>
                <a:tc>
                  <a:txBody>
                    <a:bodyPr wrap="square"/>
                    <a:lstStyle/>
                    <a:p>
                      <a:pPr algn="l"/>
                      <a:r>
                        <a:rPr sz="1000" b="0">
                          <a:solidFill>
                            <a:srgbClr val="F2F6FF"/>
                          </a:solidFill>
                          <a:latin typeface="Calibri"/>
                        </a:rPr>
                        <a:t>Texas Instruments, LM35 datasheet</a:t>
                      </a:r>
                    </a:p>
                  </a:txBody>
                  <a:tcPr marL="73152" marR="73152" marT="27432" marB="27432" anchor="ctr">
                    <a:solidFill>
                      <a:srgbClr val="17243E"/>
                    </a:solidFill>
                  </a:tcPr>
                </a:tc>
                <a:tc>
                  <a:txBody>
                    <a:bodyPr wrap="square"/>
                    <a:lstStyle/>
                    <a:p>
                      <a:pPr algn="l"/>
                      <a:r>
                        <a:rPr sz="1000" b="0">
                          <a:solidFill>
                            <a:srgbClr val="F2F6FF"/>
                          </a:solidFill>
                          <a:latin typeface="Calibri"/>
                        </a:rPr>
                        <a:t>10 mV per degree C, output loading, decoupling</a:t>
                      </a:r>
                    </a:p>
                  </a:txBody>
                  <a:tcPr marL="73152" marR="73152" marT="27432" marB="27432" anchor="ctr">
                    <a:solidFill>
                      <a:srgbClr val="17243E"/>
                    </a:solidFill>
                  </a:tcPr>
                </a:tc>
              </a:tr>
              <a:tr h="349134">
                <a:tc>
                  <a:txBody>
                    <a:bodyPr wrap="square"/>
                    <a:lstStyle/>
                    <a:p>
                      <a:pPr algn="ctr"/>
                      <a:r>
                        <a:rPr sz="1000" b="0">
                          <a:solidFill>
                            <a:srgbClr val="F2F6FF"/>
                          </a:solidFill>
                          <a:latin typeface="Calibri"/>
                        </a:rPr>
                        <a:t>6</a:t>
                      </a:r>
                    </a:p>
                  </a:txBody>
                  <a:tcPr marL="73152" marR="73152" marT="27432" marB="27432" anchor="ctr">
                    <a:solidFill>
                      <a:srgbClr val="1E2E4E"/>
                    </a:solidFill>
                  </a:tcPr>
                </a:tc>
                <a:tc>
                  <a:txBody>
                    <a:bodyPr wrap="square"/>
                    <a:lstStyle/>
                    <a:p>
                      <a:pPr algn="l"/>
                      <a:r>
                        <a:rPr sz="1000" b="0">
                          <a:solidFill>
                            <a:srgbClr val="F2F6FF"/>
                          </a:solidFill>
                          <a:latin typeface="Calibri"/>
                        </a:rPr>
                        <a:t>Hitachi HD44780 datasheet</a:t>
                      </a:r>
                    </a:p>
                  </a:txBody>
                  <a:tcPr marL="73152" marR="73152" marT="27432" marB="27432" anchor="ctr">
                    <a:solidFill>
                      <a:srgbClr val="1E2E4E"/>
                    </a:solidFill>
                  </a:tcPr>
                </a:tc>
                <a:tc>
                  <a:txBody>
                    <a:bodyPr wrap="square"/>
                    <a:lstStyle/>
                    <a:p>
                      <a:pPr algn="l"/>
                      <a:r>
                        <a:rPr sz="1000" b="0">
                          <a:solidFill>
                            <a:srgbClr val="F2F6FF"/>
                          </a:solidFill>
                          <a:latin typeface="Calibri"/>
                        </a:rPr>
                        <a:t>8-bit initialisation sequence and timing</a:t>
                      </a:r>
                    </a:p>
                  </a:txBody>
                  <a:tcPr marL="73152" marR="73152" marT="27432" marB="27432" anchor="ctr">
                    <a:solidFill>
                      <a:srgbClr val="1E2E4E"/>
                    </a:solidFill>
                  </a:tcPr>
                </a:tc>
              </a:tr>
              <a:tr h="349134">
                <a:tc>
                  <a:txBody>
                    <a:bodyPr wrap="square"/>
                    <a:lstStyle/>
                    <a:p>
                      <a:pPr algn="ctr"/>
                      <a:r>
                        <a:rPr sz="1000" b="0">
                          <a:solidFill>
                            <a:srgbClr val="F2F6FF"/>
                          </a:solidFill>
                          <a:latin typeface="Calibri"/>
                        </a:rPr>
                        <a:t>7</a:t>
                      </a:r>
                    </a:p>
                  </a:txBody>
                  <a:tcPr marL="73152" marR="73152" marT="27432" marB="27432" anchor="ctr">
                    <a:solidFill>
                      <a:srgbClr val="17243E"/>
                    </a:solidFill>
                  </a:tcPr>
                </a:tc>
                <a:tc>
                  <a:txBody>
                    <a:bodyPr wrap="square"/>
                    <a:lstStyle/>
                    <a:p>
                      <a:pPr algn="l"/>
                      <a:r>
                        <a:rPr sz="1000" b="0">
                          <a:solidFill>
                            <a:srgbClr val="F2F6FF"/>
                          </a:solidFill>
                          <a:latin typeface="Calibri"/>
                        </a:rPr>
                        <a:t>Keil Software, C51 compiler and uVision documentation</a:t>
                      </a:r>
                    </a:p>
                  </a:txBody>
                  <a:tcPr marL="73152" marR="73152" marT="27432" marB="27432" anchor="ctr">
                    <a:solidFill>
                      <a:srgbClr val="17243E"/>
                    </a:solidFill>
                  </a:tcPr>
                </a:tc>
                <a:tc>
                  <a:txBody>
                    <a:bodyPr wrap="square"/>
                    <a:lstStyle/>
                    <a:p>
                      <a:pPr algn="l"/>
                      <a:r>
                        <a:rPr sz="1000" b="0">
                          <a:solidFill>
                            <a:srgbClr val="F2F6FF"/>
                          </a:solidFill>
                          <a:latin typeface="Calibri"/>
                        </a:rPr>
                        <a:t>sbit, code and interrupt keywords, project options</a:t>
                      </a:r>
                    </a:p>
                  </a:txBody>
                  <a:tcPr marL="73152" marR="73152" marT="27432" marB="27432" anchor="ctr">
                    <a:solidFill>
                      <a:srgbClr val="17243E"/>
                    </a:solidFill>
                  </a:tcPr>
                </a:tc>
              </a:tr>
              <a:tr h="349134">
                <a:tc>
                  <a:txBody>
                    <a:bodyPr wrap="square"/>
                    <a:lstStyle/>
                    <a:p>
                      <a:pPr algn="ctr"/>
                      <a:r>
                        <a:rPr sz="1000" b="0">
                          <a:solidFill>
                            <a:srgbClr val="F2F6FF"/>
                          </a:solidFill>
                          <a:latin typeface="Calibri"/>
                        </a:rPr>
                        <a:t>8</a:t>
                      </a:r>
                    </a:p>
                  </a:txBody>
                  <a:tcPr marL="73152" marR="73152" marT="27432" marB="27432" anchor="ctr">
                    <a:solidFill>
                      <a:srgbClr val="1E2E4E"/>
                    </a:solidFill>
                  </a:tcPr>
                </a:tc>
                <a:tc>
                  <a:txBody>
                    <a:bodyPr wrap="square"/>
                    <a:lstStyle/>
                    <a:p>
                      <a:pPr algn="l"/>
                      <a:r>
                        <a:rPr sz="1000" b="0">
                          <a:solidFill>
                            <a:srgbClr val="F2F6FF"/>
                          </a:solidFill>
                          <a:latin typeface="Calibri"/>
                        </a:rPr>
                        <a:t>M. A. Mazidi, J. G. Mazidi and R. D. McKinlay, The 8051 Microcontroller and Embedded Systems</a:t>
                      </a:r>
                    </a:p>
                  </a:txBody>
                  <a:tcPr marL="73152" marR="73152" marT="27432" marB="27432" anchor="ctr">
                    <a:solidFill>
                      <a:srgbClr val="1E2E4E"/>
                    </a:solidFill>
                  </a:tcPr>
                </a:tc>
                <a:tc>
                  <a:txBody>
                    <a:bodyPr wrap="square"/>
                    <a:lstStyle/>
                    <a:p>
                      <a:pPr algn="l"/>
                      <a:r>
                        <a:rPr sz="1000" b="0">
                          <a:solidFill>
                            <a:srgbClr val="F2F6FF"/>
                          </a:solidFill>
                          <a:latin typeface="Calibri"/>
                        </a:rPr>
                        <a:t>interfacing patterns and worked examples</a:t>
                      </a:r>
                    </a:p>
                  </a:txBody>
                  <a:tcPr marL="73152" marR="73152" marT="27432" marB="27432" anchor="ctr">
                    <a:solidFill>
                      <a:srgbClr val="1E2E4E"/>
                    </a:solidFill>
                  </a:tcPr>
                </a:tc>
              </a:tr>
              <a:tr h="349134">
                <a:tc>
                  <a:txBody>
                    <a:bodyPr wrap="square"/>
                    <a:lstStyle/>
                    <a:p>
                      <a:pPr algn="ctr"/>
                      <a:r>
                        <a:rPr sz="1000" b="0">
                          <a:solidFill>
                            <a:srgbClr val="F2F6FF"/>
                          </a:solidFill>
                          <a:latin typeface="Calibri"/>
                        </a:rPr>
                        <a:t>9</a:t>
                      </a:r>
                    </a:p>
                  </a:txBody>
                  <a:tcPr marL="73152" marR="73152" marT="27432" marB="27432" anchor="ctr">
                    <a:solidFill>
                      <a:srgbClr val="17243E"/>
                    </a:solidFill>
                  </a:tcPr>
                </a:tc>
                <a:tc>
                  <a:txBody>
                    <a:bodyPr wrap="square"/>
                    <a:lstStyle/>
                    <a:p>
                      <a:pPr algn="l"/>
                      <a:r>
                        <a:rPr sz="1000" b="0">
                          <a:solidFill>
                            <a:srgbClr val="F2F6FF"/>
                          </a:solidFill>
                          <a:latin typeface="Calibri"/>
                        </a:rPr>
                        <a:t>K. J. Ayala, The 8051 Microcontroller: Architecture, Programming and Applications</a:t>
                      </a:r>
                    </a:p>
                  </a:txBody>
                  <a:tcPr marL="73152" marR="73152" marT="27432" marB="27432" anchor="ctr">
                    <a:solidFill>
                      <a:srgbClr val="17243E"/>
                    </a:solidFill>
                  </a:tcPr>
                </a:tc>
                <a:tc>
                  <a:txBody>
                    <a:bodyPr wrap="square"/>
                    <a:lstStyle/>
                    <a:p>
                      <a:pPr algn="l"/>
                      <a:r>
                        <a:rPr sz="1000" b="0">
                          <a:solidFill>
                            <a:srgbClr val="F2F6FF"/>
                          </a:solidFill>
                          <a:latin typeface="Calibri"/>
                        </a:rPr>
                        <a:t>instruction set and addressing modes</a:t>
                      </a:r>
                    </a:p>
                  </a:txBody>
                  <a:tcPr marL="73152" marR="73152" marT="27432" marB="27432" anchor="ctr">
                    <a:solidFill>
                      <a:srgbClr val="17243E"/>
                    </a:solidFill>
                  </a:tcPr>
                </a:tc>
              </a:tr>
              <a:tr h="349140">
                <a:tc>
                  <a:txBody>
                    <a:bodyPr wrap="square"/>
                    <a:lstStyle/>
                    <a:p>
                      <a:pPr algn="ctr"/>
                      <a:r>
                        <a:rPr sz="1000" b="0">
                          <a:solidFill>
                            <a:srgbClr val="F2F6FF"/>
                          </a:solidFill>
                          <a:latin typeface="Calibri"/>
                        </a:rPr>
                        <a:t>10</a:t>
                      </a:r>
                    </a:p>
                  </a:txBody>
                  <a:tcPr marL="73152" marR="73152" marT="27432" marB="27432" anchor="ctr">
                    <a:solidFill>
                      <a:srgbClr val="1E2E4E"/>
                    </a:solidFill>
                  </a:tcPr>
                </a:tc>
                <a:tc>
                  <a:txBody>
                    <a:bodyPr wrap="square"/>
                    <a:lstStyle/>
                    <a:p>
                      <a:pPr algn="l"/>
                      <a:r>
                        <a:rPr sz="1000" b="0">
                          <a:solidFill>
                            <a:srgbClr val="F2F6FF"/>
                          </a:solidFill>
                          <a:latin typeface="Calibri"/>
                        </a:rPr>
                        <a:t>Project files: hardware/SCHEMATIC.md, firmware/src, firmware/inc/board.h</a:t>
                      </a:r>
                    </a:p>
                  </a:txBody>
                  <a:tcPr marL="73152" marR="73152" marT="27432" marB="27432" anchor="ctr">
                    <a:solidFill>
                      <a:srgbClr val="1E2E4E"/>
                    </a:solidFill>
                  </a:tcPr>
                </a:tc>
                <a:tc>
                  <a:txBody>
                    <a:bodyPr wrap="square"/>
                    <a:lstStyle/>
                    <a:p>
                      <a:pPr algn="l"/>
                      <a:r>
                        <a:rPr sz="1000" b="0">
                          <a:solidFill>
                            <a:srgbClr val="F2F6FF"/>
                          </a:solidFill>
                          <a:latin typeface="Calibri"/>
                        </a:rPr>
                        <a:t>this implementation</a:t>
                      </a:r>
                    </a:p>
                  </a:txBody>
                  <a:tcPr marL="73152" marR="73152" marT="27432" marB="27432" anchor="ctr">
                    <a:solidFill>
                      <a:srgbClr val="1E2E4E"/>
                    </a:solidFill>
                  </a:tcPr>
                </a:tc>
              </a:tr>
            </a:tbl>
          </a:graphicData>
        </a:graphic>
      </p:graphicFrame>
      <p:sp>
        <p:nvSpPr>
          <p:cNvPr id="11" name="Rounded Rectangle 10"/>
          <p:cNvSpPr/>
          <p:nvPr/>
        </p:nvSpPr>
        <p:spPr>
          <a:xfrm>
            <a:off x="566928" y="5669280"/>
            <a:ext cx="11058113" cy="603504"/>
          </a:xfrm>
          <a:prstGeom prst="roundRect">
            <a:avLst>
              <a:gd name="adj" fmla="val 6000"/>
            </a:avLst>
          </a:prstGeom>
          <a:solidFill>
            <a:srgbClr val="1E2E4E"/>
          </a:solidFill>
          <a:ln w="12700">
            <a:solidFill>
              <a:srgbClr val="2FE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779008"/>
            <a:ext cx="10546049" cy="411480"/>
          </a:xfrm>
          <a:prstGeom prst="rect">
            <a:avLst/>
          </a:prstGeom>
          <a:noFill/>
        </p:spPr>
        <p:txBody>
          <a:bodyPr wrap="square" lIns="0" rIns="0" tIns="0" bIns="0" anchor="t">
            <a:spAutoFit/>
          </a:bodyPr>
          <a:lstStyle/>
          <a:p>
            <a:pPr algn="l">
              <a:lnSpc>
                <a:spcPct val="100000"/>
              </a:lnSpc>
              <a:spcAft>
                <a:spcPts val="0"/>
              </a:spcAft>
            </a:pPr>
            <a:r>
              <a:rPr sz="1300" b="1" i="0">
                <a:solidFill>
                  <a:srgbClr val="CFE0FF"/>
                </a:solidFill>
                <a:latin typeface="Calibri"/>
              </a:rPr>
              <a:t>Thank you - questions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