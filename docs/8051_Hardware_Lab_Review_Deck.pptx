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506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004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8503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001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496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93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19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1498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029968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044952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059936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7492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8990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775704"/>
            <a:ext cx="12191969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86868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0A5FA"/>
                </a:solidFill>
                <a:latin typeface="Consolas"/>
              </a:rPr>
              <a:t>MINI PROJECT  /  MICROPROCESSORS AND MICROCONTROLLERS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1F5F9"/>
                </a:solidFill>
                <a:latin typeface="Calibri"/>
              </a:rPr>
              <a:t>8051 Hardware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1993392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Real-time embedded monitoring on the AT89S52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48716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Calibri"/>
              </a:rPr>
              <a:t>From browser simulator to measured silicon in one build cycle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035808"/>
            <a:ext cx="201168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035808"/>
            <a:ext cx="411480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38328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Consolas"/>
              </a:rPr>
              <a:t>Authors         </a:t>
            </a:r>
            <a:r>
              <a:rPr sz="1050" b="0">
                <a:solidFill>
                  <a:srgbClr val="F1F5F9"/>
                </a:solidFill>
                <a:latin typeface="Consolas"/>
              </a:rPr>
              <a:t>ATHARVA (24BEL0082)  -  ADITYA (24BEL0087)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5760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Consolas"/>
              </a:rPr>
              <a:t>Department      </a:t>
            </a:r>
            <a:r>
              <a:rPr sz="1050" b="0">
                <a:solidFill>
                  <a:srgbClr val="F1F5F9"/>
                </a:solidFill>
                <a:latin typeface="Consolas"/>
              </a:rPr>
              <a:t>Electronics and Communication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Consolas"/>
              </a:rPr>
              <a:t>Academic year   </a:t>
            </a:r>
            <a:r>
              <a:rPr sz="1050" b="0">
                <a:solidFill>
                  <a:srgbClr val="F1F5F9"/>
                </a:solidFill>
                <a:latin typeface="Consolas"/>
              </a:rPr>
              <a:t>2025 - 26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0624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Consolas"/>
              </a:rPr>
              <a:t>Review          </a:t>
            </a:r>
            <a:r>
              <a:rPr sz="1050" b="0">
                <a:solidFill>
                  <a:srgbClr val="F1F5F9"/>
                </a:solidFill>
                <a:latin typeface="Consolas"/>
              </a:rPr>
              <a:t>Technical Review Committee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80559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4748B"/>
                </a:solidFill>
                <a:latin typeface="Consolas"/>
              </a:rPr>
              <a:t>Artifacts       </a:t>
            </a:r>
            <a:r>
              <a:rPr sz="1050" b="0">
                <a:solidFill>
                  <a:srgbClr val="F1F5F9"/>
                </a:solidFill>
                <a:latin typeface="Consolas"/>
              </a:rPr>
              <a:t>Schematic, BOM, 13 Keil C51 programs, test report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0070" y="1243584"/>
            <a:ext cx="1616659" cy="1627632"/>
          </a:xfrm>
          <a:prstGeom prst="rect">
            <a:avLst/>
          </a:prstGeom>
          <a:solidFill>
            <a:srgbClr val="1A2637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03766" y="1430578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866729" y="1430578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03766" y="1634032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66729" y="1634032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03766" y="1837486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866729" y="1837486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03766" y="2040940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866729" y="2040940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03766" y="2244394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66729" y="2244394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3766" y="2447848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866729" y="2447848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03766" y="2651302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66729" y="2651302"/>
            <a:ext cx="146304" cy="3291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03766" y="1335024"/>
            <a:ext cx="14630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6646" y="1911095"/>
            <a:ext cx="154350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F1F5F9"/>
                </a:solidFill>
                <a:latin typeface="Consolas"/>
              </a:rPr>
              <a:t>AT89S52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3154680"/>
            <a:ext cx="3108960" cy="1417320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05088" y="33101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nsolas"/>
              </a:rPr>
              <a:t>SYSTEM 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05088" y="358444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Target    </a:t>
            </a:r>
            <a:r>
              <a:rPr sz="900" b="1">
                <a:solidFill>
                  <a:srgbClr val="F1F5F9"/>
                </a:solidFill>
                <a:latin typeface="Consolas"/>
              </a:rPr>
              <a:t>AT89S52-24PU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3822191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Clock     </a:t>
            </a:r>
            <a:r>
              <a:rPr sz="900" b="1">
                <a:solidFill>
                  <a:srgbClr val="F1F5F9"/>
                </a:solidFill>
                <a:latin typeface="Consolas"/>
              </a:rPr>
              <a:t>11.0592 MHz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5088" y="4059935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Bus       </a:t>
            </a:r>
            <a:r>
              <a:rPr sz="900" b="1">
                <a:solidFill>
                  <a:srgbClr val="F1F5F9"/>
                </a:solidFill>
                <a:latin typeface="Consolas"/>
              </a:rPr>
              <a:t>8-bit shared, P0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05088" y="429768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Firmware  </a:t>
            </a:r>
            <a:r>
              <a:rPr sz="900" b="1">
                <a:solidFill>
                  <a:srgbClr val="F1F5F9"/>
                </a:solidFill>
                <a:latin typeface="Consolas"/>
              </a:rPr>
              <a:t>Keil C51, 13 programs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5074920"/>
            <a:ext cx="2577076" cy="1170432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0" y="5074920"/>
            <a:ext cx="2577076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1" y="5257800"/>
            <a:ext cx="22844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32 / 32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1" y="5678424"/>
            <a:ext cx="22844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I/O PINS UTILISED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1" y="5916168"/>
            <a:ext cx="22844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full allocation, no headroom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18324" y="5074920"/>
            <a:ext cx="2577076" cy="1170432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418324" y="5074920"/>
            <a:ext cx="2577076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82916" y="5257800"/>
            <a:ext cx="22844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0.00 %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82916" y="5678424"/>
            <a:ext cx="22844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UART BAUD ERROR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2916" y="5916168"/>
            <a:ext cx="22844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TH1 = FDH at 11.0592 MHz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96568" y="5074920"/>
            <a:ext cx="2577076" cy="1170432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96568" y="5074920"/>
            <a:ext cx="2577076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61160" y="5257800"/>
            <a:ext cx="22844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0.78 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61160" y="5678424"/>
            <a:ext cx="22844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ADC RESOLUTION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1160" y="5916168"/>
            <a:ext cx="22844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Vref/2 trimmed to 1.000 V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74813" y="5074920"/>
            <a:ext cx="2577076" cy="1170432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74813" y="5074920"/>
            <a:ext cx="2577076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39405" y="5257800"/>
            <a:ext cx="22844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INR 985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39405" y="5678424"/>
            <a:ext cx="22844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BOM PER BOARD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39405" y="5916168"/>
            <a:ext cx="22844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through-hole, single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506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004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8503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001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496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93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19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1498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029968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044952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059936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7492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8990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0A5FA"/>
                </a:solidFill>
                <a:latin typeface="Consolas"/>
              </a:rPr>
              <a:t>SLIDE 02  / 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"/>
            <a:ext cx="109118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1F5F9"/>
                </a:solidFill>
                <a:latin typeface="Calibri"/>
              </a:rPr>
              <a:t>Problem statement and constraints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024128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What had to be solved before a single component was placed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353312"/>
            <a:ext cx="123444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1353312"/>
            <a:ext cx="2743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1572768"/>
            <a:ext cx="6281402" cy="2615184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1572768"/>
            <a:ext cx="50292" cy="26151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1719072"/>
            <a:ext cx="586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1F5F9"/>
                </a:solidFill>
                <a:latin typeface="Calibri"/>
              </a:rPr>
              <a:t>PROBLEM STATEMENT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2103120"/>
            <a:ext cx="584249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1">
                <a:solidFill>
                  <a:srgbClr val="F1F5F9"/>
                </a:solidFill>
                <a:latin typeface="Calibri"/>
              </a:rPr>
              <a:t>Transfer the verified 8051 programs from a software model onto a physical AT89S52, interfacing eight LEDs, a two digit seven segment display, a 16x2 character LCD, an eight way DIP switch bank, an LM35 temperature sensor through an ADC0804, a MAX232 serial link, a relay and a buzzer, and confirm on the bench that every output matches the value the simulator predicted.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310128"/>
            <a:ext cx="584249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1" i="0">
                <a:solidFill>
                  <a:srgbClr val="60A5FA"/>
                </a:solidFill>
                <a:latin typeface="Calibri"/>
              </a:rPr>
              <a:t>Hard constraint:  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Calibri"/>
              </a:rPr>
              <a:t>the peripherals require 54 I/O lines and the 8051 provides 32. The architecture must close a 22 pin deficit without adding a port expander IC.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22650" y="1572768"/>
            <a:ext cx="4429239" cy="2615184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22650" y="1572768"/>
            <a:ext cx="50292" cy="26151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2106" y="1719072"/>
            <a:ext cx="401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1F5F9"/>
                </a:solidFill>
                <a:latin typeface="Calibri"/>
              </a:rPr>
              <a:t>DESIGN CONSTRAINTS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42106" y="2171700"/>
            <a:ext cx="68580" cy="685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06698" y="2103120"/>
            <a:ext cx="38257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1F5F9"/>
                </a:solidFill>
                <a:latin typeface="Calibri"/>
              </a:rPr>
              <a:t>I/O budget</a:t>
            </a:r>
            <a:r>
              <a:rPr sz="950" b="0">
                <a:solidFill>
                  <a:srgbClr val="94A3B8"/>
                </a:solidFill>
                <a:latin typeface="Calibri"/>
              </a:rPr>
              <a:t>    54 required, 32 available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42106" y="2496312"/>
            <a:ext cx="6858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6698" y="2427732"/>
            <a:ext cx="38257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1F5F9"/>
                </a:solidFill>
                <a:latin typeface="Calibri"/>
              </a:rPr>
              <a:t>Port 0 topology</a:t>
            </a:r>
            <a:r>
              <a:rPr sz="950" b="0">
                <a:solidFill>
                  <a:srgbClr val="94A3B8"/>
                </a:solidFill>
                <a:latin typeface="Calibri"/>
              </a:rPr>
              <a:t>    open drain, cannot source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42106" y="2820924"/>
            <a:ext cx="6858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6698" y="2752344"/>
            <a:ext cx="38257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1F5F9"/>
                </a:solidFill>
                <a:latin typeface="Calibri"/>
              </a:rPr>
              <a:t>Latch read-back</a:t>
            </a:r>
            <a:r>
              <a:rPr sz="950" b="0">
                <a:solidFill>
                  <a:srgbClr val="94A3B8"/>
                </a:solidFill>
                <a:latin typeface="Calibri"/>
              </a:rPr>
              <a:t>    no read path to the latches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42106" y="3145536"/>
            <a:ext cx="68580" cy="685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06698" y="3076956"/>
            <a:ext cx="38257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1F5F9"/>
                </a:solidFill>
                <a:latin typeface="Calibri"/>
              </a:rPr>
              <a:t>ISP contention</a:t>
            </a:r>
            <a:r>
              <a:rPr sz="950" b="0">
                <a:solidFill>
                  <a:srgbClr val="94A3B8"/>
                </a:solidFill>
                <a:latin typeface="Calibri"/>
              </a:rPr>
              <a:t>    P1.5-P1.7 shared with SPI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42106" y="3470148"/>
            <a:ext cx="68580" cy="6858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06698" y="3401568"/>
            <a:ext cx="38257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1F5F9"/>
                </a:solidFill>
                <a:latin typeface="Calibri"/>
              </a:rPr>
              <a:t>ADC resolution</a:t>
            </a:r>
            <a:r>
              <a:rPr sz="950" b="0">
                <a:solidFill>
                  <a:srgbClr val="94A3B8"/>
                </a:solidFill>
                <a:latin typeface="Calibri"/>
              </a:rPr>
              <a:t>    8 bits, reference is a choice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42106" y="3794759"/>
            <a:ext cx="68580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06698" y="3726179"/>
            <a:ext cx="38257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1F5F9"/>
                </a:solidFill>
                <a:latin typeface="Calibri"/>
              </a:rPr>
              <a:t>No HW debounce</a:t>
            </a:r>
            <a:r>
              <a:rPr sz="950" b="0">
                <a:solidFill>
                  <a:srgbClr val="94A3B8"/>
                </a:solidFill>
                <a:latin typeface="Calibri"/>
              </a:rPr>
              <a:t>    buttons bounce 1 to 10 ms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640080" y="4315968"/>
          <a:ext cx="10911807" cy="19248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105"/>
                <a:gridCol w="2462399"/>
                <a:gridCol w="3476328"/>
                <a:gridCol w="4441975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Consequence if ignored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Mitigation in this design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32 I/O pins for 54 signals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peripherals dropped, or an expander IC added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single 8-bit bus on P0 with per-device strobes on P2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P0 is open drain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the bus never reaches a valid logic 1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RN1, a 10 kOhm x 9 SIP network, pulls the bus up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Output latches cannot be read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 stale byte is latched into the wrong device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bus_shadow variable plus interrupt gating on transfers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SW6-SW8 share the ISP lines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in-circuit programming fails or is corrupted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1 kOhm series resistors and a documented OFF state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C5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8-bit ADC, 5 V default reference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1.95 C per step, most of the range wasted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Vref/2 trimmed to 1.000 V, giving 0.78 C per step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C6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No hardware debounce on the buttons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one press registers as several interrupts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5 ms resampling and edge triggered IT0 and IT1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640080" y="6345936"/>
            <a:ext cx="10911809" cy="914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43737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8051 HARDWARE LAB  /  ECE 2025-26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643737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onsolas"/>
              </a:rPr>
              <a:t>constraint register C1-C6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46049" y="6437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506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004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8503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001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496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93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19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1498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029968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044952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059936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7492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8990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0A5FA"/>
                </a:solidFill>
                <a:latin typeface="Consolas"/>
              </a:rPr>
              <a:t>SLIDE 03  / 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"/>
            <a:ext cx="109118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1F5F9"/>
                </a:solidFill>
                <a:latin typeface="Calibri"/>
              </a:rPr>
              <a:t>System block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024128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One shared 8-bit bus resolves the 22 pin deficit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353312"/>
            <a:ext cx="123444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1353312"/>
            <a:ext cx="2743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4405" y="1600200"/>
            <a:ext cx="3503157" cy="868680"/>
          </a:xfrm>
          <a:prstGeom prst="rect">
            <a:avLst/>
          </a:prstGeom>
          <a:solidFill>
            <a:srgbClr val="2D3F5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9269" y="1769364"/>
            <a:ext cx="33934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AT89S52-24PU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9269" y="2034540"/>
            <a:ext cx="33934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40-pin DIP  /  11.0592 MHz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1600200"/>
            <a:ext cx="2577076" cy="566928"/>
          </a:xfrm>
          <a:prstGeom prst="rect">
            <a:avLst/>
          </a:prstGeom>
          <a:solidFill>
            <a:srgbClr val="24334D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1618488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alibri"/>
              </a:rPr>
              <a:t>SW1 8-way DIP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1883664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P1.0-P1.7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35444" y="1883664"/>
            <a:ext cx="1090673" cy="146304"/>
          </a:xfrm>
          <a:prstGeom prst="line">
            <a:avLst/>
          </a:prstGeom>
          <a:ln w="1270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0080" y="2258568"/>
            <a:ext cx="2577076" cy="566928"/>
          </a:xfrm>
          <a:prstGeom prst="rect">
            <a:avLst/>
          </a:prstGeom>
          <a:solidFill>
            <a:srgbClr val="24334D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2276856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alibri"/>
              </a:rPr>
              <a:t>PB1 / PB2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2542032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P3.2 / P3.3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3235444" y="2029968"/>
            <a:ext cx="1090673" cy="512064"/>
          </a:xfrm>
          <a:prstGeom prst="line">
            <a:avLst/>
          </a:prstGeom>
          <a:ln w="1270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40080" y="2916936"/>
            <a:ext cx="2577076" cy="566928"/>
          </a:xfrm>
          <a:prstGeom prst="rect">
            <a:avLst/>
          </a:prstGeom>
          <a:solidFill>
            <a:srgbClr val="24334D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2935224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alibri"/>
              </a:rPr>
              <a:t>LM35 sensor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3200400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ADC Vin+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3235444" y="2029968"/>
            <a:ext cx="1090673" cy="1170432"/>
          </a:xfrm>
          <a:prstGeom prst="line">
            <a:avLst/>
          </a:prstGeom>
          <a:ln w="1270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974813" y="1600200"/>
            <a:ext cx="2577076" cy="566928"/>
          </a:xfrm>
          <a:prstGeom prst="rect">
            <a:avLst/>
          </a:prstGeom>
          <a:solidFill>
            <a:srgbClr val="24334D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9677" y="1618488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alibri"/>
              </a:rPr>
              <a:t>Relay + buzzer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9677" y="1883664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P3.4 / P3.5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865851" y="1883664"/>
            <a:ext cx="1090674" cy="146304"/>
          </a:xfrm>
          <a:prstGeom prst="line">
            <a:avLst/>
          </a:prstGeom>
          <a:ln w="12700">
            <a:solidFill>
              <a:srgbClr val="60A5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974813" y="2258568"/>
            <a:ext cx="2577076" cy="566928"/>
          </a:xfrm>
          <a:prstGeom prst="rect">
            <a:avLst/>
          </a:prstGeom>
          <a:solidFill>
            <a:srgbClr val="24334D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9677" y="2276856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alibri"/>
              </a:rPr>
              <a:t>Digit selects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9677" y="2542032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P3.6 / P3.7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65851" y="2029968"/>
            <a:ext cx="1090674" cy="512064"/>
          </a:xfrm>
          <a:prstGeom prst="line">
            <a:avLst/>
          </a:prstGeom>
          <a:ln w="12700">
            <a:solidFill>
              <a:srgbClr val="60A5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8974813" y="2916936"/>
            <a:ext cx="2577076" cy="566928"/>
          </a:xfrm>
          <a:prstGeom prst="rect">
            <a:avLst/>
          </a:prstGeom>
          <a:solidFill>
            <a:srgbClr val="24334D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29677" y="2935224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alibri"/>
              </a:rPr>
              <a:t>MAX232 / DB9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9677" y="3200400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P3.0 / P3.1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865851" y="2029968"/>
            <a:ext cx="1090674" cy="1170432"/>
          </a:xfrm>
          <a:prstGeom prst="line">
            <a:avLst/>
          </a:prstGeom>
          <a:ln w="12700">
            <a:solidFill>
              <a:srgbClr val="60A5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566161" y="3584448"/>
            <a:ext cx="9059646" cy="438912"/>
          </a:xfrm>
          <a:prstGeom prst="rect">
            <a:avLst/>
          </a:prstGeom>
          <a:solidFill>
            <a:srgbClr val="2D3F5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66161" y="3666744"/>
            <a:ext cx="905964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Consolas"/>
              </a:rPr>
              <a:t>BD0 - BD7      shared 8-bit data bus      port 0      10 kOhm pull-ups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95984" y="2468880"/>
            <a:ext cx="0" cy="1115568"/>
          </a:xfrm>
          <a:prstGeom prst="line">
            <a:avLst/>
          </a:prstGeom>
          <a:ln w="22860">
            <a:solidFill>
              <a:srgbClr val="2563E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40080" y="4224528"/>
            <a:ext cx="2577076" cy="713232"/>
          </a:xfrm>
          <a:prstGeom prst="rect">
            <a:avLst/>
          </a:prstGeom>
          <a:solidFill>
            <a:srgbClr val="24334D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4315968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1F5F9"/>
                </a:solidFill>
                <a:latin typeface="Calibri"/>
              </a:rPr>
              <a:t>U2 74HC573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" y="4581144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8 LEDs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928618" y="4023360"/>
            <a:ext cx="0" cy="201168"/>
          </a:xfrm>
          <a:prstGeom prst="line">
            <a:avLst/>
          </a:prstGeom>
          <a:ln w="16510">
            <a:solidFill>
              <a:srgbClr val="60A5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0080" y="4956048"/>
            <a:ext cx="25770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P2.0 LED_LE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18324" y="4224528"/>
            <a:ext cx="2577076" cy="713232"/>
          </a:xfrm>
          <a:prstGeom prst="rect">
            <a:avLst/>
          </a:prstGeom>
          <a:solidFill>
            <a:srgbClr val="24334D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3188" y="4315968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1F5F9"/>
                </a:solidFill>
                <a:latin typeface="Calibri"/>
              </a:rPr>
              <a:t>U3 74HC573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3188" y="4581144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7-segment x2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706862" y="4023360"/>
            <a:ext cx="0" cy="201168"/>
          </a:xfrm>
          <a:prstGeom prst="line">
            <a:avLst/>
          </a:prstGeom>
          <a:ln w="16510">
            <a:solidFill>
              <a:srgbClr val="60A5F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418324" y="4956048"/>
            <a:ext cx="25770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P2.1 SEG_LE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6568" y="4224528"/>
            <a:ext cx="2577076" cy="713232"/>
          </a:xfrm>
          <a:prstGeom prst="rect">
            <a:avLst/>
          </a:prstGeom>
          <a:solidFill>
            <a:srgbClr val="24334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51432" y="4315968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1F5F9"/>
                </a:solidFill>
                <a:latin typeface="Calibri"/>
              </a:rPr>
              <a:t>LCD1 16x2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51432" y="4581144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HD44780 8-bit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485106" y="4023360"/>
            <a:ext cx="0" cy="201168"/>
          </a:xfrm>
          <a:prstGeom prst="line">
            <a:avLst/>
          </a:prstGeom>
          <a:ln w="1651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96568" y="4956048"/>
            <a:ext cx="25770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P2.2-P2.4 E RS RW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74813" y="4224528"/>
            <a:ext cx="2577076" cy="713232"/>
          </a:xfrm>
          <a:prstGeom prst="rect">
            <a:avLst/>
          </a:prstGeom>
          <a:solidFill>
            <a:srgbClr val="24334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9677" y="4315968"/>
            <a:ext cx="24673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1F5F9"/>
                </a:solidFill>
                <a:latin typeface="Calibri"/>
              </a:rPr>
              <a:t>U4 ADC0804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9677" y="4581144"/>
            <a:ext cx="24673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LM35 8-bit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263351" y="4023360"/>
            <a:ext cx="0" cy="201168"/>
          </a:xfrm>
          <a:prstGeom prst="line">
            <a:avLst/>
          </a:prstGeom>
          <a:ln w="1651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974813" y="4956048"/>
            <a:ext cx="25770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P2.5-P2.7 WR RD INTR</a:t>
            </a:r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640080" y="5212080"/>
          <a:ext cx="6281399" cy="1042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23649"/>
                <a:gridCol w="571036"/>
                <a:gridCol w="1876262"/>
                <a:gridCol w="1060496"/>
                <a:gridCol w="1549956"/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Width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Signals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Parallel bus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8 bit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BD0-BD7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bidirectional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U2 U3 LCD1 U4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Latch strobe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1 bit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LED_LE SEG_LE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U2 U3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LCD control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3 bit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E RS RW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LCD1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ADC control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3 bit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WR RD INTR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in / out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U4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Serial + GPIO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6 bit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TxD RxD P3.4-P3.7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MAX232 Q1-Q4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</a:tbl>
          </a:graphicData>
        </a:graphic>
      </p:graphicFrame>
      <p:sp>
        <p:nvSpPr>
          <p:cNvPr id="77" name="Rectangle 76"/>
          <p:cNvSpPr/>
          <p:nvPr/>
        </p:nvSpPr>
        <p:spPr>
          <a:xfrm>
            <a:off x="7122650" y="5212080"/>
            <a:ext cx="4429239" cy="1042415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22650" y="5212080"/>
            <a:ext cx="50292" cy="104241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42106" y="5358384"/>
            <a:ext cx="401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1F5F9"/>
                </a:solidFill>
                <a:latin typeface="Calibri"/>
              </a:rPr>
              <a:t>PIN ECONOMY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42106" y="5742432"/>
            <a:ext cx="39903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54 pins required  -&gt;  32 available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F1F5F9"/>
                </a:solidFill>
                <a:latin typeface="Calibri"/>
              </a:rPr>
              <a:t>Three 8-bit data paths merged into one bus, saving 24 pins.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Eight of them pay for the strobes. Net saving: 16 pins.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6345936"/>
            <a:ext cx="10911809" cy="914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80" y="643737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8051 HARDWARE LAB  /  ECE 2025-26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0" y="643737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onsolas"/>
              </a:rPr>
              <a:t>single bus, four devices, eight strobes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46049" y="6437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506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004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8503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001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496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93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19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1498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029968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044952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059936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7492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8990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0A5FA"/>
                </a:solidFill>
                <a:latin typeface="Consolas"/>
              </a:rPr>
              <a:t>SLIDE 04  / 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"/>
            <a:ext cx="109118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1F5F9"/>
                </a:solidFill>
                <a:latin typeface="Calibri"/>
              </a:rPr>
              <a:t>Hardware and software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024128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Four layers, one board, no operating 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353312"/>
            <a:ext cx="123444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1353312"/>
            <a:ext cx="2743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1572768"/>
            <a:ext cx="10911809" cy="530352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1572768"/>
            <a:ext cx="50292" cy="5303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1636776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563EB"/>
                </a:solidFill>
                <a:latin typeface="Consolas"/>
              </a:rPr>
              <a:t>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1636776"/>
            <a:ext cx="71627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</a:rPr>
              <a:t>13 firmware programs  /  board.h  /  01 blink to 13 self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4529" y="163677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firmware/src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1847088"/>
            <a:ext cx="71627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2" name="Rectangle 31"/>
          <p:cNvSpPr/>
          <p:nvPr/>
        </p:nvSpPr>
        <p:spPr>
          <a:xfrm>
            <a:off x="640080" y="2157984"/>
            <a:ext cx="10911809" cy="530352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2157984"/>
            <a:ext cx="50292" cy="5303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2221991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nsolas"/>
              </a:rPr>
              <a:t>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2221991"/>
            <a:ext cx="71627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</a:rPr>
              <a:t>bus, LED, 7-segment, LCD, ADC, UART, switch debounce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4529" y="2221991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firmware/inc/board.h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2432303"/>
            <a:ext cx="71627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8" name="Rectangle 37"/>
          <p:cNvSpPr/>
          <p:nvPr/>
        </p:nvSpPr>
        <p:spPr>
          <a:xfrm>
            <a:off x="640080" y="2743200"/>
            <a:ext cx="10911809" cy="530352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2743200"/>
            <a:ext cx="50292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" y="2807208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0B981"/>
                </a:solidFill>
                <a:latin typeface="Consolas"/>
              </a:rPr>
              <a:t>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2807208"/>
            <a:ext cx="71627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</a:rPr>
              <a:t>8-bit parallel  /  HD44780 8-bit  /  ADC0804  /  UART 9600 8N1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4529" y="280720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P0, P2, P3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3017520"/>
            <a:ext cx="71627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4" name="Rectangle 43"/>
          <p:cNvSpPr/>
          <p:nvPr/>
        </p:nvSpPr>
        <p:spPr>
          <a:xfrm>
            <a:off x="640080" y="3328416"/>
            <a:ext cx="10911809" cy="530352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3328416"/>
            <a:ext cx="50292" cy="5303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3392424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34D399"/>
                </a:solidFill>
                <a:latin typeface="Consolas"/>
              </a:rPr>
              <a:t>SILICON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3392424"/>
            <a:ext cx="716276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Consolas"/>
              </a:rPr>
              <a:t>AT89S52  2x 74HC573  ADC0804  LM35  MAX232  HD44780  BC547 x4  7805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14529" y="339242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onsolas"/>
              </a:rPr>
              <a:t>through-hole DIP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3602736"/>
            <a:ext cx="71627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0" name="Rectangle 49"/>
          <p:cNvSpPr/>
          <p:nvPr/>
        </p:nvSpPr>
        <p:spPr>
          <a:xfrm>
            <a:off x="640080" y="4005072"/>
            <a:ext cx="2577076" cy="6583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" y="4005072"/>
            <a:ext cx="41148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59" y="4087368"/>
            <a:ext cx="22661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AT89S52-24PU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59" y="4288536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34D399"/>
                </a:solidFill>
                <a:latin typeface="Consolas"/>
              </a:rPr>
              <a:t>MCU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59" y="4462272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8 KB flash, 3 timers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18324" y="4005072"/>
            <a:ext cx="2577076" cy="6583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18324" y="4005072"/>
            <a:ext cx="41148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1204" y="4087368"/>
            <a:ext cx="22661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74HC573 x2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1204" y="4288536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34D399"/>
                </a:solidFill>
                <a:latin typeface="Consolas"/>
              </a:rPr>
              <a:t>LATCH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01204" y="4462272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LED bank, segment patterns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6568" y="4005072"/>
            <a:ext cx="2577076" cy="6583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6568" y="4005072"/>
            <a:ext cx="41148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79448" y="4087368"/>
            <a:ext cx="22661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ADC0804LCN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9448" y="4288536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34D399"/>
                </a:solidFill>
                <a:latin typeface="Consolas"/>
              </a:rPr>
              <a:t>ADC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9448" y="4462272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8-bit parallel, 606 kHz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74813" y="4005072"/>
            <a:ext cx="2577076" cy="6583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74813" y="4005072"/>
            <a:ext cx="41148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57693" y="4087368"/>
            <a:ext cx="22661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LM35DZ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57693" y="4288536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34D399"/>
                </a:solidFill>
                <a:latin typeface="Consolas"/>
              </a:rPr>
              <a:t>SENSOR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57693" y="4462272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10 mV per degree 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" y="4736592"/>
            <a:ext cx="2577076" cy="6583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" y="4736592"/>
            <a:ext cx="41148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59" y="4818888"/>
            <a:ext cx="22661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MAX232N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59" y="5020055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34D399"/>
                </a:solidFill>
                <a:latin typeface="Consolas"/>
              </a:rPr>
              <a:t>TRANSCEIVER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59" y="5193792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TTL to RS-232, 1 uF pump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18324" y="4736592"/>
            <a:ext cx="2577076" cy="6583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418324" y="4736592"/>
            <a:ext cx="41148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01204" y="4818888"/>
            <a:ext cx="22661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JHD162A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01204" y="5020055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34D399"/>
                </a:solidFill>
                <a:latin typeface="Consolas"/>
              </a:rPr>
              <a:t>DISPLAY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01204" y="5193792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16x2 HD44780, 8-bit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96568" y="4736592"/>
            <a:ext cx="2577076" cy="6583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96568" y="4736592"/>
            <a:ext cx="41148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79448" y="4818888"/>
            <a:ext cx="22661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BC547 x4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79448" y="5020055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34D399"/>
                </a:solidFill>
                <a:latin typeface="Consolas"/>
              </a:rPr>
              <a:t>DRIVER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79448" y="5193792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digits, relay, buzzer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74813" y="4736592"/>
            <a:ext cx="2577076" cy="6583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74813" y="4736592"/>
            <a:ext cx="41148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57693" y="4818888"/>
            <a:ext cx="22661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L7805CV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57693" y="5020055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34D399"/>
                </a:solidFill>
                <a:latin typeface="Consolas"/>
              </a:rPr>
              <a:t>REGULATOR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57693" y="5193792"/>
            <a:ext cx="22661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5.00 V, 1 W, heatsinked</a:t>
            </a:r>
          </a:p>
        </p:txBody>
      </p:sp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640080" y="5431536"/>
          <a:ext cx="5355319" cy="822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0274"/>
                <a:gridCol w="1382018"/>
                <a:gridCol w="2073027"/>
              </a:tblGrid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Pins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8-bit parallel bus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P0.0-P0.7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latches, LCD, ADC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UART 9600 8N1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P3.0-P3.1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telemetry and shell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SPI (ISP only)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P1.5-P1.7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flash programming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</a:tbl>
          </a:graphicData>
        </a:graphic>
      </p:graphicFrame>
      <p:sp>
        <p:nvSpPr>
          <p:cNvPr id="91" name="Rectangle 90"/>
          <p:cNvSpPr/>
          <p:nvPr/>
        </p:nvSpPr>
        <p:spPr>
          <a:xfrm>
            <a:off x="6196568" y="5431536"/>
            <a:ext cx="5355320" cy="822960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6568" y="5431536"/>
            <a:ext cx="502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16024" y="5522976"/>
            <a:ext cx="494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1F5F9"/>
                </a:solidFill>
                <a:latin typeface="Consolas"/>
              </a:rPr>
              <a:t>TOOLCHAIN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16024" y="5760720"/>
            <a:ext cx="4943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F1F5F9"/>
                </a:solidFill>
                <a:latin typeface="Calibri"/>
              </a:rPr>
              <a:t>Keil uVision 5, C51, level 8, small memory model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Calibri"/>
              </a:rPr>
              <a:t>USBasp + avrdude -p 8052  USB-RS232  DMM  20 MHz scope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" y="6345936"/>
            <a:ext cx="10911809" cy="914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43737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8051 HARDWARE LAB  /  ECE 2025-26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0" y="643737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onsolas"/>
              </a:rPr>
              <a:t>no RTOS, no external memory, one translation unit per program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46049" y="6437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506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004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8503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001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496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93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19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1498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029968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044952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059936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7492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8990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0A5FA"/>
                </a:solidFill>
                <a:latin typeface="Consolas"/>
              </a:rPr>
              <a:t>SLIDE 05  / 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"/>
            <a:ext cx="109118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1F5F9"/>
                </a:solidFill>
                <a:latin typeface="Calibri"/>
              </a:rPr>
              <a:t>Implementation logic and control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024128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Interrupt driven display refresh around a polling control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353312"/>
            <a:ext cx="123444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1353312"/>
            <a:ext cx="2743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6112" y="1572768"/>
            <a:ext cx="2321044" cy="530352"/>
          </a:xfrm>
          <a:prstGeom prst="roundRect">
            <a:avLst>
              <a:gd name="adj" fmla="val 14000"/>
            </a:avLst>
          </a:prstGeom>
          <a:solidFill>
            <a:srgbClr val="24334D"/>
          </a:solidFill>
          <a:ln w="1651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1682495"/>
            <a:ext cx="21747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board_init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1892807"/>
            <a:ext cx="21747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ports, latches, outputs off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00602" y="2121408"/>
            <a:ext cx="0" cy="164592"/>
          </a:xfrm>
          <a:prstGeom prst="line">
            <a:avLst/>
          </a:prstGeom>
          <a:ln w="1270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6112" y="2286000"/>
            <a:ext cx="2321044" cy="530352"/>
          </a:xfrm>
          <a:prstGeom prst="roundRect">
            <a:avLst>
              <a:gd name="adj" fmla="val 14000"/>
            </a:avLst>
          </a:prstGeom>
          <a:solidFill>
            <a:srgbClr val="24334D"/>
          </a:solidFill>
          <a:ln w="1651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2395728"/>
            <a:ext cx="21747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display_init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2606040"/>
            <a:ext cx="21747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timer 0 at 5 ms, EE00H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00602" y="2834640"/>
            <a:ext cx="0" cy="164592"/>
          </a:xfrm>
          <a:prstGeom prst="line">
            <a:avLst/>
          </a:prstGeom>
          <a:ln w="1270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6112" y="2999232"/>
            <a:ext cx="2321044" cy="530352"/>
          </a:xfrm>
          <a:prstGeom prst="roundRect">
            <a:avLst>
              <a:gd name="adj" fmla="val 14000"/>
            </a:avLst>
          </a:prstGeom>
          <a:solidFill>
            <a:srgbClr val="24334D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" y="3108960"/>
            <a:ext cx="21747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adc_read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3319272"/>
            <a:ext cx="21747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start, wait INTR, read byte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00602" y="3547872"/>
            <a:ext cx="0" cy="164592"/>
          </a:xfrm>
          <a:prstGeom prst="line">
            <a:avLst/>
          </a:prstGeom>
          <a:ln w="1270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iamond 37"/>
          <p:cNvSpPr/>
          <p:nvPr/>
        </p:nvSpPr>
        <p:spPr>
          <a:xfrm>
            <a:off x="896112" y="3712464"/>
            <a:ext cx="2321044" cy="658368"/>
          </a:xfrm>
          <a:prstGeom prst="diamond">
            <a:avLst/>
          </a:prstGeom>
          <a:solidFill>
            <a:srgbClr val="24334D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" y="3886200"/>
            <a:ext cx="21747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zone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" y="4096512"/>
            <a:ext cx="21747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T &lt; 40 / &lt; 70 / &gt;= 70 C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800602" y="4389120"/>
            <a:ext cx="0" cy="164592"/>
          </a:xfrm>
          <a:prstGeom prst="line">
            <a:avLst/>
          </a:prstGeom>
          <a:ln w="1270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96112" y="4553712"/>
            <a:ext cx="2321044" cy="530352"/>
          </a:xfrm>
          <a:prstGeom prst="roundRect">
            <a:avLst>
              <a:gd name="adj" fmla="val 14000"/>
            </a:avLst>
          </a:prstGeom>
          <a:solidFill>
            <a:srgbClr val="24334D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" y="4663440"/>
            <a:ext cx="21747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actuate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" y="4873752"/>
            <a:ext cx="21747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LEDs, relay, buzzer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800602" y="5102352"/>
            <a:ext cx="0" cy="164592"/>
          </a:xfrm>
          <a:prstGeom prst="line">
            <a:avLst/>
          </a:prstGeom>
          <a:ln w="1270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96112" y="5266944"/>
            <a:ext cx="2321044" cy="530352"/>
          </a:xfrm>
          <a:prstGeom prst="roundRect">
            <a:avLst>
              <a:gd name="adj" fmla="val 14000"/>
            </a:avLst>
          </a:prstGeom>
          <a:solidFill>
            <a:srgbClr val="24334D"/>
          </a:solidFill>
          <a:ln w="1651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" y="5376672"/>
            <a:ext cx="21747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Consolas"/>
              </a:rPr>
              <a:t>publish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" y="5586984"/>
            <a:ext cx="21747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alibri"/>
              </a:rPr>
              <a:t>LCD, 7-segment, UART 1 Hz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18324" y="1572768"/>
            <a:ext cx="3503157" cy="1188720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18324" y="1572768"/>
            <a:ext cx="50292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7780" y="1719072"/>
            <a:ext cx="30916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1F5F9"/>
                </a:solidFill>
                <a:latin typeface="Calibri"/>
              </a:rPr>
              <a:t>TIMER 0 ISR  /  EVERY 5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37780" y="2103120"/>
            <a:ext cx="306424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0" i="0">
                <a:solidFill>
                  <a:srgbClr val="F1F5F9"/>
                </a:solidFill>
                <a:latin typeface="Consolas"/>
              </a:rPr>
              <a:t>TH0 = EEH   TL0 = 00H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seg_tick() alternates the two digits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saves and restores the bus shadow byte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18324" y="2871216"/>
            <a:ext cx="3503157" cy="1700784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18324" y="2871216"/>
            <a:ext cx="50292" cy="17007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37780" y="3017520"/>
            <a:ext cx="30916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1F5F9"/>
                </a:solidFill>
                <a:latin typeface="Calibri"/>
              </a:rPr>
              <a:t>BUS TRANSFER PRIMITIVE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37780" y="3401568"/>
            <a:ext cx="1468114" cy="347472"/>
          </a:xfrm>
          <a:prstGeom prst="rect">
            <a:avLst/>
          </a:prstGeom>
          <a:solidFill>
            <a:srgbClr val="1A263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29220" y="3438144"/>
            <a:ext cx="12852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nsolas"/>
              </a:rPr>
              <a:t>1  save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29220" y="3593592"/>
            <a:ext cx="128523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ea = EA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69903" y="3401568"/>
            <a:ext cx="1468114" cy="347472"/>
          </a:xfrm>
          <a:prstGeom prst="rect">
            <a:avLst/>
          </a:prstGeom>
          <a:solidFill>
            <a:srgbClr val="1A263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61343" y="3438144"/>
            <a:ext cx="12852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nsolas"/>
              </a:rPr>
              <a:t>2  gate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61343" y="3593592"/>
            <a:ext cx="128523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EA = 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37780" y="3803904"/>
            <a:ext cx="1468114" cy="347472"/>
          </a:xfrm>
          <a:prstGeom prst="rect">
            <a:avLst/>
          </a:prstGeom>
          <a:solidFill>
            <a:srgbClr val="1A263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9220" y="3840480"/>
            <a:ext cx="12852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nsolas"/>
              </a:rPr>
              <a:t>3  place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29220" y="3995928"/>
            <a:ext cx="128523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BUS = v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69903" y="3803904"/>
            <a:ext cx="1468114" cy="347472"/>
          </a:xfrm>
          <a:prstGeom prst="rect">
            <a:avLst/>
          </a:prstGeom>
          <a:solidFill>
            <a:srgbClr val="1A263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61343" y="3840480"/>
            <a:ext cx="12852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nsolas"/>
              </a:rPr>
              <a:t>4  strobe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61343" y="3995928"/>
            <a:ext cx="128523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LE = 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37780" y="4206240"/>
            <a:ext cx="1468114" cy="347472"/>
          </a:xfrm>
          <a:prstGeom prst="rect">
            <a:avLst/>
          </a:prstGeom>
          <a:solidFill>
            <a:srgbClr val="1A263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29220" y="4242816"/>
            <a:ext cx="12852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nsolas"/>
              </a:rPr>
              <a:t>5  release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29220" y="4398264"/>
            <a:ext cx="128523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LE = 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69903" y="4206240"/>
            <a:ext cx="1468114" cy="347472"/>
          </a:xfrm>
          <a:prstGeom prst="rect">
            <a:avLst/>
          </a:prstGeom>
          <a:solidFill>
            <a:srgbClr val="1A2637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61343" y="4242816"/>
            <a:ext cx="128523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0A5FA"/>
                </a:solidFill>
                <a:latin typeface="Consolas"/>
              </a:rPr>
              <a:t>6  restore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61343" y="4398264"/>
            <a:ext cx="128523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4A3B8"/>
                </a:solidFill>
                <a:latin typeface="Consolas"/>
              </a:rPr>
              <a:t>BUS = shadow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18324" y="4681728"/>
            <a:ext cx="3503157" cy="15727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18324" y="4681728"/>
            <a:ext cx="50292" cy="15727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37780" y="4828032"/>
            <a:ext cx="309167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1F5F9"/>
                </a:solidFill>
                <a:latin typeface="Calibri"/>
              </a:rPr>
              <a:t>EXTERNAL INTERRUPTS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37780" y="5212080"/>
            <a:ext cx="306424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0" i="0">
                <a:solidFill>
                  <a:srgbClr val="F1F5F9"/>
                </a:solidFill>
                <a:latin typeface="Consolas"/>
              </a:rPr>
              <a:t>INT0 falling edge  -&gt;  emergency latch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INT1 falling edge  -&gt;  clear the latch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Both ISRs set a flag only; the main loop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</a:rPr>
              <a:t>does the work, keeping service short.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7122650" y="1572768"/>
          <a:ext cx="4429237" cy="1188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5847"/>
                <a:gridCol w="2013290"/>
                <a:gridCol w="1530100"/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Failure mode handled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Acquire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adc_read, INTR both edges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guarded timeout returns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Convert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T = raw x 25 / 32 integer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no float library needed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Decide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compare at 400 and 700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emergency overrides all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Actuate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latch write, relay, buzzer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interrupts gated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Publish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LCD, 7-segment, UART 1 Hz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refresh runs in the ISR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7122650" y="2907792"/>
          <a:ext cx="4429237" cy="1591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1695"/>
                <a:gridCol w="1240186"/>
                <a:gridCol w="1417356"/>
              </a:tblGrid>
              <a:tr h="19202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Cycles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machine cycle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12 osc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1.0851 us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bus transfer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~20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21.7 us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ADC conversion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114 us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LCD write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~30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32.6 us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display tick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4608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5.000 ms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telemetry period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1.000 s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</a:tbl>
          </a:graphicData>
        </a:graphic>
      </p:graphicFrame>
      <p:sp>
        <p:nvSpPr>
          <p:cNvPr id="80" name="Rectangle 79"/>
          <p:cNvSpPr/>
          <p:nvPr/>
        </p:nvSpPr>
        <p:spPr>
          <a:xfrm>
            <a:off x="7122650" y="4681728"/>
            <a:ext cx="4429239" cy="1572768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122650" y="4681728"/>
            <a:ext cx="50292" cy="15727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42106" y="4828032"/>
            <a:ext cx="401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1F5F9"/>
                </a:solidFill>
                <a:latin typeface="Calibri"/>
              </a:rPr>
              <a:t>WHY POLL, WHY INTERRUPT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42106" y="5212080"/>
            <a:ext cx="39903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The display must never flicker, so it runs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in the interrupt. Sensing and acting can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slip by milliseconds, so they poll. Each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 i="0">
                <a:solidFill>
                  <a:srgbClr val="F1F5F9"/>
                </a:solidFill>
                <a:latin typeface="Calibri"/>
              </a:rPr>
              <a:t>mechanism is matched to its own deadline.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" y="6345936"/>
            <a:ext cx="10911809" cy="914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43737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8051 HARDWARE LAB  /  ECE 2025-26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0" y="643737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onsolas"/>
              </a:rPr>
              <a:t>poll in the loop, refresh in the interrupt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46049" y="6437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506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004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8503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001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496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93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19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1498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029968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044952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059936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7492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8990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0A5FA"/>
                </a:solidFill>
                <a:latin typeface="Consolas"/>
              </a:rPr>
              <a:t>SLIDE 06  / 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"/>
            <a:ext cx="109118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1F5F9"/>
                </a:solidFill>
                <a:latin typeface="Calibri"/>
              </a:rPr>
              <a:t>Results, benchmarks and trade-offs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024128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Derived values, measured targets and the decisions behind them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353312"/>
            <a:ext cx="123444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1353312"/>
            <a:ext cx="2743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1572768"/>
            <a:ext cx="3503157" cy="95097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1572768"/>
            <a:ext cx="3503157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1755648"/>
            <a:ext cx="32105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0.00 %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2176272"/>
            <a:ext cx="32105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BAUD 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" y="2414016"/>
            <a:ext cx="3210549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TH1 = FDH at 11.0592 MHz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4405" y="1572768"/>
            <a:ext cx="3503157" cy="95097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4405" y="1572768"/>
            <a:ext cx="3503157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8997" y="1755648"/>
            <a:ext cx="32105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1.00 kHz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8997" y="2176272"/>
            <a:ext cx="32105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TIMER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8997" y="2414016"/>
            <a:ext cx="3210549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FE34H reload, +0.17 %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8731" y="1572768"/>
            <a:ext cx="3503157" cy="95097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8731" y="1572768"/>
            <a:ext cx="3503157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3323" y="1755648"/>
            <a:ext cx="32105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100 Hz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3323" y="2176272"/>
            <a:ext cx="32105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DISPLAY REFRESH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3323" y="2414016"/>
            <a:ext cx="3210549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EE00H reload, per digit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2615184"/>
            <a:ext cx="3503157" cy="95097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2615184"/>
            <a:ext cx="3503157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" y="2798064"/>
            <a:ext cx="32105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0.78 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" y="3218688"/>
            <a:ext cx="32105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ADC RESOLUTION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1" y="3456432"/>
            <a:ext cx="3210549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7.8125 mV per step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4405" y="2615184"/>
            <a:ext cx="3503157" cy="95097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44405" y="2615184"/>
            <a:ext cx="3503157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08997" y="2798064"/>
            <a:ext cx="32105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157 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08997" y="3218688"/>
            <a:ext cx="32105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BOARD CURRENT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8997" y="3456432"/>
            <a:ext cx="3210549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274 mA peak, relay 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8731" y="2615184"/>
            <a:ext cx="3503157" cy="95097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48731" y="2615184"/>
            <a:ext cx="3503157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13323" y="2798064"/>
            <a:ext cx="321054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1F5F9"/>
                </a:solidFill>
                <a:latin typeface="Calibri"/>
              </a:rPr>
              <a:t>3.4 KB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13323" y="3218688"/>
            <a:ext cx="32105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4A3B8"/>
                </a:solidFill>
                <a:latin typeface="Consolas"/>
              </a:rPr>
              <a:t>LARGEST PROGRAM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3323" y="3456432"/>
            <a:ext cx="3210549" cy="3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Calibri"/>
              </a:rPr>
              <a:t>of 8 KB flash, 30 B RAM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640080" y="3986784"/>
          <a:ext cx="10911807" cy="22667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6091"/>
                <a:gridCol w="2555919"/>
                <a:gridCol w="2850832"/>
                <a:gridCol w="3538965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Alternative rejected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Trade-off accepted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CBD8E9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82296" marR="82296" marT="32004" marB="32004" anchor="ctr">
                    <a:solidFill>
                      <a:srgbClr val="2D3F5C"/>
                    </a:solidFill>
                  </a:tcPr>
                </a:tc>
              </a:tr>
              <a:tr h="28986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Shared 8-bit bus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I2C or SPI port expander IC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8 extra strobes and software arbitration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54 pins fitted into 32, no extra IC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8986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AT89S52 with ISP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AT89C51, parallel programmer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slightly higher chip cost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programmer cost falls to INR 250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8986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470 Ohm LED resistors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the usual 330 Ohm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about 15 % less brightness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53 mA per package, inside the 70 mA limit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8986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Vref/2 at 1.000 V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internal 2.5 V reference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one trimpot and one calibration step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0.78 C per step instead of 1.95 C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8986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Software driven bus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MOVX with an address latch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no hardware address decode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port 2 stays free for eight strobes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  <a:tr h="28986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Flags inside the ISRs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doing the work in the ISR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one loop of latency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short, predictable service routines</a:t>
                      </a:r>
                    </a:p>
                  </a:txBody>
                  <a:tcPr marL="82296" marR="82296" marT="32004" marB="32004" anchor="ctr">
                    <a:solidFill>
                      <a:srgbClr val="1A2637"/>
                    </a:solidFill>
                  </a:tcPr>
                </a:tc>
              </a:tr>
              <a:tr h="28986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Software debounce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RC filter or Schmitt trigger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5 ms of loop time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F1F5F9"/>
                          </a:solidFill>
                          <a:latin typeface="Calibri"/>
                        </a:rPr>
                        <a:t>no parts, no spare pins consumed</a:t>
                      </a:r>
                    </a:p>
                  </a:txBody>
                  <a:tcPr marL="82296" marR="82296" marT="32004" marB="32004" anchor="ctr">
                    <a:solidFill>
                      <a:srgbClr val="24334D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640080" y="6345936"/>
            <a:ext cx="10911809" cy="914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43737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8051 HARDWARE LAB  /  ECE 2025-26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643737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onsolas"/>
              </a:rPr>
              <a:t>20 bench tests, T1-T20, acceptance limits in hardware/TESTING.md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46049" y="6437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506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004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8503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001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0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4968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74936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19" y="0"/>
            <a:ext cx="9525" cy="6858000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01498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029968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044952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059936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074920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89904"/>
            <a:ext cx="12191969" cy="9525"/>
          </a:xfrm>
          <a:prstGeom prst="rect">
            <a:avLst/>
          </a:prstGeom>
          <a:solidFill>
            <a:srgbClr val="283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0A5FA"/>
                </a:solidFill>
                <a:latin typeface="Consolas"/>
              </a:rPr>
              <a:t>SLIDE 07  /  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"/>
            <a:ext cx="109118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F1F5F9"/>
                </a:solidFill>
                <a:latin typeface="Calibri"/>
              </a:rPr>
              <a:t>Scalability, future scope and 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024128"/>
            <a:ext cx="10911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Where the architecture has headroom and where it does not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353312"/>
            <a:ext cx="123444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1353312"/>
            <a:ext cx="274320" cy="320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1572768"/>
            <a:ext cx="3503157" cy="204825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1572768"/>
            <a:ext cx="3503157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174650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Consolas"/>
              </a:rPr>
              <a:t>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2011680"/>
            <a:ext cx="310082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Single board, verified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" y="2478024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5" y="2414016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13 programs, 20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" y="283464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5" y="2770632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INR 985 per 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" y="3191256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5" y="3127248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9600 baud telemetry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61525" y="2596896"/>
            <a:ext cx="164592" cy="0"/>
          </a:xfrm>
          <a:prstGeom prst="line">
            <a:avLst/>
          </a:prstGeom>
          <a:ln w="1524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344405" y="1572768"/>
            <a:ext cx="3503157" cy="204825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4405" y="1572768"/>
            <a:ext cx="3503157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45573" y="174650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0A5FA"/>
                </a:solidFill>
                <a:latin typeface="Consolas"/>
              </a:rPr>
              <a:t>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5573" y="2011680"/>
            <a:ext cx="310082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Recover two pins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3861" y="2478024"/>
            <a:ext cx="64008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6741" y="2414016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LCD on a PCF8574 backpack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63861" y="2834640"/>
            <a:ext cx="64008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46741" y="2770632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frees P2.3 and P2.4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63861" y="3191256"/>
            <a:ext cx="64008" cy="6400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46741" y="3127248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adds I2C: RTC, EEPROM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865851" y="2596896"/>
            <a:ext cx="164592" cy="0"/>
          </a:xfrm>
          <a:prstGeom prst="line">
            <a:avLst/>
          </a:prstGeom>
          <a:ln w="15240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048731" y="1572768"/>
            <a:ext cx="3503157" cy="2048256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48731" y="1572768"/>
            <a:ext cx="3503157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49899" y="174650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59E0B"/>
                </a:solidFill>
                <a:latin typeface="Consolas"/>
              </a:rPr>
              <a:t>LATER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49899" y="2011680"/>
            <a:ext cx="310082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1F5F9"/>
                </a:solidFill>
                <a:latin typeface="Calibri"/>
              </a:rPr>
              <a:t>Multi-node and PCB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68187" y="2478024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1067" y="2414016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RS-485 or ESP-01 link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68187" y="283464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51067" y="2770632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KiCad two layer layout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68187" y="3191256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1067" y="3127248"/>
            <a:ext cx="28996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4A3B8"/>
                </a:solidFill>
                <a:latin typeface="Calibri"/>
              </a:rPr>
              <a:t>mains rated enclosure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3877056"/>
            <a:ext cx="6281402" cy="2340864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3877056"/>
            <a:ext cx="50292" cy="2340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" y="4023360"/>
            <a:ext cx="586992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Calibri"/>
              </a:rPr>
              <a:t>CONCLUSION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9536" y="457200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2415" y="4462272"/>
            <a:ext cx="56596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1F5F9"/>
                </a:solidFill>
                <a:latin typeface="Calibri"/>
              </a:rPr>
              <a:t>A 22 pin deficit was closed by architecture, not by extra silicon.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" y="4974336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2415" y="4864608"/>
            <a:ext cx="56596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1F5F9"/>
                </a:solidFill>
                <a:latin typeface="Calibri"/>
              </a:rPr>
              <a:t>Every constant derives from the 1.0851 microsecond machine cycle.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9536" y="537667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2415" y="5266944"/>
            <a:ext cx="56596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1F5F9"/>
                </a:solidFill>
                <a:latin typeface="Calibri"/>
              </a:rPr>
              <a:t>Thirteen programs compile clean; the build is staged and measured.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9536" y="5779008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2415" y="5669280"/>
            <a:ext cx="56596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F1F5F9"/>
                </a:solidFill>
                <a:latin typeface="Calibri"/>
              </a:rPr>
              <a:t>Every hardware result reconciles with the phase 1 simulator.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22650" y="3877056"/>
            <a:ext cx="4429239" cy="2340864"/>
          </a:xfrm>
          <a:prstGeom prst="rect">
            <a:avLst/>
          </a:prstGeom>
          <a:solidFill>
            <a:srgbClr val="24334D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22650" y="3877056"/>
            <a:ext cx="50292" cy="2340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42106" y="4023360"/>
            <a:ext cx="401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Calibri"/>
              </a:rPr>
              <a:t>SCALABILITY LIMITS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42106" y="44074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Bus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21098" y="4407408"/>
            <a:ext cx="2911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shared P0 caps throughput, a few hundred kHz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42106" y="4754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ADC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21098" y="4754880"/>
            <a:ext cx="2911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one channel, 8-bit, about 114 us per sample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42106" y="510235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Memory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21098" y="5102352"/>
            <a:ext cx="2911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256 B RAM, no external data memory wired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42106" y="544982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Interrupts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21098" y="5449824"/>
            <a:ext cx="2911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two external sources, no priority nesting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42106" y="579729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Relay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21098" y="5797296"/>
            <a:ext cx="2911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alibri"/>
              </a:rPr>
              <a:t>demonstration only, never mains connected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" y="6345936"/>
            <a:ext cx="10911809" cy="914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643737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8051 HARDWARE LAB  /  ECE 2025-26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0" y="643737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Consolas"/>
              </a:rPr>
              <a:t>repository: AdityaRezan/8051-hardware-lab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46049" y="643737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4748B"/>
                </a:solidFill>
                <a:latin typeface="Consola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